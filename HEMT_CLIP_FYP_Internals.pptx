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4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0000"/>
                </a:solidFill>
                <a:latin typeface="Arial"/>
              </a:defRPr>
            </a:pPr>
            <a:r>
              <a:rPr sz="1100" b="0" i="0" u="none" strike="noStrike">
                <a:solidFill>
                  <a:srgbClr val="000000"/>
                </a:solidFill>
                <a:latin typeface="Arial"/>
              </a:rPr>
              <a:t>Test-Set F1 by Variant</a:t>
            </a:r>
          </a:p>
        </c:rich>
      </c:tx>
      <c:overlay val="0"/>
    </c:title>
    <c:autoTitleDeleted val="0"/>
    <c:plotArea>
      <c:layout/>
      <c:barChart>
        <c:barDir val="col"/>
        <c:grouping val="clustered"/>
        <c:varyColors val="0"/>
        <c:ser>
          <c:idx val="0"/>
          <c:order val="0"/>
          <c:tx>
            <c:strRef>
              <c:f>Sheet1!$B$1</c:f>
              <c:strCache>
                <c:ptCount val="1"/>
                <c:pt idx="0">
                  <c:v>Test F1</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A759-4C53-9EC4-BB74072B1743}"/>
              </c:ext>
            </c:extLst>
          </c:dPt>
          <c:dPt>
            <c:idx val="1"/>
            <c:invertIfNegative val="0"/>
            <c:bubble3D val="0"/>
            <c:spPr>
              <a:solidFill>
                <a:srgbClr val="1A7A4A"/>
              </a:solidFill>
              <a:effectLst/>
            </c:spPr>
            <c:extLst>
              <c:ext xmlns:c16="http://schemas.microsoft.com/office/drawing/2014/chart" uri="{C3380CC4-5D6E-409C-BE32-E72D297353CC}">
                <c16:uniqueId val="{00000003-A759-4C53-9EC4-BB74072B1743}"/>
              </c:ext>
            </c:extLst>
          </c:dPt>
          <c:dPt>
            <c:idx val="2"/>
            <c:invertIfNegative val="0"/>
            <c:bubble3D val="0"/>
            <c:spPr>
              <a:solidFill>
                <a:srgbClr val="E8871A"/>
              </a:solidFill>
              <a:effectLst/>
            </c:spPr>
            <c:extLst>
              <c:ext xmlns:c16="http://schemas.microsoft.com/office/drawing/2014/chart" uri="{C3380CC4-5D6E-409C-BE32-E72D297353CC}">
                <c16:uniqueId val="{00000005-A759-4C53-9EC4-BB74072B1743}"/>
              </c:ext>
            </c:extLst>
          </c:dPt>
          <c:dPt>
            <c:idx val="3"/>
            <c:invertIfNegative val="0"/>
            <c:bubble3D val="0"/>
            <c:spPr>
              <a:solidFill>
                <a:srgbClr val="6D2E46"/>
              </a:solidFill>
              <a:effectLst/>
            </c:spPr>
            <c:extLst>
              <c:ext xmlns:c16="http://schemas.microsoft.com/office/drawing/2014/chart" uri="{C3380CC4-5D6E-409C-BE32-E72D297353CC}">
                <c16:uniqueId val="{00000007-A759-4C53-9EC4-BB74072B1743}"/>
              </c:ext>
            </c:extLst>
          </c:dPt>
          <c:dPt>
            <c:idx val="4"/>
            <c:invertIfNegative val="0"/>
            <c:bubble3D val="0"/>
            <c:spPr>
              <a:solidFill>
                <a:srgbClr val="0E7C7B"/>
              </a:solidFill>
              <a:effectLst/>
            </c:spPr>
            <c:extLst>
              <c:ext xmlns:c16="http://schemas.microsoft.com/office/drawing/2014/chart" uri="{C3380CC4-5D6E-409C-BE32-E72D297353CC}">
                <c16:uniqueId val="{00000009-A759-4C53-9EC4-BB74072B1743}"/>
              </c:ext>
            </c:extLst>
          </c:dPt>
          <c:dLbls>
            <c:numFmt formatCode="#,##0" sourceLinked="0"/>
            <c:spPr>
              <a:noFill/>
              <a:ln>
                <a:noFill/>
              </a:ln>
              <a:effectLst/>
            </c:spPr>
            <c:txPr>
              <a:bodyPr/>
              <a:lstStyle/>
              <a:p>
                <a:pPr>
                  <a:defRPr sz="800" b="0" i="0" u="none" strike="noStrike">
                    <a:solidFill>
                      <a:srgbClr val="1E293B"/>
                    </a:solidFill>
                    <a:latin typeface="Arial"/>
                  </a:defRPr>
                </a:pPr>
                <a:endParaRPr lang="en-P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Text-only</c:v>
                </c:pt>
                <c:pt idx="1">
                  <c:v>Image-only</c:v>
                </c:pt>
                <c:pt idx="2">
                  <c:v>Concat fusion</c:v>
                </c:pt>
                <c:pt idx="3">
                  <c:v>α-feature</c:v>
                </c:pt>
                <c:pt idx="4">
                  <c:v>α-gate (Full)</c:v>
                </c:pt>
              </c:strCache>
            </c:strRef>
          </c:cat>
          <c:val>
            <c:numRef>
              <c:f>Sheet1!$B$2:$B$6</c:f>
              <c:numCache>
                <c:formatCode>General</c:formatCode>
                <c:ptCount val="5"/>
                <c:pt idx="0">
                  <c:v>0.78269999999999995</c:v>
                </c:pt>
                <c:pt idx="1">
                  <c:v>0.8135</c:v>
                </c:pt>
                <c:pt idx="2">
                  <c:v>0.83189999999999997</c:v>
                </c:pt>
                <c:pt idx="3">
                  <c:v>0.82769999999999999</c:v>
                </c:pt>
                <c:pt idx="4">
                  <c:v>0.83930000000000005</c:v>
                </c:pt>
              </c:numCache>
            </c:numRef>
          </c:val>
          <c:extLst>
            <c:ext xmlns:c16="http://schemas.microsoft.com/office/drawing/2014/chart" uri="{C3380CC4-5D6E-409C-BE32-E72D297353CC}">
              <c16:uniqueId val="{0000000A-A759-4C53-9EC4-BB74072B17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86"/>
          <c:min val="0.7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673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HEMT-CLIP — a multimodal fake news detector that combines RoBERTa text encoding with CLIP image encoding through a novel similarity-gated cross-attention mechanism. What distinguishes this work is its integrated three-level explainability framework. The system achieves an F1 of 0.8393 and AUC of 0.9122 on the Fakeddit benchmark while remaining fully interpretable.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rapid proliferation of social media has fundamentally changed how misinformation spreads. Fabricated claims are now almost always reinforced by carefully chosen imagery — creating cross-modal manipulation that text-only systems simply cannot detect. Meanwhile, deep multimodal classifiers that could theoretically handle both modalities operate as opaque black boxes, making them unsuitable for accountable content moderation where decisions must be justifiable.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fake news on social media is inherently multimodal — a misleading headline is almost always paired with a supporting or emotionally loaded image. Single-modality systems miss half the picture. Worse, simply concatenating features from both modalities doesn't capture the semantic tension between text and image that is the primary manipulation surface. This project targets all three shortcomings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statement drives every design decision in HEMT-CLIP. Can we build a system that is both accurate and explainable? Prior work shows these as competing goals — you can have an accurate black-box or an interpretable but weaker model. HEMT-CLIP argues they are jointly attainable. The four gaps shown here correspond directly to the four architectural contributions of the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research objectives are directly linked: O1 is the architectural innovation; O2 is the quantitative validation; O3 is the explainability contribution; and O4 provides rigorous empirical analysis. Together they address both accuracy and accountability — which is the central argument of this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research question is answered by the experiments in Chapter 6. The most surprising finding is RQ4 — the conventional assumption that lower CLIP similarity signals manipulation is empirically inverted on Fakeddit. Satirical posts pair emotional captions with on-topic images, giving high alignment, while real news often pairs a specific headline with a generic stock photo, giving lower alignment. The gate works despite this because it learns a soft blend, not a hard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35 papers across four streams. Text-only detectors are the weakest — they miss half the signal. Simple multimodal fusion improves accuracy but ignores cross-modal semantic relationships. Advanced CLIP-based systems achieve strong results but are black boxes. Explainable systems are mostly text-only or use post-hoc XAI applied to opaque fusion — meaning the explanations may not accurately reflect the model's true reasoning. HEMT-CLIP uniquely provides INTRINSIC image-side explainability through cross-attention weights.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positions HEMT-CLIP against the most relevant prior work. The key differentiator is the last column: HEMT-CLIP is the only system that combines Text + Image modalities with a three-level XAI framework including intrinsic image-side attention heatmaps. Tri-FusionDet uses the same Fakeddit dataset but with 682k samples and no explainability. HEMT-CLIP achieves competitive results with 17k samples on a single T4 GPU.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gaps are the direct justification for every design choice in HEMT-CLIP. The first gap is architectural — only cross-attention can produce intrinsic image explanations. The second gap is about the gating mechanism — using α as a gate rather than a feature is novel. The third gap argues the false trade-off between accuracy and explainability. The fourth gap is an empirical discovery about the Fakeddit corpus itself.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HEMT-CLIP is a dual-encoder architecture. The left branch encodes the post title through RoBERTa-base; the right branch encodes the image through CLIP ViT-B/16. The fusion module uses 8-head cross-attention where text is the Query and image patches are the Keys and Values. The α-gate then blends the attended representation with the original text using the pre-computed CLIP cosine similarity. The three-level XAI framework is built into the forward pass — Level 1 is completely free.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symmetric. Both the RoBERTa and CLIP encoders freeze their first 8 layers and fine-tune their last 4 — this prevents catastrophic forgetting while enabling task-specific adaptation. The cross-attention is asymmetric by design: text as Query means the text representation asks 'which image regions are relevant to me?' — this is what produces the interpretable spatial heatmaps. The α-gate is parameter-free — it adds no trainable weights.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Fakeddit corpus from Nakamura et al. 2020 contains over one million Reddit posts. We worked with a 17,149-sample subset due to image download constraints. The class balance is near-perfect at 50.83/49.17. The CLIP similarity finding is the most important empirical discovery in the dataset analysis: fake posts have higher mean similarity than real posts — the opposite of what you'd expect. This is because satirical fake posts pair dramatic captions with topically relevant images, while real news often uses generic stock photos.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preprocessing pipeline has one critical engineering insight: HDF5 packing. Loading 17,149 individual image files from Google Drive took over 20 minutes per epoch. Packing everything into a single HDF5 file and copying it to the Colab local SSD at session start reduced this to under 30 seconds — a 40x speedup. The CLIP similarity precomputation is also done once offline and cached, eliminating repeated inference at every training step.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dual-encoder design is symmetric: both encoders freeze their lower 8 layers and fine-tune their upper 4. This symmetry is intentional — it provides equal levels of task adaptation for both modalities. The image encoder produces TWO outputs: the CLS vector for global image semantics, and the full 196-patch token sequence. The patch tokens are what make the cross-attention localization possible — and what enables the spatial heatmaps.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architectural contribution of HEMT-CLIP. The cross-attention is asymmetric: text is the Query, image patches are Keys and Values. This design allows the text representation to selectively attend to relevant image regions. The α-gate then decides HOW MUCH of this cross-attended information to incorporate — if text and image are semantically aligned (high α), more image-attended information is used; if not, the gate falls back toward the text representation. The gate adds zero trainable parameters.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levels are carefully chosen to be methodologically independent: Level 1 is intrinsic architectural, while Levels 2 and 3 are post-hoc perturbation methods with different tokenization granularities. Using the same random seed for SHAP and LIME allows direct sample-ID comparison. The critical insight is that when the methods agree, it validates the attribution; when they disagree, it reveals something informative about either the model or the input — not a failure.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setup is tightly controlled to ensure all comparisons are fair. The identical training protocol — same dataset, same split, same hyperparameters, same random seed — means that any performance difference between variants is due to architecture, not data or training variability. The per-epoch atomic checkpointing was critical for Colab's session timeout issue. The test set was strictly held out and only evaluated once per variant to report final numbers.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metrics are reported for complete evaluation. F1 is the primary metric because the Fakeddit dataset is near-balanced; accuracy and F1 give similar signals here but F1 is more robust to minor class imbalance. AUC is critical as a threshold-independent measure — the AUC advantage confirms the gains are real and not threshold artifacts. In content moderation contexts, recall is most important because missing a fake post is more costly than over-flagging a real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staged fine-tuning is essential to the training approach. Stage 1 warms up the randomly initialized components before touching the pretrained encoders. This prevents the catastrophic early gradients problem — where random initialization in the head can produce huge loss values that corrupt pretrained representations before they can be useful. Stage 2 then carefully unfreezes the top layers symmetrically. Early stopping on validation F1 prevents overfitting.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study is structured as a systematic progression: each variant adds exactly one architectural component. The comparison between the α-feature and α-gate variants is the decisive experiment — both have exactly the same cross-attention architecture; the ONLY difference is how α is used. α-feature concatenates it as an input to the classifier; α-gate uses it as the fusion blending coefficient. The gate wins by +1.16 F1 and +2.03 AUC.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results. HEMT-CLIP α-gate is best on 4 of 6 metrics: F1, Accuracy, AUC, and Recall. It trails on precision only — meaning it catches more fake posts but with slightly more false alarms. This is the right trade-off for content moderation where missing fake posts is more costly than over-flagging. The AUC advantage of +2.03 points over the α-feature variant is particularly important — it confirms the improvement is not a threshold artifact.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analytical findings emerge from the results. First, the chart confirms the monotonic improvement across the ablation progression — except for the α-feature variant, which dips below concatenation. This dip is the clearest evidence that the gating mechanism is the critical innovation, not cross-attention per se. Second, the error decomposition shows all variants are FP-leaning, consistent with the inverted α direction. Third, the α-gate achieves the lowest FN rate — 10.5% — which is the most operationally important metric.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explainability analysis has four key findings. The attention heatmaps are structurally meaningful — not random — which validates that the cross-attention module has learned genuine cross-modal alignment. The Kristallnacht error case is particularly instructive: it exposes a vocabulary-level bias in the text encoder and demonstrates SHAP-LIME complementarity. The conditional disagreement finding is the most sophisticated — it turns a disagreement case into an insight about both the model and the methods.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samples illustrate the full range of model behavior and XAI dynamics. The Kristallnacht case shows the vocabulary bias failure mode AND demonstrates SHAP-LIME complementarity. The Tree on Rock case shows strong cross-method agreement when the model has learned a robust feature. The Mad Max case turns a disagreement between SHAP and LIME into an insight about the information density of the input — a 2-word title simply doesn't provide enough signal for perturbation-based methods to agree.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synthesizes the quantitative and qualitative findings. The most important theoretical insight is the counter-intuitive alpha direction — this has implications beyond HEMT-CLIP for any CLIP-based fake news detector applied to Reddit-sourced data. The most important architectural insight is that the gate is the critical component — not the cross-attention mechanism per se. The most important practical finding is that accuracy and explainability can coexist.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summarize the project's scientific value. C1 is the core architectural innovation. C2 is the explainability contribution — the conditional agreement analysis is more rigorous than simply describing three methods. C3 is an unexpected empirical discovery with implications for the broader CLIP-based fake news detection literature. C4 addresses reproducibility and resource constraints — important for academic work.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transparent about limitations is a sign of rigorous research. The most important limitation is the single-seed evaluation — the results are reproducible but multi-seed variance would strengthen the statistical claim. The multi-seed run for the α-feature variant showed validation F1 of 0.8218 ± 0.0017 across 3 seeds, suggesting consistency, but this was not done for the full model due to time constraints. This is explicitly noted as a near-term extension.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work is directly motivated by the current limitations. Multi-seed evaluation is flagged as immediate because it would strengthen the core statistical claim with minimal effort. Social context integration is the highest-value extension because it adds a third modality that has proven complementary in prior work. The multilingual extension would follow the HEMT-Fake approach to cover low-resource languages, which is a major gap identified in the literature review.</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is clean and direct. HEMT-CLIP makes four contributions across architecture, performance, explainability, and empirical discovery. The central thesis — that accuracy and explainability are jointly attainable — is empirically proven. The α-gate is the architectural key. The counter-intuitive α direction is the most novel empirical finding. The three-level XAI framework with conditional agreement analysis is the most sophisticated explainability contribution.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questions. The areas I am most prepared to discuss in depth are: the gating mechanism and why it outperforms cross-attention alone; the counter-intuitive CLIP similarity direction and its implications; the conditional agreement between SHAP and LIME; the ablation study design; and future work on multi-seed evaluation and scaling to larger datasets.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E7C7B"/>
          </a:solidFill>
          <a:ln w="12700">
            <a:solidFill>
              <a:srgbClr val="0E7C7B"/>
            </a:solidFill>
            <a:prstDash val="solid"/>
          </a:ln>
        </p:spPr>
      </p:sp>
      <p:sp>
        <p:nvSpPr>
          <p:cNvPr id="3" name="Text 1"/>
          <p:cNvSpPr/>
          <p:nvPr/>
        </p:nvSpPr>
        <p:spPr>
          <a:xfrm>
            <a:off x="502920" y="502920"/>
            <a:ext cx="8229600" cy="1005840"/>
          </a:xfrm>
          <a:prstGeom prst="rect">
            <a:avLst/>
          </a:prstGeom>
          <a:noFill/>
          <a:ln/>
        </p:spPr>
        <p:txBody>
          <a:bodyPr wrap="square" lIns="0" tIns="0" rIns="0" bIns="0" rtlCol="0" anchor="ctr"/>
          <a:lstStyle/>
          <a:p>
            <a:pPr marL="0" indent="0" algn="l">
              <a:buNone/>
            </a:pPr>
            <a:r>
              <a:rPr lang="en-US" sz="5200" b="1" dirty="0">
                <a:solidFill>
                  <a:srgbClr val="17BEBB"/>
                </a:solidFill>
                <a:latin typeface="Cambria" pitchFamily="34" charset="0"/>
                <a:ea typeface="Cambria" pitchFamily="34" charset="-122"/>
                <a:cs typeface="Cambria" pitchFamily="34" charset="-120"/>
              </a:rPr>
              <a:t>HEMT-CLIP</a:t>
            </a:r>
            <a:endParaRPr lang="en-US" sz="5200" dirty="0"/>
          </a:p>
        </p:txBody>
      </p:sp>
      <p:sp>
        <p:nvSpPr>
          <p:cNvPr id="4" name="Text 2"/>
          <p:cNvSpPr/>
          <p:nvPr/>
        </p:nvSpPr>
        <p:spPr>
          <a:xfrm>
            <a:off x="502920" y="1417320"/>
            <a:ext cx="8229600" cy="685800"/>
          </a:xfrm>
          <a:prstGeom prst="rect">
            <a:avLst/>
          </a:prstGeom>
          <a:noFill/>
          <a:ln/>
        </p:spPr>
        <p:txBody>
          <a:bodyPr wrap="square" lIns="0" tIns="0" rIns="0" bIns="0" rtlCol="0" anchor="ctr"/>
          <a:lstStyle/>
          <a:p>
            <a:pPr marL="0" indent="0" algn="l">
              <a:buNone/>
            </a:pPr>
            <a:r>
              <a:rPr lang="en-US" sz="2200" dirty="0">
                <a:solidFill>
                  <a:srgbClr val="FFFFFF"/>
                </a:solidFill>
                <a:latin typeface="Calibri" pitchFamily="34" charset="0"/>
                <a:ea typeface="Calibri" pitchFamily="34" charset="-122"/>
                <a:cs typeface="Calibri" pitchFamily="34" charset="-120"/>
              </a:rPr>
              <a:t>Explainable AI for Multimodal Fake News Detection</a:t>
            </a:r>
            <a:endParaRPr lang="en-US" sz="2200" dirty="0"/>
          </a:p>
        </p:txBody>
      </p:sp>
      <p:sp>
        <p:nvSpPr>
          <p:cNvPr id="5" name="Shape 3"/>
          <p:cNvSpPr/>
          <p:nvPr/>
        </p:nvSpPr>
        <p:spPr>
          <a:xfrm>
            <a:off x="502920" y="2148840"/>
            <a:ext cx="4114800" cy="36576"/>
          </a:xfrm>
          <a:prstGeom prst="rect">
            <a:avLst/>
          </a:prstGeom>
          <a:solidFill>
            <a:srgbClr val="E8871A"/>
          </a:solidFill>
          <a:ln w="12700">
            <a:solidFill>
              <a:srgbClr val="E8871A"/>
            </a:solidFill>
            <a:prstDash val="solid"/>
          </a:ln>
        </p:spPr>
      </p:sp>
      <p:sp>
        <p:nvSpPr>
          <p:cNvPr id="6" name="Text 4"/>
          <p:cNvSpPr/>
          <p:nvPr/>
        </p:nvSpPr>
        <p:spPr>
          <a:xfrm>
            <a:off x="502920" y="2377440"/>
            <a:ext cx="5943600" cy="1280160"/>
          </a:xfrm>
          <a:prstGeom prst="rect">
            <a:avLst/>
          </a:prstGeom>
          <a:noFill/>
          <a:ln/>
        </p:spPr>
        <p:txBody>
          <a:bodyPr wrap="square" lIns="0" tIns="0" rIns="0" bIns="0" rtlCol="0" anchor="ctr"/>
          <a:lstStyle/>
          <a:p>
            <a:pPr marL="0" indent="0">
              <a:buNone/>
            </a:pPr>
            <a:r>
              <a:rPr lang="en-US" sz="1300" dirty="0">
                <a:solidFill>
                  <a:srgbClr val="7A8FA6"/>
                </a:solidFill>
                <a:latin typeface="Calibri" pitchFamily="34" charset="0"/>
                <a:ea typeface="Calibri" pitchFamily="34" charset="-122"/>
                <a:cs typeface="Calibri" pitchFamily="34" charset="-120"/>
              </a:rPr>
              <a:t>Final Year Project Internals</a:t>
            </a:r>
            <a:endParaRPr lang="en-US" sz="1300" dirty="0"/>
          </a:p>
          <a:p>
            <a:pPr marL="0" indent="0">
              <a:buNone/>
            </a:pPr>
            <a:r>
              <a:rPr lang="en-US" sz="1300" dirty="0">
                <a:solidFill>
                  <a:srgbClr val="7A8FA6"/>
                </a:solidFill>
                <a:latin typeface="Calibri" pitchFamily="34" charset="0"/>
                <a:ea typeface="Calibri" pitchFamily="34" charset="-122"/>
                <a:cs typeface="Calibri" pitchFamily="34" charset="-120"/>
              </a:rPr>
              <a:t>Department of KUST</a:t>
            </a:r>
          </a:p>
          <a:p>
            <a:pPr marL="0" indent="0">
              <a:buNone/>
            </a:pPr>
            <a:r>
              <a:rPr lang="en-US" sz="1300" dirty="0">
                <a:solidFill>
                  <a:srgbClr val="7A8FA6"/>
                </a:solidFill>
                <a:latin typeface="Calibri" pitchFamily="34" charset="0"/>
                <a:ea typeface="Calibri" pitchFamily="34" charset="-122"/>
                <a:cs typeface="Calibri" pitchFamily="34" charset="-120"/>
              </a:rPr>
              <a:t>Session: 2022 - 2026</a:t>
            </a:r>
          </a:p>
          <a:p>
            <a:pPr marL="0" indent="0">
              <a:buNone/>
            </a:pPr>
            <a:endParaRPr lang="en-US" sz="1300" dirty="0">
              <a:solidFill>
                <a:srgbClr val="7A8FA6"/>
              </a:solidFill>
              <a:latin typeface="Calibri" pitchFamily="34" charset="0"/>
              <a:ea typeface="Calibri" pitchFamily="34" charset="-122"/>
              <a:cs typeface="Calibri" pitchFamily="34" charset="-120"/>
            </a:endParaRPr>
          </a:p>
          <a:p>
            <a:pPr marL="0" indent="0">
              <a:buNone/>
            </a:pPr>
            <a:r>
              <a:rPr lang="en-US" sz="1300" b="1" i="1" u="sng" dirty="0">
                <a:solidFill>
                  <a:schemeClr val="bg1"/>
                </a:solidFill>
                <a:latin typeface="Calibri" pitchFamily="34" charset="0"/>
                <a:ea typeface="Calibri" pitchFamily="34" charset="-122"/>
                <a:cs typeface="Calibri" pitchFamily="34" charset="-120"/>
              </a:rPr>
              <a:t>Under Supervision of: Ma’am Hina Tufail</a:t>
            </a:r>
          </a:p>
        </p:txBody>
      </p:sp>
      <p:sp>
        <p:nvSpPr>
          <p:cNvPr id="7" name="Shape 5"/>
          <p:cNvSpPr/>
          <p:nvPr/>
        </p:nvSpPr>
        <p:spPr>
          <a:xfrm>
            <a:off x="6446520" y="2240280"/>
            <a:ext cx="2423160" cy="2192572"/>
          </a:xfrm>
          <a:prstGeom prst="roundRect">
            <a:avLst>
              <a:gd name="adj" fmla="val 3019"/>
            </a:avLst>
          </a:prstGeom>
          <a:solidFill>
            <a:srgbClr val="162B3A"/>
          </a:solidFill>
          <a:ln w="12700">
            <a:solidFill>
              <a:srgbClr val="DDEAEA"/>
            </a:solidFill>
            <a:prstDash val="solid"/>
          </a:ln>
          <a:effectLst>
            <a:outerShdw blurRad="101600" dist="38100" dir="2700000" algn="bl" rotWithShape="0">
              <a:srgbClr val="000000">
                <a:alpha val="13000"/>
              </a:srgbClr>
            </a:outerShdw>
          </a:effectLst>
        </p:spPr>
      </p:sp>
      <p:sp>
        <p:nvSpPr>
          <p:cNvPr id="8" name="Text 6"/>
          <p:cNvSpPr/>
          <p:nvPr/>
        </p:nvSpPr>
        <p:spPr>
          <a:xfrm>
            <a:off x="6537960" y="2377440"/>
            <a:ext cx="2240280" cy="2192572"/>
          </a:xfrm>
          <a:prstGeom prst="rect">
            <a:avLst/>
          </a:prstGeom>
          <a:noFill/>
          <a:ln/>
        </p:spPr>
        <p:txBody>
          <a:bodyPr wrap="square" lIns="0" tIns="0" rIns="0" bIns="0" rtlCol="0" anchor="ctr"/>
          <a:lstStyle/>
          <a:p>
            <a:pPr marL="0" indent="0" algn="ctr">
              <a:buNone/>
            </a:pPr>
            <a:r>
              <a:rPr lang="en-US" sz="1400" b="1" dirty="0">
                <a:solidFill>
                  <a:srgbClr val="17BEBB"/>
                </a:solidFill>
              </a:rPr>
              <a:t>Members:</a:t>
            </a:r>
          </a:p>
          <a:p>
            <a:pPr marL="0" indent="0" algn="ctr">
              <a:buNone/>
            </a:pPr>
            <a:endParaRPr lang="en-US" sz="600" b="1" dirty="0">
              <a:solidFill>
                <a:srgbClr val="17BEBB"/>
              </a:solidFill>
            </a:endParaRPr>
          </a:p>
          <a:p>
            <a:pPr marL="0" indent="0" algn="ctr">
              <a:buNone/>
            </a:pPr>
            <a:r>
              <a:rPr lang="en-US" sz="1400" i="1" u="sng" dirty="0">
                <a:solidFill>
                  <a:schemeClr val="bg1"/>
                </a:solidFill>
              </a:rPr>
              <a:t>Syed Taha Rizvi (004)</a:t>
            </a:r>
          </a:p>
          <a:p>
            <a:pPr marL="0" indent="0" algn="ctr">
              <a:buNone/>
            </a:pPr>
            <a:r>
              <a:rPr lang="en-US" sz="1400" i="1" u="sng" dirty="0">
                <a:solidFill>
                  <a:schemeClr val="bg1"/>
                </a:solidFill>
              </a:rPr>
              <a:t>Ayesha Bukhari (015)</a:t>
            </a:r>
          </a:p>
          <a:p>
            <a:pPr marL="0" indent="0" algn="ctr">
              <a:buNone/>
            </a:pPr>
            <a:r>
              <a:rPr lang="en-US" sz="1400" i="1" u="sng" dirty="0">
                <a:solidFill>
                  <a:schemeClr val="bg1"/>
                </a:solidFill>
              </a:rPr>
              <a:t>Ali Mosa Raza (012)</a:t>
            </a:r>
          </a:p>
          <a:p>
            <a:pPr marL="0" indent="0" algn="ctr">
              <a:buNone/>
            </a:pPr>
            <a:endParaRPr lang="en-US" sz="1400" i="1" u="sng" dirty="0">
              <a:solidFill>
                <a:schemeClr val="bg1"/>
              </a:solidFill>
            </a:endParaRPr>
          </a:p>
          <a:p>
            <a:pPr algn="ctr"/>
            <a:r>
              <a:rPr lang="en-US" sz="1400" b="1" dirty="0">
                <a:solidFill>
                  <a:srgbClr val="17BEBB"/>
                </a:solidFill>
              </a:rPr>
              <a:t>Program:</a:t>
            </a:r>
          </a:p>
          <a:p>
            <a:pPr algn="ctr"/>
            <a:endParaRPr lang="en-US" sz="900" b="1" dirty="0">
              <a:solidFill>
                <a:srgbClr val="17BEBB"/>
              </a:solidFill>
            </a:endParaRPr>
          </a:p>
          <a:p>
            <a:pPr algn="ctr"/>
            <a:r>
              <a:rPr lang="en-US" sz="1400" i="1" u="sng" dirty="0">
                <a:solidFill>
                  <a:schemeClr val="bg1"/>
                </a:solidFill>
              </a:rPr>
              <a:t>BSAI (002)</a:t>
            </a:r>
          </a:p>
          <a:p>
            <a:pPr marL="0" indent="0" algn="ctr">
              <a:buNone/>
            </a:pPr>
            <a:endParaRPr lang="en-US" sz="1400" i="1" u="sng"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Motivation</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 / 30</a:t>
            </a:r>
            <a:endParaRPr lang="en-US" sz="900" dirty="0"/>
          </a:p>
        </p:txBody>
      </p:sp>
      <p:sp>
        <p:nvSpPr>
          <p:cNvPr id="5" name="Shape 3"/>
          <p:cNvSpPr/>
          <p:nvPr/>
        </p:nvSpPr>
        <p:spPr>
          <a:xfrm>
            <a:off x="365760" y="960120"/>
            <a:ext cx="2743200" cy="3611880"/>
          </a:xfrm>
          <a:prstGeom prst="roundRect">
            <a:avLst>
              <a:gd name="adj" fmla="val 2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365760" y="960120"/>
            <a:ext cx="2743200" cy="548640"/>
          </a:xfrm>
          <a:prstGeom prst="roundRect">
            <a:avLst>
              <a:gd name="adj" fmla="val 13333"/>
            </a:avLst>
          </a:prstGeom>
          <a:solidFill>
            <a:srgbClr val="0E7C7B"/>
          </a:solidFill>
          <a:ln w="12700">
            <a:solidFill>
              <a:srgbClr val="0E7C7B"/>
            </a:solidFill>
            <a:prstDash val="solid"/>
          </a:ln>
        </p:spPr>
      </p:sp>
      <p:sp>
        <p:nvSpPr>
          <p:cNvPr id="7" name="Text 5"/>
          <p:cNvSpPr/>
          <p:nvPr/>
        </p:nvSpPr>
        <p:spPr>
          <a:xfrm>
            <a:off x="457200" y="987552"/>
            <a:ext cx="2560320" cy="493776"/>
          </a:xfrm>
          <a:prstGeom prst="rect">
            <a:avLst/>
          </a:prstGeom>
          <a:noFill/>
          <a:ln/>
        </p:spPr>
        <p:txBody>
          <a:bodyPr wrap="square" lIns="0" tIns="0" rIns="0" bIns="0" rtlCol="0" anchor="ctr"/>
          <a:lstStyle/>
          <a:p>
            <a:pPr marL="0" indent="0" algn="ctr">
              <a:buNone/>
            </a:pPr>
            <a:r>
              <a:rPr lang="en-US" sz="1200" b="1" dirty="0">
                <a:solidFill>
                  <a:srgbClr val="FFFFFF"/>
                </a:solidFill>
              </a:rPr>
              <a:t>Social Media Explosion</a:t>
            </a:r>
            <a:endParaRPr lang="en-US" sz="1200" dirty="0"/>
          </a:p>
        </p:txBody>
      </p:sp>
      <p:sp>
        <p:nvSpPr>
          <p:cNvPr id="8" name="Text 6"/>
          <p:cNvSpPr/>
          <p:nvPr/>
        </p:nvSpPr>
        <p:spPr>
          <a:xfrm>
            <a:off x="475488" y="1600200"/>
            <a:ext cx="2523744" cy="2834640"/>
          </a:xfrm>
          <a:prstGeom prst="rect">
            <a:avLst/>
          </a:prstGeom>
          <a:noFill/>
          <a:ln/>
        </p:spPr>
        <p:txBody>
          <a:bodyPr wrap="square" lIns="0" tIns="0" rIns="0" bIns="0" rtlCol="0" anchor="ctr"/>
          <a:lstStyle/>
          <a:p>
            <a:pPr marL="0" indent="0">
              <a:buNone/>
            </a:pPr>
            <a:r>
              <a:rPr lang="en-US" sz="1150" dirty="0">
                <a:solidFill>
                  <a:srgbClr val="1C2B3A"/>
                </a:solidFill>
                <a:latin typeface="Calibri" pitchFamily="34" charset="0"/>
                <a:ea typeface="Calibri" pitchFamily="34" charset="-122"/>
                <a:cs typeface="Calibri" pitchFamily="34" charset="-120"/>
              </a:rPr>
              <a:t>Social media accelerates misinformation spread — fabricated claims reinforced by accompanying imagery create multi-modal deception that text-only detectors cannot catch.</a:t>
            </a:r>
            <a:endParaRPr lang="en-US" sz="1150" dirty="0"/>
          </a:p>
        </p:txBody>
      </p:sp>
      <p:sp>
        <p:nvSpPr>
          <p:cNvPr id="9" name="Shape 7"/>
          <p:cNvSpPr/>
          <p:nvPr/>
        </p:nvSpPr>
        <p:spPr>
          <a:xfrm>
            <a:off x="3246120" y="960120"/>
            <a:ext cx="2743200" cy="3611880"/>
          </a:xfrm>
          <a:prstGeom prst="roundRect">
            <a:avLst>
              <a:gd name="adj" fmla="val 2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Shape 8"/>
          <p:cNvSpPr/>
          <p:nvPr/>
        </p:nvSpPr>
        <p:spPr>
          <a:xfrm>
            <a:off x="3246120" y="960120"/>
            <a:ext cx="2743200" cy="548640"/>
          </a:xfrm>
          <a:prstGeom prst="roundRect">
            <a:avLst>
              <a:gd name="adj" fmla="val 13333"/>
            </a:avLst>
          </a:prstGeom>
          <a:solidFill>
            <a:srgbClr val="E8871A"/>
          </a:solidFill>
          <a:ln w="12700">
            <a:solidFill>
              <a:srgbClr val="E8871A"/>
            </a:solidFill>
            <a:prstDash val="solid"/>
          </a:ln>
        </p:spPr>
      </p:sp>
      <p:sp>
        <p:nvSpPr>
          <p:cNvPr id="11" name="Text 9"/>
          <p:cNvSpPr/>
          <p:nvPr/>
        </p:nvSpPr>
        <p:spPr>
          <a:xfrm>
            <a:off x="3337560" y="987552"/>
            <a:ext cx="2560320" cy="493776"/>
          </a:xfrm>
          <a:prstGeom prst="rect">
            <a:avLst/>
          </a:prstGeom>
          <a:noFill/>
          <a:ln/>
        </p:spPr>
        <p:txBody>
          <a:bodyPr wrap="square" lIns="0" tIns="0" rIns="0" bIns="0" rtlCol="0" anchor="ctr"/>
          <a:lstStyle/>
          <a:p>
            <a:pPr marL="0" indent="0" algn="ctr">
              <a:buNone/>
            </a:pPr>
            <a:r>
              <a:rPr lang="en-US" sz="1200" b="1" dirty="0">
                <a:solidFill>
                  <a:srgbClr val="FFFFFF"/>
                </a:solidFill>
              </a:rPr>
              <a:t>Structural Limitation</a:t>
            </a:r>
            <a:endParaRPr lang="en-US" sz="1200" dirty="0"/>
          </a:p>
        </p:txBody>
      </p:sp>
      <p:sp>
        <p:nvSpPr>
          <p:cNvPr id="12" name="Text 10"/>
          <p:cNvSpPr/>
          <p:nvPr/>
        </p:nvSpPr>
        <p:spPr>
          <a:xfrm>
            <a:off x="3355848" y="1600200"/>
            <a:ext cx="2523744" cy="2834640"/>
          </a:xfrm>
          <a:prstGeom prst="rect">
            <a:avLst/>
          </a:prstGeom>
          <a:noFill/>
          <a:ln/>
        </p:spPr>
        <p:txBody>
          <a:bodyPr wrap="square" lIns="0" tIns="0" rIns="0" bIns="0" rtlCol="0" anchor="ctr"/>
          <a:lstStyle/>
          <a:p>
            <a:pPr marL="0" indent="0">
              <a:buNone/>
            </a:pPr>
            <a:r>
              <a:rPr lang="en-US" sz="1150" dirty="0">
                <a:solidFill>
                  <a:srgbClr val="1C2B3A"/>
                </a:solidFill>
                <a:latin typeface="Calibri" pitchFamily="34" charset="0"/>
                <a:ea typeface="Calibri" pitchFamily="34" charset="-122"/>
                <a:cs typeface="Calibri" pitchFamily="34" charset="-120"/>
              </a:rPr>
              <a:t>Text-only detectors remain blind to cross-modal inconsistency — the hallmark of manipulated content. Deep classifiers that handle both modalities behave as opaque black-boxes.</a:t>
            </a:r>
            <a:endParaRPr lang="en-US" sz="1150" dirty="0"/>
          </a:p>
        </p:txBody>
      </p:sp>
      <p:sp>
        <p:nvSpPr>
          <p:cNvPr id="13" name="Shape 11"/>
          <p:cNvSpPr/>
          <p:nvPr/>
        </p:nvSpPr>
        <p:spPr>
          <a:xfrm>
            <a:off x="6126480" y="960120"/>
            <a:ext cx="2743200" cy="3611880"/>
          </a:xfrm>
          <a:prstGeom prst="roundRect">
            <a:avLst>
              <a:gd name="adj" fmla="val 2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4" name="Shape 12"/>
          <p:cNvSpPr/>
          <p:nvPr/>
        </p:nvSpPr>
        <p:spPr>
          <a:xfrm>
            <a:off x="6126480" y="960120"/>
            <a:ext cx="2743200" cy="548640"/>
          </a:xfrm>
          <a:prstGeom prst="roundRect">
            <a:avLst>
              <a:gd name="adj" fmla="val 13333"/>
            </a:avLst>
          </a:prstGeom>
          <a:solidFill>
            <a:srgbClr val="1A7A4A"/>
          </a:solidFill>
          <a:ln w="12700">
            <a:solidFill>
              <a:srgbClr val="1A7A4A"/>
            </a:solidFill>
            <a:prstDash val="solid"/>
          </a:ln>
        </p:spPr>
      </p:sp>
      <p:sp>
        <p:nvSpPr>
          <p:cNvPr id="15" name="Text 13"/>
          <p:cNvSpPr/>
          <p:nvPr/>
        </p:nvSpPr>
        <p:spPr>
          <a:xfrm>
            <a:off x="6217920" y="987552"/>
            <a:ext cx="2560320" cy="493776"/>
          </a:xfrm>
          <a:prstGeom prst="rect">
            <a:avLst/>
          </a:prstGeom>
          <a:noFill/>
          <a:ln/>
        </p:spPr>
        <p:txBody>
          <a:bodyPr wrap="square" lIns="0" tIns="0" rIns="0" bIns="0" rtlCol="0" anchor="ctr"/>
          <a:lstStyle/>
          <a:p>
            <a:pPr marL="0" indent="0" algn="ctr">
              <a:buNone/>
            </a:pPr>
            <a:r>
              <a:rPr lang="en-US" sz="1200" b="1" dirty="0">
                <a:solidFill>
                  <a:srgbClr val="FFFFFF"/>
                </a:solidFill>
              </a:rPr>
              <a:t>Accountability Gap</a:t>
            </a:r>
            <a:endParaRPr lang="en-US" sz="1200" dirty="0"/>
          </a:p>
        </p:txBody>
      </p:sp>
      <p:sp>
        <p:nvSpPr>
          <p:cNvPr id="16" name="Text 14"/>
          <p:cNvSpPr/>
          <p:nvPr/>
        </p:nvSpPr>
        <p:spPr>
          <a:xfrm>
            <a:off x="6236208" y="1600200"/>
            <a:ext cx="2523744" cy="2834640"/>
          </a:xfrm>
          <a:prstGeom prst="rect">
            <a:avLst/>
          </a:prstGeom>
          <a:noFill/>
          <a:ln/>
        </p:spPr>
        <p:txBody>
          <a:bodyPr wrap="square" lIns="0" tIns="0" rIns="0" bIns="0" rtlCol="0" anchor="ctr"/>
          <a:lstStyle/>
          <a:p>
            <a:pPr marL="0" indent="0">
              <a:buNone/>
            </a:pPr>
            <a:r>
              <a:rPr lang="en-US" sz="1150" dirty="0">
                <a:solidFill>
                  <a:srgbClr val="1C2B3A"/>
                </a:solidFill>
                <a:latin typeface="Calibri" pitchFamily="34" charset="0"/>
                <a:ea typeface="Calibri" pitchFamily="34" charset="-122"/>
                <a:cs typeface="Calibri" pitchFamily="34" charset="-120"/>
              </a:rPr>
              <a:t>Explainability is not optional in content moderation. Journalists, policymakers, and platform moderators require interpretable, accountable AI — not just a classification label.</a:t>
            </a:r>
            <a:endParaRPr lang="en-US" sz="1150" dirty="0"/>
          </a:p>
        </p:txBody>
      </p:sp>
      <p:sp>
        <p:nvSpPr>
          <p:cNvPr id="17" name="Text 15"/>
          <p:cNvSpPr/>
          <p:nvPr/>
        </p:nvSpPr>
        <p:spPr>
          <a:xfrm>
            <a:off x="365760" y="4663440"/>
            <a:ext cx="8412480" cy="256032"/>
          </a:xfrm>
          <a:prstGeom prst="rect">
            <a:avLst/>
          </a:prstGeom>
          <a:noFill/>
          <a:ln/>
        </p:spPr>
        <p:txBody>
          <a:bodyPr wrap="square" lIns="0" tIns="0" rIns="0" bIns="0" rtlCol="0" anchor="ctr"/>
          <a:lstStyle/>
          <a:p>
            <a:pPr marL="0" indent="0" algn="ctr">
              <a:buNone/>
            </a:pPr>
            <a:r>
              <a:rPr lang="en-US" sz="1100" i="1" dirty="0">
                <a:solidFill>
                  <a:srgbClr val="0E7C7B"/>
                </a:solidFill>
              </a:rPr>
              <a:t>This project addresses both the accuracy gap and the explainability deficit simultaneously.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Problem Background</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3 / 30</a:t>
            </a:r>
            <a:endParaRPr lang="en-US" sz="900" dirty="0"/>
          </a:p>
        </p:txBody>
      </p:sp>
      <p:sp>
        <p:nvSpPr>
          <p:cNvPr id="5" name="Shape 3"/>
          <p:cNvSpPr/>
          <p:nvPr/>
        </p:nvSpPr>
        <p:spPr>
          <a:xfrm>
            <a:off x="365760" y="960120"/>
            <a:ext cx="4114800" cy="3931920"/>
          </a:xfrm>
          <a:prstGeom prst="roundRect">
            <a:avLst>
              <a:gd name="adj" fmla="val 186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502920" y="1024128"/>
            <a:ext cx="3840480" cy="365760"/>
          </a:xfrm>
          <a:prstGeom prst="rect">
            <a:avLst/>
          </a:prstGeom>
          <a:noFill/>
          <a:ln/>
        </p:spPr>
        <p:txBody>
          <a:bodyPr wrap="square" lIns="0" tIns="0" rIns="0" bIns="0" rtlCol="0" anchor="ctr"/>
          <a:lstStyle/>
          <a:p>
            <a:pPr marL="0" indent="0">
              <a:buNone/>
            </a:pPr>
            <a:r>
              <a:rPr lang="en-US" sz="1400" b="1" dirty="0">
                <a:solidFill>
                  <a:srgbClr val="0E7C7B"/>
                </a:solidFill>
              </a:rPr>
              <a:t>Multimodal Fake News</a:t>
            </a:r>
            <a:endParaRPr lang="en-US" sz="1400" dirty="0"/>
          </a:p>
        </p:txBody>
      </p:sp>
      <p:sp>
        <p:nvSpPr>
          <p:cNvPr id="7" name="Text 5"/>
          <p:cNvSpPr/>
          <p:nvPr/>
        </p:nvSpPr>
        <p:spPr>
          <a:xfrm>
            <a:off x="502920" y="1463040"/>
            <a:ext cx="3840480" cy="32918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Fake news combines misleading TEXT headlines with supporting IMAGES to amplify credibility</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Reddit (Fakeddit) hosts 1M+ such posts spanning satire, propaganda &amp; fabricated content</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Binary signal: real vs fake requires both modalities to detect cross-modal inconsistency</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Median post title = 10 tokens — textual signal is short; image channel is critical</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CLIP similarity of fake posts (mean 0.300) is HIGHER than real posts (0.253) — counter-intuitive</a:t>
            </a:r>
            <a:endParaRPr lang="en-US" sz="1150" dirty="0"/>
          </a:p>
        </p:txBody>
      </p:sp>
      <p:sp>
        <p:nvSpPr>
          <p:cNvPr id="8" name="Shape 6"/>
          <p:cNvSpPr/>
          <p:nvPr/>
        </p:nvSpPr>
        <p:spPr>
          <a:xfrm>
            <a:off x="4663440" y="960120"/>
            <a:ext cx="4114800" cy="3931920"/>
          </a:xfrm>
          <a:prstGeom prst="roundRect">
            <a:avLst>
              <a:gd name="adj" fmla="val 186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9" name="Text 7"/>
          <p:cNvSpPr/>
          <p:nvPr/>
        </p:nvSpPr>
        <p:spPr>
          <a:xfrm>
            <a:off x="4800600" y="1024128"/>
            <a:ext cx="3840480" cy="365760"/>
          </a:xfrm>
          <a:prstGeom prst="rect">
            <a:avLst/>
          </a:prstGeom>
          <a:noFill/>
          <a:ln/>
        </p:spPr>
        <p:txBody>
          <a:bodyPr wrap="square" lIns="0" tIns="0" rIns="0" bIns="0" rtlCol="0" anchor="ctr"/>
          <a:lstStyle/>
          <a:p>
            <a:pPr marL="0" indent="0">
              <a:buNone/>
            </a:pPr>
            <a:r>
              <a:rPr lang="en-US" sz="1400" b="1" dirty="0">
                <a:solidFill>
                  <a:srgbClr val="E8871A"/>
                </a:solidFill>
              </a:rPr>
              <a:t>Why Existing Approaches Fall Short</a:t>
            </a:r>
            <a:endParaRPr lang="en-US" sz="1400" dirty="0"/>
          </a:p>
        </p:txBody>
      </p:sp>
      <p:sp>
        <p:nvSpPr>
          <p:cNvPr id="10" name="Text 8"/>
          <p:cNvSpPr/>
          <p:nvPr/>
        </p:nvSpPr>
        <p:spPr>
          <a:xfrm>
            <a:off x="4800600" y="1463040"/>
            <a:ext cx="3840480" cy="32918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Text-only: miss visual manipulation cues entirely</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Image-only: miss linguistic deception cues</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Simple concatenation: no cross-modal interaction modelling</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Cross-attention without gating: adds noise, hurts performance (−0.42 F1 vs concat)</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No XAI: black-box decisions unacceptable for content moderation at scale</a:t>
            </a:r>
            <a:endParaRPr lang="en-US" sz="1150" dirty="0"/>
          </a:p>
          <a:p>
            <a:pPr marL="342900" indent="-342900">
              <a:spcAft>
                <a:spcPts val="400"/>
              </a:spcAft>
              <a:buSzPct val="100000"/>
              <a:buChar char="•"/>
            </a:pPr>
            <a:r>
              <a:rPr lang="en-US" sz="1150" dirty="0">
                <a:solidFill>
                  <a:srgbClr val="1C2B3A"/>
                </a:solidFill>
                <a:latin typeface="Calibri" pitchFamily="34" charset="0"/>
                <a:ea typeface="Calibri" pitchFamily="34" charset="-122"/>
                <a:cs typeface="Calibri" pitchFamily="34" charset="-120"/>
              </a:rPr>
              <a:t>Prior CLIP detectors assume low similarity = manipulation — empirically wrong on Fakeddit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Problem Statement</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4 / 30</a:t>
            </a:r>
            <a:endParaRPr lang="en-US" sz="900" dirty="0"/>
          </a:p>
        </p:txBody>
      </p:sp>
      <p:sp>
        <p:nvSpPr>
          <p:cNvPr id="5" name="Shape 3"/>
          <p:cNvSpPr/>
          <p:nvPr/>
        </p:nvSpPr>
        <p:spPr>
          <a:xfrm>
            <a:off x="502920" y="960120"/>
            <a:ext cx="8138160" cy="1371600"/>
          </a:xfrm>
          <a:prstGeom prst="roundRect">
            <a:avLst>
              <a:gd name="adj" fmla="val 5333"/>
            </a:avLst>
          </a:prstGeom>
          <a:solidFill>
            <a:srgbClr val="122232"/>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685800" y="1024128"/>
            <a:ext cx="7772400" cy="1261872"/>
          </a:xfrm>
          <a:prstGeom prst="rect">
            <a:avLst/>
          </a:prstGeom>
          <a:noFill/>
          <a:ln/>
        </p:spPr>
        <p:txBody>
          <a:bodyPr wrap="square" lIns="0" tIns="0" rIns="0" bIns="0" rtlCol="0" anchor="ctr"/>
          <a:lstStyle/>
          <a:p>
            <a:pPr marL="0" indent="0" algn="ctr">
              <a:buNone/>
            </a:pPr>
            <a:r>
              <a:rPr lang="en-US" sz="1450" b="1" dirty="0">
                <a:solidFill>
                  <a:srgbClr val="17BEBB"/>
                </a:solidFill>
                <a:latin typeface="Cambria" pitchFamily="34" charset="0"/>
                <a:ea typeface="Cambria" pitchFamily="34" charset="-122"/>
                <a:cs typeface="Cambria" pitchFamily="34" charset="-120"/>
              </a:rPr>
              <a:t>How can a multimodal fake news detector simultaneously achieve competitive classification accuracy AND provide intrinsic, multi-granular explainability — under constrained academic computing resources?</a:t>
            </a:r>
            <a:endParaRPr lang="en-US" sz="1450" dirty="0"/>
          </a:p>
        </p:txBody>
      </p:sp>
      <p:sp>
        <p:nvSpPr>
          <p:cNvPr id="7" name="Shape 5"/>
          <p:cNvSpPr/>
          <p:nvPr/>
        </p:nvSpPr>
        <p:spPr>
          <a:xfrm>
            <a:off x="365760" y="2560320"/>
            <a:ext cx="4069080" cy="1051560"/>
          </a:xfrm>
          <a:prstGeom prst="roundRect">
            <a:avLst>
              <a:gd name="adj" fmla="val 6957"/>
            </a:avLst>
          </a:prstGeom>
          <a:solidFill>
            <a:srgbClr val="162B3A"/>
          </a:solidFill>
          <a:ln w="12700">
            <a:solidFill>
              <a:srgbClr val="DDEAEA"/>
            </a:solidFill>
            <a:prstDash val="solid"/>
          </a:ln>
          <a:effectLst>
            <a:outerShdw blurRad="101600" dist="38100" dir="2700000" algn="bl" rotWithShape="0">
              <a:srgbClr val="000000">
                <a:alpha val="13000"/>
              </a:srgbClr>
            </a:outerShdw>
          </a:effectLst>
        </p:spPr>
      </p:sp>
      <p:sp>
        <p:nvSpPr>
          <p:cNvPr id="8" name="Shape 6"/>
          <p:cNvSpPr/>
          <p:nvPr/>
        </p:nvSpPr>
        <p:spPr>
          <a:xfrm>
            <a:off x="365760" y="2560320"/>
            <a:ext cx="914400" cy="1051560"/>
          </a:xfrm>
          <a:prstGeom prst="roundRect">
            <a:avLst>
              <a:gd name="adj" fmla="val 8000"/>
            </a:avLst>
          </a:prstGeom>
          <a:solidFill>
            <a:srgbClr val="C0392B"/>
          </a:solidFill>
          <a:ln w="12700">
            <a:solidFill>
              <a:srgbClr val="C0392B"/>
            </a:solidFill>
            <a:prstDash val="solid"/>
          </a:ln>
        </p:spPr>
      </p:sp>
      <p:sp>
        <p:nvSpPr>
          <p:cNvPr id="9" name="Text 7"/>
          <p:cNvSpPr/>
          <p:nvPr/>
        </p:nvSpPr>
        <p:spPr>
          <a:xfrm>
            <a:off x="365760" y="2560320"/>
            <a:ext cx="914400" cy="1051560"/>
          </a:xfrm>
          <a:prstGeom prst="rect">
            <a:avLst/>
          </a:prstGeom>
          <a:noFill/>
          <a:ln/>
        </p:spPr>
        <p:txBody>
          <a:bodyPr wrap="square" lIns="0" tIns="0" rIns="0" bIns="0" rtlCol="0" anchor="ctr"/>
          <a:lstStyle/>
          <a:p>
            <a:pPr marL="0" indent="0" algn="ctr">
              <a:buNone/>
            </a:pPr>
            <a:r>
              <a:rPr lang="en-US" sz="1300" b="1" dirty="0">
                <a:solidFill>
                  <a:srgbClr val="FFFFFF"/>
                </a:solidFill>
              </a:rPr>
              <a:t>Gap 1</a:t>
            </a:r>
            <a:endParaRPr lang="en-US" sz="1300" dirty="0"/>
          </a:p>
        </p:txBody>
      </p:sp>
      <p:sp>
        <p:nvSpPr>
          <p:cNvPr id="10" name="Text 8"/>
          <p:cNvSpPr/>
          <p:nvPr/>
        </p:nvSpPr>
        <p:spPr>
          <a:xfrm>
            <a:off x="1371600" y="2633472"/>
            <a:ext cx="2971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Text-only models ignore cross-modal inconsistency</a:t>
            </a:r>
            <a:endParaRPr lang="en-US" sz="1200" dirty="0"/>
          </a:p>
        </p:txBody>
      </p:sp>
      <p:sp>
        <p:nvSpPr>
          <p:cNvPr id="11" name="Shape 9"/>
          <p:cNvSpPr/>
          <p:nvPr/>
        </p:nvSpPr>
        <p:spPr>
          <a:xfrm>
            <a:off x="365760" y="3730752"/>
            <a:ext cx="4069080" cy="1051560"/>
          </a:xfrm>
          <a:prstGeom prst="roundRect">
            <a:avLst>
              <a:gd name="adj" fmla="val 6957"/>
            </a:avLst>
          </a:prstGeom>
          <a:solidFill>
            <a:srgbClr val="162B3A"/>
          </a:solidFill>
          <a:ln w="12700">
            <a:solidFill>
              <a:srgbClr val="DDEAEA"/>
            </a:solidFill>
            <a:prstDash val="solid"/>
          </a:ln>
          <a:effectLst>
            <a:outerShdw blurRad="101600" dist="38100" dir="2700000" algn="bl" rotWithShape="0">
              <a:srgbClr val="000000">
                <a:alpha val="13000"/>
              </a:srgbClr>
            </a:outerShdw>
          </a:effectLst>
        </p:spPr>
      </p:sp>
      <p:sp>
        <p:nvSpPr>
          <p:cNvPr id="12" name="Shape 10"/>
          <p:cNvSpPr/>
          <p:nvPr/>
        </p:nvSpPr>
        <p:spPr>
          <a:xfrm>
            <a:off x="365760" y="3730752"/>
            <a:ext cx="914400" cy="1051560"/>
          </a:xfrm>
          <a:prstGeom prst="roundRect">
            <a:avLst>
              <a:gd name="adj" fmla="val 8000"/>
            </a:avLst>
          </a:prstGeom>
          <a:solidFill>
            <a:srgbClr val="E8871A"/>
          </a:solidFill>
          <a:ln w="12700">
            <a:solidFill>
              <a:srgbClr val="E8871A"/>
            </a:solidFill>
            <a:prstDash val="solid"/>
          </a:ln>
        </p:spPr>
      </p:sp>
      <p:sp>
        <p:nvSpPr>
          <p:cNvPr id="13" name="Text 11"/>
          <p:cNvSpPr/>
          <p:nvPr/>
        </p:nvSpPr>
        <p:spPr>
          <a:xfrm>
            <a:off x="365760" y="3730752"/>
            <a:ext cx="914400" cy="1051560"/>
          </a:xfrm>
          <a:prstGeom prst="rect">
            <a:avLst/>
          </a:prstGeom>
          <a:noFill/>
          <a:ln/>
        </p:spPr>
        <p:txBody>
          <a:bodyPr wrap="square" lIns="0" tIns="0" rIns="0" bIns="0" rtlCol="0" anchor="ctr"/>
          <a:lstStyle/>
          <a:p>
            <a:pPr marL="0" indent="0" algn="ctr">
              <a:buNone/>
            </a:pPr>
            <a:r>
              <a:rPr lang="en-US" sz="1300" b="1" dirty="0">
                <a:solidFill>
                  <a:srgbClr val="FFFFFF"/>
                </a:solidFill>
              </a:rPr>
              <a:t>Gap 2</a:t>
            </a:r>
            <a:endParaRPr lang="en-US" sz="1300" dirty="0"/>
          </a:p>
        </p:txBody>
      </p:sp>
      <p:sp>
        <p:nvSpPr>
          <p:cNvPr id="14" name="Text 12"/>
          <p:cNvSpPr/>
          <p:nvPr/>
        </p:nvSpPr>
        <p:spPr>
          <a:xfrm>
            <a:off x="1371600" y="3803904"/>
            <a:ext cx="2971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Multimodal models behave as opaque black-boxes</a:t>
            </a:r>
            <a:endParaRPr lang="en-US" sz="1200" dirty="0"/>
          </a:p>
        </p:txBody>
      </p:sp>
      <p:sp>
        <p:nvSpPr>
          <p:cNvPr id="15" name="Shape 13"/>
          <p:cNvSpPr/>
          <p:nvPr/>
        </p:nvSpPr>
        <p:spPr>
          <a:xfrm>
            <a:off x="4663440" y="2560320"/>
            <a:ext cx="4069080" cy="1051560"/>
          </a:xfrm>
          <a:prstGeom prst="roundRect">
            <a:avLst>
              <a:gd name="adj" fmla="val 6957"/>
            </a:avLst>
          </a:prstGeom>
          <a:solidFill>
            <a:srgbClr val="162B3A"/>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4663440" y="2560320"/>
            <a:ext cx="914400" cy="1051560"/>
          </a:xfrm>
          <a:prstGeom prst="roundRect">
            <a:avLst>
              <a:gd name="adj" fmla="val 8000"/>
            </a:avLst>
          </a:prstGeom>
          <a:solidFill>
            <a:srgbClr val="E6B800"/>
          </a:solidFill>
          <a:ln w="12700">
            <a:solidFill>
              <a:srgbClr val="E6B800"/>
            </a:solidFill>
            <a:prstDash val="solid"/>
          </a:ln>
        </p:spPr>
      </p:sp>
      <p:sp>
        <p:nvSpPr>
          <p:cNvPr id="17" name="Text 15"/>
          <p:cNvSpPr/>
          <p:nvPr/>
        </p:nvSpPr>
        <p:spPr>
          <a:xfrm>
            <a:off x="4663440" y="2560320"/>
            <a:ext cx="914400" cy="1051560"/>
          </a:xfrm>
          <a:prstGeom prst="rect">
            <a:avLst/>
          </a:prstGeom>
          <a:noFill/>
          <a:ln/>
        </p:spPr>
        <p:txBody>
          <a:bodyPr wrap="square" lIns="0" tIns="0" rIns="0" bIns="0" rtlCol="0" anchor="ctr"/>
          <a:lstStyle/>
          <a:p>
            <a:pPr marL="0" indent="0" algn="ctr">
              <a:buNone/>
            </a:pPr>
            <a:r>
              <a:rPr lang="en-US" sz="1300" b="1" dirty="0">
                <a:solidFill>
                  <a:srgbClr val="FFFFFF"/>
                </a:solidFill>
              </a:rPr>
              <a:t>Gap 3</a:t>
            </a:r>
            <a:endParaRPr lang="en-US" sz="1300" dirty="0"/>
          </a:p>
        </p:txBody>
      </p:sp>
      <p:sp>
        <p:nvSpPr>
          <p:cNvPr id="18" name="Text 16"/>
          <p:cNvSpPr/>
          <p:nvPr/>
        </p:nvSpPr>
        <p:spPr>
          <a:xfrm>
            <a:off x="5669280" y="2633472"/>
            <a:ext cx="2971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Gating strategies for CLIP similarity are under-explored</a:t>
            </a:r>
            <a:endParaRPr lang="en-US" sz="1200" dirty="0"/>
          </a:p>
        </p:txBody>
      </p:sp>
      <p:sp>
        <p:nvSpPr>
          <p:cNvPr id="19" name="Shape 17"/>
          <p:cNvSpPr/>
          <p:nvPr/>
        </p:nvSpPr>
        <p:spPr>
          <a:xfrm>
            <a:off x="4663440" y="3730752"/>
            <a:ext cx="4069080" cy="1051560"/>
          </a:xfrm>
          <a:prstGeom prst="roundRect">
            <a:avLst>
              <a:gd name="adj" fmla="val 6957"/>
            </a:avLst>
          </a:prstGeom>
          <a:solidFill>
            <a:srgbClr val="162B3A"/>
          </a:solidFill>
          <a:ln w="12700">
            <a:solidFill>
              <a:srgbClr val="DDEAEA"/>
            </a:solidFill>
            <a:prstDash val="solid"/>
          </a:ln>
          <a:effectLst>
            <a:outerShdw blurRad="101600" dist="38100" dir="2700000" algn="bl" rotWithShape="0">
              <a:srgbClr val="000000">
                <a:alpha val="13000"/>
              </a:srgbClr>
            </a:outerShdw>
          </a:effectLst>
        </p:spPr>
      </p:sp>
      <p:sp>
        <p:nvSpPr>
          <p:cNvPr id="20" name="Shape 18"/>
          <p:cNvSpPr/>
          <p:nvPr/>
        </p:nvSpPr>
        <p:spPr>
          <a:xfrm>
            <a:off x="4663440" y="3730752"/>
            <a:ext cx="914400" cy="1051560"/>
          </a:xfrm>
          <a:prstGeom prst="roundRect">
            <a:avLst>
              <a:gd name="adj" fmla="val 8000"/>
            </a:avLst>
          </a:prstGeom>
          <a:solidFill>
            <a:srgbClr val="0E7C7B"/>
          </a:solidFill>
          <a:ln w="12700">
            <a:solidFill>
              <a:srgbClr val="0E7C7B"/>
            </a:solidFill>
            <a:prstDash val="solid"/>
          </a:ln>
        </p:spPr>
      </p:sp>
      <p:sp>
        <p:nvSpPr>
          <p:cNvPr id="21" name="Text 19"/>
          <p:cNvSpPr/>
          <p:nvPr/>
        </p:nvSpPr>
        <p:spPr>
          <a:xfrm>
            <a:off x="4663440" y="3730752"/>
            <a:ext cx="914400" cy="1051560"/>
          </a:xfrm>
          <a:prstGeom prst="rect">
            <a:avLst/>
          </a:prstGeom>
          <a:noFill/>
          <a:ln/>
        </p:spPr>
        <p:txBody>
          <a:bodyPr wrap="square" lIns="0" tIns="0" rIns="0" bIns="0" rtlCol="0" anchor="ctr"/>
          <a:lstStyle/>
          <a:p>
            <a:pPr marL="0" indent="0" algn="ctr">
              <a:buNone/>
            </a:pPr>
            <a:r>
              <a:rPr lang="en-US" sz="1300" b="1" dirty="0">
                <a:solidFill>
                  <a:srgbClr val="FFFFFF"/>
                </a:solidFill>
              </a:rPr>
              <a:t>Gap 4</a:t>
            </a:r>
            <a:endParaRPr lang="en-US" sz="1300" dirty="0"/>
          </a:p>
        </p:txBody>
      </p:sp>
      <p:sp>
        <p:nvSpPr>
          <p:cNvPr id="22" name="Text 20"/>
          <p:cNvSpPr/>
          <p:nvPr/>
        </p:nvSpPr>
        <p:spPr>
          <a:xfrm>
            <a:off x="5669280" y="3803904"/>
            <a:ext cx="2971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Explainability and accuracy treated as competing objectives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Research Objectives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5 / 30</a:t>
            </a:r>
            <a:endParaRPr lang="en-US" sz="900" dirty="0"/>
          </a:p>
        </p:txBody>
      </p:sp>
      <p:sp>
        <p:nvSpPr>
          <p:cNvPr id="5" name="Shape 3"/>
          <p:cNvSpPr/>
          <p:nvPr/>
        </p:nvSpPr>
        <p:spPr>
          <a:xfrm>
            <a:off x="365760" y="960120"/>
            <a:ext cx="4069080" cy="1828800"/>
          </a:xfrm>
          <a:prstGeom prst="roundRect">
            <a:avLst>
              <a:gd name="adj" fmla="val 4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548640" y="1143000"/>
            <a:ext cx="502920" cy="502920"/>
          </a:xfrm>
          <a:prstGeom prst="ellipse">
            <a:avLst/>
          </a:prstGeom>
          <a:solidFill>
            <a:srgbClr val="0E7C7B"/>
          </a:solidFill>
          <a:ln w="12700">
            <a:solidFill>
              <a:srgbClr val="0E7C7B"/>
            </a:solidFill>
            <a:prstDash val="solid"/>
          </a:ln>
        </p:spPr>
      </p:sp>
      <p:sp>
        <p:nvSpPr>
          <p:cNvPr id="7" name="Text 5"/>
          <p:cNvSpPr/>
          <p:nvPr/>
        </p:nvSpPr>
        <p:spPr>
          <a:xfrm>
            <a:off x="548640" y="114300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rPr>
              <a:t>O1</a:t>
            </a:r>
            <a:endParaRPr lang="en-US" sz="1100" dirty="0"/>
          </a:p>
        </p:txBody>
      </p:sp>
      <p:sp>
        <p:nvSpPr>
          <p:cNvPr id="8" name="Text 6"/>
          <p:cNvSpPr/>
          <p:nvPr/>
        </p:nvSpPr>
        <p:spPr>
          <a:xfrm>
            <a:off x="1143000" y="1143000"/>
            <a:ext cx="3154680" cy="457200"/>
          </a:xfrm>
          <a:prstGeom prst="rect">
            <a:avLst/>
          </a:prstGeom>
          <a:noFill/>
          <a:ln/>
        </p:spPr>
        <p:txBody>
          <a:bodyPr wrap="square" lIns="0" tIns="0" rIns="0" bIns="0" rtlCol="0" anchor="ctr"/>
          <a:lstStyle/>
          <a:p>
            <a:pPr marL="0" indent="0">
              <a:buNone/>
            </a:pPr>
            <a:r>
              <a:rPr lang="en-US" sz="1200" b="1" dirty="0">
                <a:solidFill>
                  <a:srgbClr val="1C2B3A"/>
                </a:solidFill>
              </a:rPr>
              <a:t>Design CLIP-Gated Multimodal Fusion</a:t>
            </a:r>
            <a:endParaRPr lang="en-US" sz="1200" dirty="0"/>
          </a:p>
        </p:txBody>
      </p:sp>
      <p:sp>
        <p:nvSpPr>
          <p:cNvPr id="9" name="Text 7"/>
          <p:cNvSpPr/>
          <p:nvPr/>
        </p:nvSpPr>
        <p:spPr>
          <a:xfrm>
            <a:off x="548640" y="1673352"/>
            <a:ext cx="3749040" cy="100584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Develop a novel CLIP-similarity-gated cross-attention mechanism that dynamically blends image-attended and text representations using pre-computed cosine similarity α as a parameter-free gate.</a:t>
            </a:r>
            <a:endParaRPr lang="en-US" sz="1050" dirty="0"/>
          </a:p>
        </p:txBody>
      </p:sp>
      <p:sp>
        <p:nvSpPr>
          <p:cNvPr id="10" name="Shape 8"/>
          <p:cNvSpPr/>
          <p:nvPr/>
        </p:nvSpPr>
        <p:spPr>
          <a:xfrm>
            <a:off x="4663440" y="960120"/>
            <a:ext cx="4069080" cy="1828800"/>
          </a:xfrm>
          <a:prstGeom prst="roundRect">
            <a:avLst>
              <a:gd name="adj" fmla="val 4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4846320" y="1143000"/>
            <a:ext cx="502920" cy="502920"/>
          </a:xfrm>
          <a:prstGeom prst="ellipse">
            <a:avLst/>
          </a:prstGeom>
          <a:solidFill>
            <a:srgbClr val="E8871A"/>
          </a:solidFill>
          <a:ln w="12700">
            <a:solidFill>
              <a:srgbClr val="E8871A"/>
            </a:solidFill>
            <a:prstDash val="solid"/>
          </a:ln>
        </p:spPr>
      </p:sp>
      <p:sp>
        <p:nvSpPr>
          <p:cNvPr id="12" name="Text 10"/>
          <p:cNvSpPr/>
          <p:nvPr/>
        </p:nvSpPr>
        <p:spPr>
          <a:xfrm>
            <a:off x="4846320" y="114300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rPr>
              <a:t>O2</a:t>
            </a:r>
            <a:endParaRPr lang="en-US" sz="1100" dirty="0"/>
          </a:p>
        </p:txBody>
      </p:sp>
      <p:sp>
        <p:nvSpPr>
          <p:cNvPr id="13" name="Text 11"/>
          <p:cNvSpPr/>
          <p:nvPr/>
        </p:nvSpPr>
        <p:spPr>
          <a:xfrm>
            <a:off x="5440680" y="1143000"/>
            <a:ext cx="3154680" cy="457200"/>
          </a:xfrm>
          <a:prstGeom prst="rect">
            <a:avLst/>
          </a:prstGeom>
          <a:noFill/>
          <a:ln/>
        </p:spPr>
        <p:txBody>
          <a:bodyPr wrap="square" lIns="0" tIns="0" rIns="0" bIns="0" rtlCol="0" anchor="ctr"/>
          <a:lstStyle/>
          <a:p>
            <a:pPr marL="0" indent="0">
              <a:buNone/>
            </a:pPr>
            <a:r>
              <a:rPr lang="en-US" sz="1200" b="1" dirty="0">
                <a:solidFill>
                  <a:srgbClr val="1C2B3A"/>
                </a:solidFill>
              </a:rPr>
              <a:t>Achieve Competitive Classification Performance</a:t>
            </a:r>
            <a:endParaRPr lang="en-US" sz="1200" dirty="0"/>
          </a:p>
        </p:txBody>
      </p:sp>
      <p:sp>
        <p:nvSpPr>
          <p:cNvPr id="14" name="Text 12"/>
          <p:cNvSpPr/>
          <p:nvPr/>
        </p:nvSpPr>
        <p:spPr>
          <a:xfrm>
            <a:off x="4846320" y="1673352"/>
            <a:ext cx="3749040" cy="100584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Surpass unimodal baselines and concatenation fusion on F1, Accuracy, and AUC-ROC on the Fakeddit benchmark under T4 GPU academic resource constraints.</a:t>
            </a:r>
            <a:endParaRPr lang="en-US" sz="1050" dirty="0"/>
          </a:p>
        </p:txBody>
      </p:sp>
      <p:sp>
        <p:nvSpPr>
          <p:cNvPr id="15" name="Shape 13"/>
          <p:cNvSpPr/>
          <p:nvPr/>
        </p:nvSpPr>
        <p:spPr>
          <a:xfrm>
            <a:off x="365760" y="3017520"/>
            <a:ext cx="4069080" cy="1828800"/>
          </a:xfrm>
          <a:prstGeom prst="roundRect">
            <a:avLst>
              <a:gd name="adj" fmla="val 4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548640" y="3200400"/>
            <a:ext cx="502920" cy="502920"/>
          </a:xfrm>
          <a:prstGeom prst="ellipse">
            <a:avLst/>
          </a:prstGeom>
          <a:solidFill>
            <a:srgbClr val="1A7A4A"/>
          </a:solidFill>
          <a:ln w="12700">
            <a:solidFill>
              <a:srgbClr val="1A7A4A"/>
            </a:solidFill>
            <a:prstDash val="solid"/>
          </a:ln>
        </p:spPr>
      </p:sp>
      <p:sp>
        <p:nvSpPr>
          <p:cNvPr id="17" name="Text 15"/>
          <p:cNvSpPr/>
          <p:nvPr/>
        </p:nvSpPr>
        <p:spPr>
          <a:xfrm>
            <a:off x="548640" y="320040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rPr>
              <a:t>O3</a:t>
            </a:r>
            <a:endParaRPr lang="en-US" sz="1100" dirty="0"/>
          </a:p>
        </p:txBody>
      </p:sp>
      <p:sp>
        <p:nvSpPr>
          <p:cNvPr id="18" name="Text 16"/>
          <p:cNvSpPr/>
          <p:nvPr/>
        </p:nvSpPr>
        <p:spPr>
          <a:xfrm>
            <a:off x="1143000" y="3200400"/>
            <a:ext cx="3154680" cy="457200"/>
          </a:xfrm>
          <a:prstGeom prst="rect">
            <a:avLst/>
          </a:prstGeom>
          <a:noFill/>
          <a:ln/>
        </p:spPr>
        <p:txBody>
          <a:bodyPr wrap="square" lIns="0" tIns="0" rIns="0" bIns="0" rtlCol="0" anchor="ctr"/>
          <a:lstStyle/>
          <a:p>
            <a:pPr marL="0" indent="0">
              <a:buNone/>
            </a:pPr>
            <a:r>
              <a:rPr lang="en-US" sz="1200" b="1" dirty="0">
                <a:solidFill>
                  <a:srgbClr val="1C2B3A"/>
                </a:solidFill>
              </a:rPr>
              <a:t>Integrate Three-Level Explainability Framework</a:t>
            </a:r>
            <a:endParaRPr lang="en-US" sz="1200" dirty="0"/>
          </a:p>
        </p:txBody>
      </p:sp>
      <p:sp>
        <p:nvSpPr>
          <p:cNvPr id="19" name="Text 17"/>
          <p:cNvSpPr/>
          <p:nvPr/>
        </p:nvSpPr>
        <p:spPr>
          <a:xfrm>
            <a:off x="548640" y="3730752"/>
            <a:ext cx="3749040" cy="100584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Build intrinsic cross-attention heatmaps (Level 1), SHAP partition-based attribution (Level 2), and LIME local surrogate explanations (Level 3) into a single unified XAI pipeline.</a:t>
            </a:r>
            <a:endParaRPr lang="en-US" sz="1050" dirty="0"/>
          </a:p>
        </p:txBody>
      </p:sp>
      <p:sp>
        <p:nvSpPr>
          <p:cNvPr id="20" name="Shape 18"/>
          <p:cNvSpPr/>
          <p:nvPr/>
        </p:nvSpPr>
        <p:spPr>
          <a:xfrm>
            <a:off x="4663440" y="3017520"/>
            <a:ext cx="4069080" cy="1828800"/>
          </a:xfrm>
          <a:prstGeom prst="roundRect">
            <a:avLst>
              <a:gd name="adj" fmla="val 4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4846320" y="3200400"/>
            <a:ext cx="502920" cy="502920"/>
          </a:xfrm>
          <a:prstGeom prst="ellipse">
            <a:avLst/>
          </a:prstGeom>
          <a:solidFill>
            <a:srgbClr val="6D2E46"/>
          </a:solidFill>
          <a:ln w="12700">
            <a:solidFill>
              <a:srgbClr val="6D2E46"/>
            </a:solidFill>
            <a:prstDash val="solid"/>
          </a:ln>
        </p:spPr>
      </p:sp>
      <p:sp>
        <p:nvSpPr>
          <p:cNvPr id="22" name="Text 20"/>
          <p:cNvSpPr/>
          <p:nvPr/>
        </p:nvSpPr>
        <p:spPr>
          <a:xfrm>
            <a:off x="4846320" y="320040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rPr>
              <a:t>O4</a:t>
            </a:r>
            <a:endParaRPr lang="en-US" sz="1100" dirty="0"/>
          </a:p>
        </p:txBody>
      </p:sp>
      <p:sp>
        <p:nvSpPr>
          <p:cNvPr id="23" name="Text 21"/>
          <p:cNvSpPr/>
          <p:nvPr/>
        </p:nvSpPr>
        <p:spPr>
          <a:xfrm>
            <a:off x="5440680" y="3200400"/>
            <a:ext cx="3154680" cy="457200"/>
          </a:xfrm>
          <a:prstGeom prst="rect">
            <a:avLst/>
          </a:prstGeom>
          <a:noFill/>
          <a:ln/>
        </p:spPr>
        <p:txBody>
          <a:bodyPr wrap="square" lIns="0" tIns="0" rIns="0" bIns="0" rtlCol="0" anchor="ctr"/>
          <a:lstStyle/>
          <a:p>
            <a:pPr marL="0" indent="0">
              <a:buNone/>
            </a:pPr>
            <a:r>
              <a:rPr lang="en-US" sz="1200" b="1" dirty="0">
                <a:solidFill>
                  <a:srgbClr val="1C2B3A"/>
                </a:solidFill>
              </a:rPr>
              <a:t>Conduct Ablation &amp; Cross-Method Agreement Analysis</a:t>
            </a:r>
            <a:endParaRPr lang="en-US" sz="1200" dirty="0"/>
          </a:p>
        </p:txBody>
      </p:sp>
      <p:sp>
        <p:nvSpPr>
          <p:cNvPr id="24" name="Text 22"/>
          <p:cNvSpPr/>
          <p:nvPr/>
        </p:nvSpPr>
        <p:spPr>
          <a:xfrm>
            <a:off x="4846320" y="3730752"/>
            <a:ext cx="3749040" cy="100584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Isolate each architectural component's contribution via controlled ablation, and conduct conditional cross-method agreement analysis between SHAP and LIME.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Research Questions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6 / 30</a:t>
            </a:r>
            <a:endParaRPr lang="en-US" sz="900" dirty="0"/>
          </a:p>
        </p:txBody>
      </p:sp>
      <p:sp>
        <p:nvSpPr>
          <p:cNvPr id="5" name="Shape 3"/>
          <p:cNvSpPr/>
          <p:nvPr/>
        </p:nvSpPr>
        <p:spPr>
          <a:xfrm>
            <a:off x="365760" y="914400"/>
            <a:ext cx="8412480" cy="914400"/>
          </a:xfrm>
          <a:prstGeom prst="roundRect">
            <a:avLst>
              <a:gd name="adj" fmla="val 8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365760" y="914400"/>
            <a:ext cx="640080" cy="914400"/>
          </a:xfrm>
          <a:prstGeom prst="roundRect">
            <a:avLst>
              <a:gd name="adj" fmla="val 8571"/>
            </a:avLst>
          </a:prstGeom>
          <a:solidFill>
            <a:srgbClr val="0E7C7B"/>
          </a:solidFill>
          <a:ln w="12700">
            <a:solidFill>
              <a:srgbClr val="0E7C7B"/>
            </a:solidFill>
            <a:prstDash val="solid"/>
          </a:ln>
        </p:spPr>
      </p:sp>
      <p:sp>
        <p:nvSpPr>
          <p:cNvPr id="7" name="Text 5"/>
          <p:cNvSpPr/>
          <p:nvPr/>
        </p:nvSpPr>
        <p:spPr>
          <a:xfrm>
            <a:off x="365760" y="914400"/>
            <a:ext cx="640080" cy="914400"/>
          </a:xfrm>
          <a:prstGeom prst="rect">
            <a:avLst/>
          </a:prstGeom>
          <a:noFill/>
          <a:ln/>
        </p:spPr>
        <p:txBody>
          <a:bodyPr wrap="square" lIns="0" tIns="0" rIns="0" bIns="0" rtlCol="0" anchor="ctr"/>
          <a:lstStyle/>
          <a:p>
            <a:pPr marL="0" indent="0" algn="ctr">
              <a:buNone/>
            </a:pPr>
            <a:r>
              <a:rPr lang="en-US" sz="1100" b="1" dirty="0">
                <a:solidFill>
                  <a:srgbClr val="FFFFFF"/>
                </a:solidFill>
              </a:rPr>
              <a:t>RQ1</a:t>
            </a:r>
            <a:endParaRPr lang="en-US" sz="1100" dirty="0"/>
          </a:p>
        </p:txBody>
      </p:sp>
      <p:sp>
        <p:nvSpPr>
          <p:cNvPr id="8" name="Text 6"/>
          <p:cNvSpPr/>
          <p:nvPr/>
        </p:nvSpPr>
        <p:spPr>
          <a:xfrm>
            <a:off x="1078992" y="969264"/>
            <a:ext cx="4892040" cy="804672"/>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Does CLIP-similarity-gated cross-attention fusion outperform unimodal baselines and concatenation fusion for fake news detection on Fakeddit?</a:t>
            </a:r>
            <a:endParaRPr lang="en-US" sz="1050" dirty="0"/>
          </a:p>
        </p:txBody>
      </p:sp>
      <p:sp>
        <p:nvSpPr>
          <p:cNvPr id="9" name="Shape 7"/>
          <p:cNvSpPr/>
          <p:nvPr/>
        </p:nvSpPr>
        <p:spPr>
          <a:xfrm>
            <a:off x="6080760" y="914400"/>
            <a:ext cx="2651760" cy="914400"/>
          </a:xfrm>
          <a:prstGeom prst="roundRect">
            <a:avLst>
              <a:gd name="adj" fmla="val 6000"/>
            </a:avLst>
          </a:prstGeom>
          <a:solidFill>
            <a:srgbClr val="EAF4F4"/>
          </a:solidFill>
          <a:ln w="12700">
            <a:solidFill>
              <a:srgbClr val="AADDDA"/>
            </a:solidFill>
            <a:prstDash val="solid"/>
          </a:ln>
        </p:spPr>
      </p:sp>
      <p:sp>
        <p:nvSpPr>
          <p:cNvPr id="10" name="Text 8"/>
          <p:cNvSpPr/>
          <p:nvPr/>
        </p:nvSpPr>
        <p:spPr>
          <a:xfrm>
            <a:off x="6172200" y="969264"/>
            <a:ext cx="2468880" cy="201168"/>
          </a:xfrm>
          <a:prstGeom prst="rect">
            <a:avLst/>
          </a:prstGeom>
          <a:noFill/>
          <a:ln/>
        </p:spPr>
        <p:txBody>
          <a:bodyPr wrap="square" lIns="0" tIns="0" rIns="0" bIns="0" rtlCol="0" anchor="ctr"/>
          <a:lstStyle/>
          <a:p>
            <a:pPr marL="0" indent="0">
              <a:buNone/>
            </a:pPr>
            <a:r>
              <a:rPr lang="en-US" sz="900" b="1" dirty="0">
                <a:solidFill>
                  <a:srgbClr val="0E7C7B"/>
                </a:solidFill>
              </a:rPr>
              <a:t>Answered:</a:t>
            </a:r>
            <a:endParaRPr lang="en-US" sz="900" dirty="0"/>
          </a:p>
        </p:txBody>
      </p:sp>
      <p:sp>
        <p:nvSpPr>
          <p:cNvPr id="11" name="Text 9"/>
          <p:cNvSpPr/>
          <p:nvPr/>
        </p:nvSpPr>
        <p:spPr>
          <a:xfrm>
            <a:off x="6172200" y="1152144"/>
            <a:ext cx="2468880" cy="621792"/>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Yes — F1 0.8393 vs 0.8135 (image-only) and 0.8319 (concat). AUC 0.9122 — highest in the ablation matrix.</a:t>
            </a:r>
            <a:endParaRPr lang="en-US" sz="900" dirty="0"/>
          </a:p>
        </p:txBody>
      </p:sp>
      <p:sp>
        <p:nvSpPr>
          <p:cNvPr id="12" name="Shape 10"/>
          <p:cNvSpPr/>
          <p:nvPr/>
        </p:nvSpPr>
        <p:spPr>
          <a:xfrm>
            <a:off x="365760" y="1920240"/>
            <a:ext cx="8412480" cy="914400"/>
          </a:xfrm>
          <a:prstGeom prst="roundRect">
            <a:avLst>
              <a:gd name="adj" fmla="val 8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3" name="Shape 11"/>
          <p:cNvSpPr/>
          <p:nvPr/>
        </p:nvSpPr>
        <p:spPr>
          <a:xfrm>
            <a:off x="365760" y="1920240"/>
            <a:ext cx="640080" cy="914400"/>
          </a:xfrm>
          <a:prstGeom prst="roundRect">
            <a:avLst>
              <a:gd name="adj" fmla="val 8571"/>
            </a:avLst>
          </a:prstGeom>
          <a:solidFill>
            <a:srgbClr val="0E7C7B"/>
          </a:solidFill>
          <a:ln w="12700">
            <a:solidFill>
              <a:srgbClr val="0E7C7B"/>
            </a:solidFill>
            <a:prstDash val="solid"/>
          </a:ln>
        </p:spPr>
      </p:sp>
      <p:sp>
        <p:nvSpPr>
          <p:cNvPr id="14" name="Text 12"/>
          <p:cNvSpPr/>
          <p:nvPr/>
        </p:nvSpPr>
        <p:spPr>
          <a:xfrm>
            <a:off x="365760" y="1920240"/>
            <a:ext cx="640080" cy="914400"/>
          </a:xfrm>
          <a:prstGeom prst="rect">
            <a:avLst/>
          </a:prstGeom>
          <a:noFill/>
          <a:ln/>
        </p:spPr>
        <p:txBody>
          <a:bodyPr wrap="square" lIns="0" tIns="0" rIns="0" bIns="0" rtlCol="0" anchor="ctr"/>
          <a:lstStyle/>
          <a:p>
            <a:pPr marL="0" indent="0" algn="ctr">
              <a:buNone/>
            </a:pPr>
            <a:r>
              <a:rPr lang="en-US" sz="1100" b="1" dirty="0">
                <a:solidFill>
                  <a:srgbClr val="FFFFFF"/>
                </a:solidFill>
              </a:rPr>
              <a:t>RQ2</a:t>
            </a:r>
            <a:endParaRPr lang="en-US" sz="1100" dirty="0"/>
          </a:p>
        </p:txBody>
      </p:sp>
      <p:sp>
        <p:nvSpPr>
          <p:cNvPr id="15" name="Text 13"/>
          <p:cNvSpPr/>
          <p:nvPr/>
        </p:nvSpPr>
        <p:spPr>
          <a:xfrm>
            <a:off x="1078992" y="1975104"/>
            <a:ext cx="4892040" cy="804672"/>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Is the α-gate the decisive architectural component, or does cross-attention alone suffice?</a:t>
            </a:r>
            <a:endParaRPr lang="en-US" sz="1050" dirty="0"/>
          </a:p>
        </p:txBody>
      </p:sp>
      <p:sp>
        <p:nvSpPr>
          <p:cNvPr id="16" name="Shape 14"/>
          <p:cNvSpPr/>
          <p:nvPr/>
        </p:nvSpPr>
        <p:spPr>
          <a:xfrm>
            <a:off x="6080760" y="1920240"/>
            <a:ext cx="2651760" cy="914400"/>
          </a:xfrm>
          <a:prstGeom prst="roundRect">
            <a:avLst>
              <a:gd name="adj" fmla="val 6000"/>
            </a:avLst>
          </a:prstGeom>
          <a:solidFill>
            <a:srgbClr val="EAF4F4"/>
          </a:solidFill>
          <a:ln w="12700">
            <a:solidFill>
              <a:srgbClr val="AADDDA"/>
            </a:solidFill>
            <a:prstDash val="solid"/>
          </a:ln>
        </p:spPr>
      </p:sp>
      <p:sp>
        <p:nvSpPr>
          <p:cNvPr id="17" name="Text 15"/>
          <p:cNvSpPr/>
          <p:nvPr/>
        </p:nvSpPr>
        <p:spPr>
          <a:xfrm>
            <a:off x="6172200" y="1975104"/>
            <a:ext cx="2468880" cy="201168"/>
          </a:xfrm>
          <a:prstGeom prst="rect">
            <a:avLst/>
          </a:prstGeom>
          <a:noFill/>
          <a:ln/>
        </p:spPr>
        <p:txBody>
          <a:bodyPr wrap="square" lIns="0" tIns="0" rIns="0" bIns="0" rtlCol="0" anchor="ctr"/>
          <a:lstStyle/>
          <a:p>
            <a:pPr marL="0" indent="0">
              <a:buNone/>
            </a:pPr>
            <a:r>
              <a:rPr lang="en-US" sz="900" b="1" dirty="0">
                <a:solidFill>
                  <a:srgbClr val="0E7C7B"/>
                </a:solidFill>
              </a:rPr>
              <a:t>Answered:</a:t>
            </a:r>
            <a:endParaRPr lang="en-US" sz="900" dirty="0"/>
          </a:p>
        </p:txBody>
      </p:sp>
      <p:sp>
        <p:nvSpPr>
          <p:cNvPr id="18" name="Text 16"/>
          <p:cNvSpPr/>
          <p:nvPr/>
        </p:nvSpPr>
        <p:spPr>
          <a:xfrm>
            <a:off x="6172200" y="2157984"/>
            <a:ext cx="2468880" cy="621792"/>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Cross-attention alone HURTS (−0.42 F1 vs concat). Adding the α-gate recovers and extends the gain (+1.16 F1 vs α-feature). The gate is load-bearing.</a:t>
            </a:r>
            <a:endParaRPr lang="en-US" sz="900" dirty="0"/>
          </a:p>
        </p:txBody>
      </p:sp>
      <p:sp>
        <p:nvSpPr>
          <p:cNvPr id="19" name="Shape 17"/>
          <p:cNvSpPr/>
          <p:nvPr/>
        </p:nvSpPr>
        <p:spPr>
          <a:xfrm>
            <a:off x="365760" y="2926080"/>
            <a:ext cx="8412480" cy="914400"/>
          </a:xfrm>
          <a:prstGeom prst="roundRect">
            <a:avLst>
              <a:gd name="adj" fmla="val 8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0" name="Shape 18"/>
          <p:cNvSpPr/>
          <p:nvPr/>
        </p:nvSpPr>
        <p:spPr>
          <a:xfrm>
            <a:off x="365760" y="2926080"/>
            <a:ext cx="640080" cy="914400"/>
          </a:xfrm>
          <a:prstGeom prst="roundRect">
            <a:avLst>
              <a:gd name="adj" fmla="val 8571"/>
            </a:avLst>
          </a:prstGeom>
          <a:solidFill>
            <a:srgbClr val="0E7C7B"/>
          </a:solidFill>
          <a:ln w="12700">
            <a:solidFill>
              <a:srgbClr val="0E7C7B"/>
            </a:solidFill>
            <a:prstDash val="solid"/>
          </a:ln>
        </p:spPr>
      </p:sp>
      <p:sp>
        <p:nvSpPr>
          <p:cNvPr id="21" name="Text 19"/>
          <p:cNvSpPr/>
          <p:nvPr/>
        </p:nvSpPr>
        <p:spPr>
          <a:xfrm>
            <a:off x="365760" y="2926080"/>
            <a:ext cx="640080" cy="914400"/>
          </a:xfrm>
          <a:prstGeom prst="rect">
            <a:avLst/>
          </a:prstGeom>
          <a:noFill/>
          <a:ln/>
        </p:spPr>
        <p:txBody>
          <a:bodyPr wrap="square" lIns="0" tIns="0" rIns="0" bIns="0" rtlCol="0" anchor="ctr"/>
          <a:lstStyle/>
          <a:p>
            <a:pPr marL="0" indent="0" algn="ctr">
              <a:buNone/>
            </a:pPr>
            <a:r>
              <a:rPr lang="en-US" sz="1100" b="1" dirty="0">
                <a:solidFill>
                  <a:srgbClr val="FFFFFF"/>
                </a:solidFill>
              </a:rPr>
              <a:t>RQ3</a:t>
            </a:r>
            <a:endParaRPr lang="en-US" sz="1100" dirty="0"/>
          </a:p>
        </p:txBody>
      </p:sp>
      <p:sp>
        <p:nvSpPr>
          <p:cNvPr id="22" name="Text 20"/>
          <p:cNvSpPr/>
          <p:nvPr/>
        </p:nvSpPr>
        <p:spPr>
          <a:xfrm>
            <a:off x="1078992" y="2980944"/>
            <a:ext cx="4892040" cy="804672"/>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Can the three-level XAI framework provide complementary, methodologically independent explanations?</a:t>
            </a:r>
            <a:endParaRPr lang="en-US" sz="1050" dirty="0"/>
          </a:p>
        </p:txBody>
      </p:sp>
      <p:sp>
        <p:nvSpPr>
          <p:cNvPr id="23" name="Shape 21"/>
          <p:cNvSpPr/>
          <p:nvPr/>
        </p:nvSpPr>
        <p:spPr>
          <a:xfrm>
            <a:off x="6080760" y="2926080"/>
            <a:ext cx="2651760" cy="914400"/>
          </a:xfrm>
          <a:prstGeom prst="roundRect">
            <a:avLst>
              <a:gd name="adj" fmla="val 6000"/>
            </a:avLst>
          </a:prstGeom>
          <a:solidFill>
            <a:srgbClr val="EAF4F4"/>
          </a:solidFill>
          <a:ln w="12700">
            <a:solidFill>
              <a:srgbClr val="AADDDA"/>
            </a:solidFill>
            <a:prstDash val="solid"/>
          </a:ln>
        </p:spPr>
      </p:sp>
      <p:sp>
        <p:nvSpPr>
          <p:cNvPr id="24" name="Text 22"/>
          <p:cNvSpPr/>
          <p:nvPr/>
        </p:nvSpPr>
        <p:spPr>
          <a:xfrm>
            <a:off x="6172200" y="2980944"/>
            <a:ext cx="2468880" cy="201168"/>
          </a:xfrm>
          <a:prstGeom prst="rect">
            <a:avLst/>
          </a:prstGeom>
          <a:noFill/>
          <a:ln/>
        </p:spPr>
        <p:txBody>
          <a:bodyPr wrap="square" lIns="0" tIns="0" rIns="0" bIns="0" rtlCol="0" anchor="ctr"/>
          <a:lstStyle/>
          <a:p>
            <a:pPr marL="0" indent="0">
              <a:buNone/>
            </a:pPr>
            <a:r>
              <a:rPr lang="en-US" sz="900" b="1" dirty="0">
                <a:solidFill>
                  <a:srgbClr val="0E7C7B"/>
                </a:solidFill>
              </a:rPr>
              <a:t>Answered:</a:t>
            </a:r>
            <a:endParaRPr lang="en-US" sz="900" dirty="0"/>
          </a:p>
        </p:txBody>
      </p:sp>
      <p:sp>
        <p:nvSpPr>
          <p:cNvPr id="25" name="Text 23"/>
          <p:cNvSpPr/>
          <p:nvPr/>
        </p:nvSpPr>
        <p:spPr>
          <a:xfrm>
            <a:off x="6172200" y="3163824"/>
            <a:ext cx="2468880" cy="621792"/>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Yes — Level 1 (intrinsic attention), Level 2 (SHAP BPE), Level 3 (LIME whole-word) provide convergent evidence on rich titles and informative divergence on sparse ones.</a:t>
            </a:r>
            <a:endParaRPr lang="en-US" sz="900" dirty="0"/>
          </a:p>
        </p:txBody>
      </p:sp>
      <p:sp>
        <p:nvSpPr>
          <p:cNvPr id="26" name="Shape 24"/>
          <p:cNvSpPr/>
          <p:nvPr/>
        </p:nvSpPr>
        <p:spPr>
          <a:xfrm>
            <a:off x="365760" y="3931920"/>
            <a:ext cx="8412480" cy="914400"/>
          </a:xfrm>
          <a:prstGeom prst="roundRect">
            <a:avLst>
              <a:gd name="adj" fmla="val 8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7" name="Shape 25"/>
          <p:cNvSpPr/>
          <p:nvPr/>
        </p:nvSpPr>
        <p:spPr>
          <a:xfrm>
            <a:off x="365760" y="3931920"/>
            <a:ext cx="640080" cy="914400"/>
          </a:xfrm>
          <a:prstGeom prst="roundRect">
            <a:avLst>
              <a:gd name="adj" fmla="val 8571"/>
            </a:avLst>
          </a:prstGeom>
          <a:solidFill>
            <a:srgbClr val="0E7C7B"/>
          </a:solidFill>
          <a:ln w="12700">
            <a:solidFill>
              <a:srgbClr val="0E7C7B"/>
            </a:solidFill>
            <a:prstDash val="solid"/>
          </a:ln>
        </p:spPr>
      </p:sp>
      <p:sp>
        <p:nvSpPr>
          <p:cNvPr id="28" name="Text 26"/>
          <p:cNvSpPr/>
          <p:nvPr/>
        </p:nvSpPr>
        <p:spPr>
          <a:xfrm>
            <a:off x="365760" y="3931920"/>
            <a:ext cx="640080" cy="914400"/>
          </a:xfrm>
          <a:prstGeom prst="rect">
            <a:avLst/>
          </a:prstGeom>
          <a:noFill/>
          <a:ln/>
        </p:spPr>
        <p:txBody>
          <a:bodyPr wrap="square" lIns="0" tIns="0" rIns="0" bIns="0" rtlCol="0" anchor="ctr"/>
          <a:lstStyle/>
          <a:p>
            <a:pPr marL="0" indent="0" algn="ctr">
              <a:buNone/>
            </a:pPr>
            <a:r>
              <a:rPr lang="en-US" sz="1100" b="1" dirty="0">
                <a:solidFill>
                  <a:srgbClr val="FFFFFF"/>
                </a:solidFill>
              </a:rPr>
              <a:t>RQ4</a:t>
            </a:r>
            <a:endParaRPr lang="en-US" sz="1100" dirty="0"/>
          </a:p>
        </p:txBody>
      </p:sp>
      <p:sp>
        <p:nvSpPr>
          <p:cNvPr id="29" name="Text 27"/>
          <p:cNvSpPr/>
          <p:nvPr/>
        </p:nvSpPr>
        <p:spPr>
          <a:xfrm>
            <a:off x="1078992" y="3986784"/>
            <a:ext cx="4892040" cy="804672"/>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Does CLIP similarity behave as expected (lower α = fake) on the Fakeddit corpus?</a:t>
            </a:r>
            <a:endParaRPr lang="en-US" sz="1050" dirty="0"/>
          </a:p>
        </p:txBody>
      </p:sp>
      <p:sp>
        <p:nvSpPr>
          <p:cNvPr id="30" name="Shape 28"/>
          <p:cNvSpPr/>
          <p:nvPr/>
        </p:nvSpPr>
        <p:spPr>
          <a:xfrm>
            <a:off x="6080760" y="3931920"/>
            <a:ext cx="2651760" cy="914400"/>
          </a:xfrm>
          <a:prstGeom prst="roundRect">
            <a:avLst>
              <a:gd name="adj" fmla="val 6000"/>
            </a:avLst>
          </a:prstGeom>
          <a:solidFill>
            <a:srgbClr val="EAF4F4"/>
          </a:solidFill>
          <a:ln w="12700">
            <a:solidFill>
              <a:srgbClr val="AADDDA"/>
            </a:solidFill>
            <a:prstDash val="solid"/>
          </a:ln>
        </p:spPr>
      </p:sp>
      <p:sp>
        <p:nvSpPr>
          <p:cNvPr id="31" name="Text 29"/>
          <p:cNvSpPr/>
          <p:nvPr/>
        </p:nvSpPr>
        <p:spPr>
          <a:xfrm>
            <a:off x="6172200" y="3986784"/>
            <a:ext cx="2468880" cy="201168"/>
          </a:xfrm>
          <a:prstGeom prst="rect">
            <a:avLst/>
          </a:prstGeom>
          <a:noFill/>
          <a:ln/>
        </p:spPr>
        <p:txBody>
          <a:bodyPr wrap="square" lIns="0" tIns="0" rIns="0" bIns="0" rtlCol="0" anchor="ctr"/>
          <a:lstStyle/>
          <a:p>
            <a:pPr marL="0" indent="0">
              <a:buNone/>
            </a:pPr>
            <a:r>
              <a:rPr lang="en-US" sz="900" b="1" dirty="0">
                <a:solidFill>
                  <a:srgbClr val="0E7C7B"/>
                </a:solidFill>
              </a:rPr>
              <a:t>Answered:</a:t>
            </a:r>
            <a:endParaRPr lang="en-US" sz="900" dirty="0"/>
          </a:p>
        </p:txBody>
      </p:sp>
      <p:sp>
        <p:nvSpPr>
          <p:cNvPr id="32" name="Text 30"/>
          <p:cNvSpPr/>
          <p:nvPr/>
        </p:nvSpPr>
        <p:spPr>
          <a:xfrm>
            <a:off x="6172200" y="4169664"/>
            <a:ext cx="2468880" cy="621792"/>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Counterintuitively, NO — fake posts have HIGHER mean α (0.300 vs 0.253). Yet the gate succeeds as a learned soft-blend, not a hard threshold.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Literature Review Summary</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7 / 30</a:t>
            </a:r>
            <a:endParaRPr lang="en-US" sz="900" dirty="0"/>
          </a:p>
        </p:txBody>
      </p:sp>
      <p:sp>
        <p:nvSpPr>
          <p:cNvPr id="5" name="Shape 3"/>
          <p:cNvSpPr/>
          <p:nvPr/>
        </p:nvSpPr>
        <p:spPr>
          <a:xfrm>
            <a:off x="365760" y="960120"/>
            <a:ext cx="8412480" cy="868680"/>
          </a:xfrm>
          <a:prstGeom prst="roundRect">
            <a:avLst>
              <a:gd name="adj" fmla="val 842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365760" y="960120"/>
            <a:ext cx="2103120" cy="868680"/>
          </a:xfrm>
          <a:prstGeom prst="roundRect">
            <a:avLst>
              <a:gd name="adj" fmla="val 6316"/>
            </a:avLst>
          </a:prstGeom>
          <a:solidFill>
            <a:srgbClr val="E8871A"/>
          </a:solidFill>
          <a:ln w="12700">
            <a:solidFill>
              <a:srgbClr val="E8871A"/>
            </a:solidFill>
            <a:prstDash val="solid"/>
          </a:ln>
        </p:spPr>
      </p:sp>
      <p:sp>
        <p:nvSpPr>
          <p:cNvPr id="7" name="Text 5"/>
          <p:cNvSpPr/>
          <p:nvPr/>
        </p:nvSpPr>
        <p:spPr>
          <a:xfrm>
            <a:off x="411480" y="960120"/>
            <a:ext cx="2011680" cy="868680"/>
          </a:xfrm>
          <a:prstGeom prst="rect">
            <a:avLst/>
          </a:prstGeom>
          <a:noFill/>
          <a:ln/>
        </p:spPr>
        <p:txBody>
          <a:bodyPr wrap="square" lIns="0" tIns="0" rIns="0" bIns="0" rtlCol="0" anchor="ctr"/>
          <a:lstStyle/>
          <a:p>
            <a:pPr marL="0" indent="0" algn="ctr">
              <a:buNone/>
            </a:pPr>
            <a:r>
              <a:rPr lang="en-US" sz="1100" b="1" dirty="0">
                <a:solidFill>
                  <a:srgbClr val="FFFFFF"/>
                </a:solidFill>
              </a:rPr>
              <a:t>Text-Only Detectors</a:t>
            </a:r>
            <a:endParaRPr lang="en-US" sz="1100" dirty="0"/>
          </a:p>
        </p:txBody>
      </p:sp>
      <p:sp>
        <p:nvSpPr>
          <p:cNvPr id="8" name="Text 6"/>
          <p:cNvSpPr/>
          <p:nvPr/>
        </p:nvSpPr>
        <p:spPr>
          <a:xfrm>
            <a:off x="2578608" y="1051560"/>
            <a:ext cx="3291840" cy="34747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Examples: BERT, RoBERTa, BiLSTM, RAFAH, XFND</a:t>
            </a:r>
            <a:endParaRPr lang="en-US" sz="1000" dirty="0"/>
          </a:p>
        </p:txBody>
      </p:sp>
      <p:sp>
        <p:nvSpPr>
          <p:cNvPr id="9" name="Text 7"/>
          <p:cNvSpPr/>
          <p:nvPr/>
        </p:nvSpPr>
        <p:spPr>
          <a:xfrm>
            <a:off x="2578608" y="1417320"/>
            <a:ext cx="3291840" cy="347472"/>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Limitation: Blind to visual manipulation; miss cross-modal inconsistency</a:t>
            </a:r>
            <a:endParaRPr lang="en-US" sz="1000" dirty="0"/>
          </a:p>
        </p:txBody>
      </p:sp>
      <p:sp>
        <p:nvSpPr>
          <p:cNvPr id="10" name="Shape 8"/>
          <p:cNvSpPr/>
          <p:nvPr/>
        </p:nvSpPr>
        <p:spPr>
          <a:xfrm>
            <a:off x="6035040" y="960120"/>
            <a:ext cx="2651760" cy="868680"/>
          </a:xfrm>
          <a:prstGeom prst="roundRect">
            <a:avLst>
              <a:gd name="adj" fmla="val 6316"/>
            </a:avLst>
          </a:prstGeom>
          <a:solidFill>
            <a:srgbClr val="FFF4E6"/>
          </a:solidFill>
          <a:ln w="12700">
            <a:solidFill>
              <a:srgbClr val="F5CBA7"/>
            </a:solidFill>
            <a:prstDash val="solid"/>
          </a:ln>
        </p:spPr>
      </p:sp>
      <p:sp>
        <p:nvSpPr>
          <p:cNvPr id="11" name="Text 9"/>
          <p:cNvSpPr/>
          <p:nvPr/>
        </p:nvSpPr>
        <p:spPr>
          <a:xfrm>
            <a:off x="6108192" y="1234440"/>
            <a:ext cx="2505456" cy="347472"/>
          </a:xfrm>
          <a:prstGeom prst="rect">
            <a:avLst/>
          </a:prstGeom>
          <a:noFill/>
          <a:ln/>
        </p:spPr>
        <p:txBody>
          <a:bodyPr wrap="square" lIns="0" tIns="0" rIns="0" bIns="0" rtlCol="0" anchor="ctr"/>
          <a:lstStyle/>
          <a:p>
            <a:pPr marL="0" indent="0" algn="ctr">
              <a:buNone/>
            </a:pPr>
            <a:r>
              <a:rPr lang="en-US" sz="950" b="1" dirty="0">
                <a:solidFill>
                  <a:srgbClr val="E8871A"/>
                </a:solidFill>
              </a:rPr>
              <a:t>→ Gap addressed by HEMT-CLIP</a:t>
            </a:r>
            <a:endParaRPr lang="en-US" sz="950" dirty="0"/>
          </a:p>
        </p:txBody>
      </p:sp>
      <p:sp>
        <p:nvSpPr>
          <p:cNvPr id="12" name="Shape 10"/>
          <p:cNvSpPr/>
          <p:nvPr/>
        </p:nvSpPr>
        <p:spPr>
          <a:xfrm>
            <a:off x="365760" y="1920240"/>
            <a:ext cx="8412480" cy="868680"/>
          </a:xfrm>
          <a:prstGeom prst="roundRect">
            <a:avLst>
              <a:gd name="adj" fmla="val 842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3" name="Shape 11"/>
          <p:cNvSpPr/>
          <p:nvPr/>
        </p:nvSpPr>
        <p:spPr>
          <a:xfrm>
            <a:off x="365760" y="1920240"/>
            <a:ext cx="2103120" cy="868680"/>
          </a:xfrm>
          <a:prstGeom prst="roundRect">
            <a:avLst>
              <a:gd name="adj" fmla="val 6316"/>
            </a:avLst>
          </a:prstGeom>
          <a:solidFill>
            <a:srgbClr val="6D2E46"/>
          </a:solidFill>
          <a:ln w="12700">
            <a:solidFill>
              <a:srgbClr val="6D2E46"/>
            </a:solidFill>
            <a:prstDash val="solid"/>
          </a:ln>
        </p:spPr>
      </p:sp>
      <p:sp>
        <p:nvSpPr>
          <p:cNvPr id="14" name="Text 12"/>
          <p:cNvSpPr/>
          <p:nvPr/>
        </p:nvSpPr>
        <p:spPr>
          <a:xfrm>
            <a:off x="411480" y="1920240"/>
            <a:ext cx="2011680" cy="868680"/>
          </a:xfrm>
          <a:prstGeom prst="rect">
            <a:avLst/>
          </a:prstGeom>
          <a:noFill/>
          <a:ln/>
        </p:spPr>
        <p:txBody>
          <a:bodyPr wrap="square" lIns="0" tIns="0" rIns="0" bIns="0" rtlCol="0" anchor="ctr"/>
          <a:lstStyle/>
          <a:p>
            <a:pPr marL="0" indent="0" algn="ctr">
              <a:buNone/>
            </a:pPr>
            <a:r>
              <a:rPr lang="en-US" sz="1100" b="1" dirty="0">
                <a:solidFill>
                  <a:srgbClr val="FFFFFF"/>
                </a:solidFill>
              </a:rPr>
              <a:t>Image-Only / Simple Fusion</a:t>
            </a:r>
            <a:endParaRPr lang="en-US" sz="1100" dirty="0"/>
          </a:p>
        </p:txBody>
      </p:sp>
      <p:sp>
        <p:nvSpPr>
          <p:cNvPr id="15" name="Text 13"/>
          <p:cNvSpPr/>
          <p:nvPr/>
        </p:nvSpPr>
        <p:spPr>
          <a:xfrm>
            <a:off x="2578608" y="2011680"/>
            <a:ext cx="3291840" cy="34747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Examples: VGG16, ResNet, Concat fusion, FND-CLIP</a:t>
            </a:r>
            <a:endParaRPr lang="en-US" sz="1000" dirty="0"/>
          </a:p>
        </p:txBody>
      </p:sp>
      <p:sp>
        <p:nvSpPr>
          <p:cNvPr id="16" name="Text 14"/>
          <p:cNvSpPr/>
          <p:nvPr/>
        </p:nvSpPr>
        <p:spPr>
          <a:xfrm>
            <a:off x="2578608" y="2377440"/>
            <a:ext cx="3291840" cy="347472"/>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Limitation: No cross-modal interaction; simple concatenation ignores semantic tension</a:t>
            </a:r>
            <a:endParaRPr lang="en-US" sz="1000" dirty="0"/>
          </a:p>
        </p:txBody>
      </p:sp>
      <p:sp>
        <p:nvSpPr>
          <p:cNvPr id="17" name="Shape 15"/>
          <p:cNvSpPr/>
          <p:nvPr/>
        </p:nvSpPr>
        <p:spPr>
          <a:xfrm>
            <a:off x="6035040" y="1920240"/>
            <a:ext cx="2651760" cy="868680"/>
          </a:xfrm>
          <a:prstGeom prst="roundRect">
            <a:avLst>
              <a:gd name="adj" fmla="val 6316"/>
            </a:avLst>
          </a:prstGeom>
          <a:solidFill>
            <a:srgbClr val="FFF4E6"/>
          </a:solidFill>
          <a:ln w="12700">
            <a:solidFill>
              <a:srgbClr val="F5CBA7"/>
            </a:solidFill>
            <a:prstDash val="solid"/>
          </a:ln>
        </p:spPr>
      </p:sp>
      <p:sp>
        <p:nvSpPr>
          <p:cNvPr id="18" name="Text 16"/>
          <p:cNvSpPr/>
          <p:nvPr/>
        </p:nvSpPr>
        <p:spPr>
          <a:xfrm>
            <a:off x="6108192" y="2194560"/>
            <a:ext cx="2505456" cy="347472"/>
          </a:xfrm>
          <a:prstGeom prst="rect">
            <a:avLst/>
          </a:prstGeom>
          <a:noFill/>
          <a:ln/>
        </p:spPr>
        <p:txBody>
          <a:bodyPr wrap="square" lIns="0" tIns="0" rIns="0" bIns="0" rtlCol="0" anchor="ctr"/>
          <a:lstStyle/>
          <a:p>
            <a:pPr marL="0" indent="0" algn="ctr">
              <a:buNone/>
            </a:pPr>
            <a:r>
              <a:rPr lang="en-US" sz="950" b="1" dirty="0">
                <a:solidFill>
                  <a:srgbClr val="E8871A"/>
                </a:solidFill>
              </a:rPr>
              <a:t>→ Gap addressed by HEMT-CLIP</a:t>
            </a:r>
            <a:endParaRPr lang="en-US" sz="950" dirty="0"/>
          </a:p>
        </p:txBody>
      </p:sp>
      <p:sp>
        <p:nvSpPr>
          <p:cNvPr id="19" name="Shape 17"/>
          <p:cNvSpPr/>
          <p:nvPr/>
        </p:nvSpPr>
        <p:spPr>
          <a:xfrm>
            <a:off x="365760" y="2880360"/>
            <a:ext cx="8412480" cy="868680"/>
          </a:xfrm>
          <a:prstGeom prst="roundRect">
            <a:avLst>
              <a:gd name="adj" fmla="val 842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0" name="Shape 18"/>
          <p:cNvSpPr/>
          <p:nvPr/>
        </p:nvSpPr>
        <p:spPr>
          <a:xfrm>
            <a:off x="365760" y="2880360"/>
            <a:ext cx="2103120" cy="868680"/>
          </a:xfrm>
          <a:prstGeom prst="roundRect">
            <a:avLst>
              <a:gd name="adj" fmla="val 6316"/>
            </a:avLst>
          </a:prstGeom>
          <a:solidFill>
            <a:srgbClr val="0E7C7B"/>
          </a:solidFill>
          <a:ln w="12700">
            <a:solidFill>
              <a:srgbClr val="0E7C7B"/>
            </a:solidFill>
            <a:prstDash val="solid"/>
          </a:ln>
        </p:spPr>
      </p:sp>
      <p:sp>
        <p:nvSpPr>
          <p:cNvPr id="21" name="Text 19"/>
          <p:cNvSpPr/>
          <p:nvPr/>
        </p:nvSpPr>
        <p:spPr>
          <a:xfrm>
            <a:off x="411480" y="2880360"/>
            <a:ext cx="2011680" cy="868680"/>
          </a:xfrm>
          <a:prstGeom prst="rect">
            <a:avLst/>
          </a:prstGeom>
          <a:noFill/>
          <a:ln/>
        </p:spPr>
        <p:txBody>
          <a:bodyPr wrap="square" lIns="0" tIns="0" rIns="0" bIns="0" rtlCol="0" anchor="ctr"/>
          <a:lstStyle/>
          <a:p>
            <a:pPr marL="0" indent="0" algn="ctr">
              <a:buNone/>
            </a:pPr>
            <a:r>
              <a:rPr lang="en-US" sz="1100" b="1" dirty="0">
                <a:solidFill>
                  <a:srgbClr val="FFFFFF"/>
                </a:solidFill>
              </a:rPr>
              <a:t>Advanced Multimodal</a:t>
            </a:r>
            <a:endParaRPr lang="en-US" sz="1100" dirty="0"/>
          </a:p>
        </p:txBody>
      </p:sp>
      <p:sp>
        <p:nvSpPr>
          <p:cNvPr id="22" name="Text 20"/>
          <p:cNvSpPr/>
          <p:nvPr/>
        </p:nvSpPr>
        <p:spPr>
          <a:xfrm>
            <a:off x="2578608" y="2971800"/>
            <a:ext cx="3291840" cy="34747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Examples: BC-FND (CLIP+BERT), FMC, FND-MC, FACTCLIP, Tri-FusionDet</a:t>
            </a:r>
            <a:endParaRPr lang="en-US" sz="1000" dirty="0"/>
          </a:p>
        </p:txBody>
      </p:sp>
      <p:sp>
        <p:nvSpPr>
          <p:cNvPr id="23" name="Text 21"/>
          <p:cNvSpPr/>
          <p:nvPr/>
        </p:nvSpPr>
        <p:spPr>
          <a:xfrm>
            <a:off x="2578608" y="3337560"/>
            <a:ext cx="3291840" cy="347472"/>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Limitation: Black-box fusion; no XAI; domain-limited; computationally heavy</a:t>
            </a:r>
            <a:endParaRPr lang="en-US" sz="1000" dirty="0"/>
          </a:p>
        </p:txBody>
      </p:sp>
      <p:sp>
        <p:nvSpPr>
          <p:cNvPr id="24" name="Shape 22"/>
          <p:cNvSpPr/>
          <p:nvPr/>
        </p:nvSpPr>
        <p:spPr>
          <a:xfrm>
            <a:off x="6035040" y="2880360"/>
            <a:ext cx="2651760" cy="868680"/>
          </a:xfrm>
          <a:prstGeom prst="roundRect">
            <a:avLst>
              <a:gd name="adj" fmla="val 6316"/>
            </a:avLst>
          </a:prstGeom>
          <a:solidFill>
            <a:srgbClr val="FFF4E6"/>
          </a:solidFill>
          <a:ln w="12700">
            <a:solidFill>
              <a:srgbClr val="F5CBA7"/>
            </a:solidFill>
            <a:prstDash val="solid"/>
          </a:ln>
        </p:spPr>
      </p:sp>
      <p:sp>
        <p:nvSpPr>
          <p:cNvPr id="25" name="Text 23"/>
          <p:cNvSpPr/>
          <p:nvPr/>
        </p:nvSpPr>
        <p:spPr>
          <a:xfrm>
            <a:off x="6108192" y="3154680"/>
            <a:ext cx="2505456" cy="347472"/>
          </a:xfrm>
          <a:prstGeom prst="rect">
            <a:avLst/>
          </a:prstGeom>
          <a:noFill/>
          <a:ln/>
        </p:spPr>
        <p:txBody>
          <a:bodyPr wrap="square" lIns="0" tIns="0" rIns="0" bIns="0" rtlCol="0" anchor="ctr"/>
          <a:lstStyle/>
          <a:p>
            <a:pPr marL="0" indent="0" algn="ctr">
              <a:buNone/>
            </a:pPr>
            <a:r>
              <a:rPr lang="en-US" sz="950" b="1" dirty="0">
                <a:solidFill>
                  <a:srgbClr val="E8871A"/>
                </a:solidFill>
              </a:rPr>
              <a:t>→ Gap addressed by HEMT-CLIP</a:t>
            </a:r>
            <a:endParaRPr lang="en-US" sz="950" dirty="0"/>
          </a:p>
        </p:txBody>
      </p:sp>
      <p:sp>
        <p:nvSpPr>
          <p:cNvPr id="26" name="Shape 24"/>
          <p:cNvSpPr/>
          <p:nvPr/>
        </p:nvSpPr>
        <p:spPr>
          <a:xfrm>
            <a:off x="365760" y="3840480"/>
            <a:ext cx="8412480" cy="868680"/>
          </a:xfrm>
          <a:prstGeom prst="roundRect">
            <a:avLst>
              <a:gd name="adj" fmla="val 842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7" name="Shape 25"/>
          <p:cNvSpPr/>
          <p:nvPr/>
        </p:nvSpPr>
        <p:spPr>
          <a:xfrm>
            <a:off x="365760" y="3840480"/>
            <a:ext cx="2103120" cy="868680"/>
          </a:xfrm>
          <a:prstGeom prst="roundRect">
            <a:avLst>
              <a:gd name="adj" fmla="val 6316"/>
            </a:avLst>
          </a:prstGeom>
          <a:solidFill>
            <a:srgbClr val="1A7A4A"/>
          </a:solidFill>
          <a:ln w="12700">
            <a:solidFill>
              <a:srgbClr val="1A7A4A"/>
            </a:solidFill>
            <a:prstDash val="solid"/>
          </a:ln>
        </p:spPr>
      </p:sp>
      <p:sp>
        <p:nvSpPr>
          <p:cNvPr id="28" name="Text 26"/>
          <p:cNvSpPr/>
          <p:nvPr/>
        </p:nvSpPr>
        <p:spPr>
          <a:xfrm>
            <a:off x="411480" y="3840480"/>
            <a:ext cx="2011680" cy="868680"/>
          </a:xfrm>
          <a:prstGeom prst="rect">
            <a:avLst/>
          </a:prstGeom>
          <a:noFill/>
          <a:ln/>
        </p:spPr>
        <p:txBody>
          <a:bodyPr wrap="square" lIns="0" tIns="0" rIns="0" bIns="0" rtlCol="0" anchor="ctr"/>
          <a:lstStyle/>
          <a:p>
            <a:pPr marL="0" indent="0" algn="ctr">
              <a:buNone/>
            </a:pPr>
            <a:r>
              <a:rPr lang="en-US" sz="1100" b="1" dirty="0">
                <a:solidFill>
                  <a:srgbClr val="FFFFFF"/>
                </a:solidFill>
              </a:rPr>
              <a:t>Explainable FND Systems</a:t>
            </a:r>
            <a:endParaRPr lang="en-US" sz="1100" dirty="0"/>
          </a:p>
        </p:txBody>
      </p:sp>
      <p:sp>
        <p:nvSpPr>
          <p:cNvPr id="29" name="Text 27"/>
          <p:cNvSpPr/>
          <p:nvPr/>
        </p:nvSpPr>
        <p:spPr>
          <a:xfrm>
            <a:off x="2578608" y="3931920"/>
            <a:ext cx="3291840" cy="34747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Examples: dEFEND (Attn), HEMT-Fake (SHAP+LIME), TELLER (neuro-symbolic)</a:t>
            </a:r>
            <a:endParaRPr lang="en-US" sz="1000" dirty="0"/>
          </a:p>
        </p:txBody>
      </p:sp>
      <p:sp>
        <p:nvSpPr>
          <p:cNvPr id="30" name="Text 28"/>
          <p:cNvSpPr/>
          <p:nvPr/>
        </p:nvSpPr>
        <p:spPr>
          <a:xfrm>
            <a:off x="2578608" y="4297680"/>
            <a:ext cx="3291840" cy="347472"/>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Limitation: XAI is post-hoc or language-only; image-side explanations absent; high latency</a:t>
            </a:r>
            <a:endParaRPr lang="en-US" sz="1000" dirty="0"/>
          </a:p>
        </p:txBody>
      </p:sp>
      <p:sp>
        <p:nvSpPr>
          <p:cNvPr id="31" name="Shape 29"/>
          <p:cNvSpPr/>
          <p:nvPr/>
        </p:nvSpPr>
        <p:spPr>
          <a:xfrm>
            <a:off x="6035040" y="3840480"/>
            <a:ext cx="2651760" cy="868680"/>
          </a:xfrm>
          <a:prstGeom prst="roundRect">
            <a:avLst>
              <a:gd name="adj" fmla="val 6316"/>
            </a:avLst>
          </a:prstGeom>
          <a:solidFill>
            <a:srgbClr val="FFF4E6"/>
          </a:solidFill>
          <a:ln w="12700">
            <a:solidFill>
              <a:srgbClr val="F5CBA7"/>
            </a:solidFill>
            <a:prstDash val="solid"/>
          </a:ln>
        </p:spPr>
      </p:sp>
      <p:sp>
        <p:nvSpPr>
          <p:cNvPr id="32" name="Text 30"/>
          <p:cNvSpPr/>
          <p:nvPr/>
        </p:nvSpPr>
        <p:spPr>
          <a:xfrm>
            <a:off x="6108192" y="4114800"/>
            <a:ext cx="2505456" cy="347472"/>
          </a:xfrm>
          <a:prstGeom prst="rect">
            <a:avLst/>
          </a:prstGeom>
          <a:noFill/>
          <a:ln/>
        </p:spPr>
        <p:txBody>
          <a:bodyPr wrap="square" lIns="0" tIns="0" rIns="0" bIns="0" rtlCol="0" anchor="ctr"/>
          <a:lstStyle/>
          <a:p>
            <a:pPr marL="0" indent="0" algn="ctr">
              <a:buNone/>
            </a:pPr>
            <a:r>
              <a:rPr lang="en-US" sz="950" b="1" dirty="0">
                <a:solidFill>
                  <a:srgbClr val="E8871A"/>
                </a:solidFill>
              </a:rPr>
              <a:t>→ Gap addressed by HEMT-CLIP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Literature Comparison Table (Selected)</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8 / 30</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397764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512064">
                <a:tc>
                  <a:txBody>
                    <a:bodyPr/>
                    <a:lstStyle/>
                    <a:p>
                      <a:pPr marL="0" indent="0">
                        <a:buNone/>
                      </a:pPr>
                      <a:r>
                        <a:rPr lang="en-US" sz="900" b="1" dirty="0">
                          <a:solidFill>
                            <a:srgbClr val="FFFFFF"/>
                          </a:solidFill>
                        </a:rPr>
                        <a:t>System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Modality</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Dataset</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Best F1 / Acc</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XAI</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Key Gap</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512064">
                <a:tc>
                  <a:txBody>
                    <a:bodyPr/>
                    <a:lstStyle/>
                    <a:p>
                      <a:pPr marL="0" indent="0">
                        <a:buNone/>
                      </a:pPr>
                      <a:r>
                        <a:rPr lang="en-US" sz="850" dirty="0">
                          <a:solidFill>
                            <a:srgbClr val="1C2B3A"/>
                          </a:solidFill>
                        </a:rPr>
                        <a:t>dEFEND [1]</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Text+Social</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PolitiFact/GossipCop</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+5% F1</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Attention</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Text-only, no image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extLst>
                  <a:ext uri="{0D108BD9-81ED-4DB2-BD59-A6C34878D82A}">
                    <a16:rowId xmlns:a16="http://schemas.microsoft.com/office/drawing/2014/main" val="10001"/>
                  </a:ext>
                </a:extLst>
              </a:tr>
              <a:tr h="512064">
                <a:tc>
                  <a:txBody>
                    <a:bodyPr/>
                    <a:lstStyle/>
                    <a:p>
                      <a:pPr marL="0" indent="0">
                        <a:buNone/>
                      </a:pPr>
                      <a:r>
                        <a:rPr lang="en-US" sz="850" dirty="0">
                          <a:solidFill>
                            <a:srgbClr val="1C2B3A"/>
                          </a:solidFill>
                        </a:rPr>
                        <a:t>FND-CLIP [3]</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Text+Image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Weibo/PolitiFact</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+6.8% Acc</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None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Black-box, no XAI</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850" dirty="0">
                          <a:solidFill>
                            <a:srgbClr val="1C2B3A"/>
                          </a:solidFill>
                        </a:rPr>
                        <a:t>Tri-FusionDet [10]</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T+I+Social</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Fakeddit (682k)</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94% Acc</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None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Late fusion, no XAI</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extLst>
                  <a:ext uri="{0D108BD9-81ED-4DB2-BD59-A6C34878D82A}">
                    <a16:rowId xmlns:a16="http://schemas.microsoft.com/office/drawing/2014/main" val="10003"/>
                  </a:ext>
                </a:extLst>
              </a:tr>
              <a:tr h="512064">
                <a:tc>
                  <a:txBody>
                    <a:bodyPr/>
                    <a:lstStyle/>
                    <a:p>
                      <a:pPr marL="0" indent="0">
                        <a:buNone/>
                      </a:pPr>
                      <a:r>
                        <a:rPr lang="en-US" sz="850" dirty="0">
                          <a:solidFill>
                            <a:srgbClr val="1C2B3A"/>
                          </a:solidFill>
                        </a:rPr>
                        <a:t>BC-FND [11]</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Text+Image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Weibo16/23</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94.2% Acc</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None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Temporal shift drop</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850" dirty="0">
                          <a:solidFill>
                            <a:srgbClr val="1C2B3A"/>
                          </a:solidFill>
                        </a:rPr>
                        <a:t>HEMT-Fake [35]</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T+I+Graph</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Indic (74k)</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+5% Macro-F1</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SHAP+LIME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850" dirty="0">
                          <a:solidFill>
                            <a:srgbClr val="1C2B3A"/>
                          </a:solidFill>
                        </a:rPr>
                        <a:t>140ms latency, India-only</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extLst>
                  <a:ext uri="{0D108BD9-81ED-4DB2-BD59-A6C34878D82A}">
                    <a16:rowId xmlns:a16="http://schemas.microsoft.com/office/drawing/2014/main" val="10005"/>
                  </a:ext>
                </a:extLst>
              </a:tr>
              <a:tr h="512064">
                <a:tc>
                  <a:txBody>
                    <a:bodyPr/>
                    <a:lstStyle/>
                    <a:p>
                      <a:pPr marL="0" indent="0">
                        <a:buNone/>
                      </a:pPr>
                      <a:r>
                        <a:rPr lang="en-US" sz="850" dirty="0">
                          <a:solidFill>
                            <a:srgbClr val="1C2B3A"/>
                          </a:solidFill>
                        </a:rPr>
                        <a:t>XFND [29]</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Text-only</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Fake&amp;Real News</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98% Acc</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LIME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850" dirty="0">
                          <a:solidFill>
                            <a:srgbClr val="1C2B3A"/>
                          </a:solidFill>
                        </a:rPr>
                        <a:t>No image modality</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850" b="1" dirty="0">
                          <a:solidFill>
                            <a:srgbClr val="FFFFFF"/>
                          </a:solidFill>
                        </a:rPr>
                        <a:t>HEMT-CLIP (Ours)</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850" b="1" dirty="0">
                          <a:solidFill>
                            <a:srgbClr val="FFFFFF"/>
                          </a:solidFill>
                        </a:rPr>
                        <a:t>Text+Image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850" b="1" dirty="0">
                          <a:solidFill>
                            <a:srgbClr val="FFFFFF"/>
                          </a:solidFill>
                        </a:rPr>
                        <a:t>Fakeddit (17k)</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850" b="1" dirty="0">
                          <a:solidFill>
                            <a:srgbClr val="FFFFFF"/>
                          </a:solidFill>
                        </a:rPr>
                        <a:t>F1 0.839 / AUC 0.912</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850" b="1" dirty="0">
                          <a:solidFill>
                            <a:srgbClr val="FFFFFF"/>
                          </a:solidFill>
                        </a:rPr>
                        <a:t>Attn+SHAP+LIME</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850" b="1" dirty="0">
                          <a:solidFill>
                            <a:srgbClr val="FFFFFF"/>
                          </a:solidFill>
                        </a:rPr>
                        <a:t>Resource-constrained</a:t>
                      </a:r>
                      <a:endParaRPr lang="en-US" sz="85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Research Gap</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9 / 30</a:t>
            </a:r>
            <a:endParaRPr lang="en-US" sz="900" dirty="0"/>
          </a:p>
        </p:txBody>
      </p:sp>
      <p:sp>
        <p:nvSpPr>
          <p:cNvPr id="5" name="Shape 3"/>
          <p:cNvSpPr/>
          <p:nvPr/>
        </p:nvSpPr>
        <p:spPr>
          <a:xfrm>
            <a:off x="365760" y="960120"/>
            <a:ext cx="4069080" cy="1783080"/>
          </a:xfrm>
          <a:prstGeom prst="roundRect">
            <a:avLst>
              <a:gd name="adj" fmla="val 4103"/>
            </a:avLst>
          </a:prstGeom>
          <a:solidFill>
            <a:srgbClr val="122232"/>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502920" y="1051560"/>
            <a:ext cx="3749040" cy="411480"/>
          </a:xfrm>
          <a:prstGeom prst="rect">
            <a:avLst/>
          </a:prstGeom>
          <a:noFill/>
          <a:ln/>
        </p:spPr>
        <p:txBody>
          <a:bodyPr wrap="square" lIns="0" tIns="0" rIns="0" bIns="0" rtlCol="0" anchor="ctr"/>
          <a:lstStyle/>
          <a:p>
            <a:pPr marL="0" indent="0">
              <a:buNone/>
            </a:pPr>
            <a:r>
              <a:rPr lang="en-US" sz="1200" b="1" dirty="0">
                <a:solidFill>
                  <a:srgbClr val="17BEBB"/>
                </a:solidFill>
              </a:rPr>
              <a:t>🖼  No Intrinsic Image-Side XAI</a:t>
            </a:r>
            <a:endParaRPr lang="en-US" sz="1200" dirty="0"/>
          </a:p>
        </p:txBody>
      </p:sp>
      <p:sp>
        <p:nvSpPr>
          <p:cNvPr id="7" name="Text 5"/>
          <p:cNvSpPr/>
          <p:nvPr/>
        </p:nvSpPr>
        <p:spPr>
          <a:xfrm>
            <a:off x="502920" y="1490472"/>
            <a:ext cx="3749040" cy="11430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Concatenation-based fusion architecturally CANNOT produce spatial image heatmaps. Cross-attention fusing text as Query over image patches is the only architecture that enables this intrinsically — without additional models or post-hoc probes.</a:t>
            </a:r>
            <a:endParaRPr lang="en-US" sz="1050" dirty="0"/>
          </a:p>
        </p:txBody>
      </p:sp>
      <p:sp>
        <p:nvSpPr>
          <p:cNvPr id="8" name="Shape 6"/>
          <p:cNvSpPr/>
          <p:nvPr/>
        </p:nvSpPr>
        <p:spPr>
          <a:xfrm>
            <a:off x="4663440" y="960120"/>
            <a:ext cx="4069080" cy="1783080"/>
          </a:xfrm>
          <a:prstGeom prst="roundRect">
            <a:avLst>
              <a:gd name="adj" fmla="val 4103"/>
            </a:avLst>
          </a:prstGeom>
          <a:solidFill>
            <a:srgbClr val="122232"/>
          </a:solidFill>
          <a:ln w="12700">
            <a:solidFill>
              <a:srgbClr val="DDEAEA"/>
            </a:solidFill>
            <a:prstDash val="solid"/>
          </a:ln>
          <a:effectLst>
            <a:outerShdw blurRad="101600" dist="38100" dir="2700000" algn="bl" rotWithShape="0">
              <a:srgbClr val="000000">
                <a:alpha val="13000"/>
              </a:srgbClr>
            </a:outerShdw>
          </a:effectLst>
        </p:spPr>
      </p:sp>
      <p:sp>
        <p:nvSpPr>
          <p:cNvPr id="9" name="Text 7"/>
          <p:cNvSpPr/>
          <p:nvPr/>
        </p:nvSpPr>
        <p:spPr>
          <a:xfrm>
            <a:off x="4800600" y="1051560"/>
            <a:ext cx="3749040" cy="411480"/>
          </a:xfrm>
          <a:prstGeom prst="rect">
            <a:avLst/>
          </a:prstGeom>
          <a:noFill/>
          <a:ln/>
        </p:spPr>
        <p:txBody>
          <a:bodyPr wrap="square" lIns="0" tIns="0" rIns="0" bIns="0" rtlCol="0" anchor="ctr"/>
          <a:lstStyle/>
          <a:p>
            <a:pPr marL="0" indent="0">
              <a:buNone/>
            </a:pPr>
            <a:r>
              <a:rPr lang="en-US" sz="1200" b="1" dirty="0">
                <a:solidFill>
                  <a:srgbClr val="17BEBB"/>
                </a:solidFill>
              </a:rPr>
              <a:t>⚙  CLIP Similarity Gate Under-Explored</a:t>
            </a:r>
            <a:endParaRPr lang="en-US" sz="1200" dirty="0"/>
          </a:p>
        </p:txBody>
      </p:sp>
      <p:sp>
        <p:nvSpPr>
          <p:cNvPr id="10" name="Text 8"/>
          <p:cNvSpPr/>
          <p:nvPr/>
        </p:nvSpPr>
        <p:spPr>
          <a:xfrm>
            <a:off x="4800600" y="1490472"/>
            <a:ext cx="3749040" cy="11430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Prior CLIP-based detectors (FND-CLIP, BC-FND) use CLIP alignment for cross-modal weighting, but none uses the pre-computed cosine similarity α as a parameter-free gating coefficient in a cross-attention fusion block.</a:t>
            </a:r>
            <a:endParaRPr lang="en-US" sz="1050" dirty="0"/>
          </a:p>
        </p:txBody>
      </p:sp>
      <p:sp>
        <p:nvSpPr>
          <p:cNvPr id="11" name="Shape 9"/>
          <p:cNvSpPr/>
          <p:nvPr/>
        </p:nvSpPr>
        <p:spPr>
          <a:xfrm>
            <a:off x="365760" y="2971800"/>
            <a:ext cx="4069080" cy="1783080"/>
          </a:xfrm>
          <a:prstGeom prst="roundRect">
            <a:avLst>
              <a:gd name="adj" fmla="val 4103"/>
            </a:avLst>
          </a:prstGeom>
          <a:solidFill>
            <a:srgbClr val="122232"/>
          </a:solidFill>
          <a:ln w="12700">
            <a:solidFill>
              <a:srgbClr val="DDEAEA"/>
            </a:solidFill>
            <a:prstDash val="solid"/>
          </a:ln>
          <a:effectLst>
            <a:outerShdw blurRad="101600" dist="38100" dir="2700000" algn="bl" rotWithShape="0">
              <a:srgbClr val="000000">
                <a:alpha val="13000"/>
              </a:srgbClr>
            </a:outerShdw>
          </a:effectLst>
        </p:spPr>
      </p:sp>
      <p:sp>
        <p:nvSpPr>
          <p:cNvPr id="12" name="Text 10"/>
          <p:cNvSpPr/>
          <p:nvPr/>
        </p:nvSpPr>
        <p:spPr>
          <a:xfrm>
            <a:off x="502920" y="3063240"/>
            <a:ext cx="3749040" cy="411480"/>
          </a:xfrm>
          <a:prstGeom prst="rect">
            <a:avLst/>
          </a:prstGeom>
          <a:noFill/>
          <a:ln/>
        </p:spPr>
        <p:txBody>
          <a:bodyPr wrap="square" lIns="0" tIns="0" rIns="0" bIns="0" rtlCol="0" anchor="ctr"/>
          <a:lstStyle/>
          <a:p>
            <a:pPr marL="0" indent="0">
              <a:buNone/>
            </a:pPr>
            <a:r>
              <a:rPr lang="en-US" sz="1200" b="1" dirty="0">
                <a:solidFill>
                  <a:srgbClr val="17BEBB"/>
                </a:solidFill>
              </a:rPr>
              <a:t>⚖  Accuracy vs. Explainability Trade-off</a:t>
            </a:r>
            <a:endParaRPr lang="en-US" sz="1200" dirty="0"/>
          </a:p>
        </p:txBody>
      </p:sp>
      <p:sp>
        <p:nvSpPr>
          <p:cNvPr id="13" name="Text 11"/>
          <p:cNvSpPr/>
          <p:nvPr/>
        </p:nvSpPr>
        <p:spPr>
          <a:xfrm>
            <a:off x="502920" y="3502152"/>
            <a:ext cx="3749040" cy="11430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Prior work treats accuracy and interpretability as competing goals. HEMT-CLIP demonstrates they are jointly attainable: gated cross-attention is both the highest-performing and most explainable fusion strategy.</a:t>
            </a:r>
            <a:endParaRPr lang="en-US" sz="1050" dirty="0"/>
          </a:p>
        </p:txBody>
      </p:sp>
      <p:sp>
        <p:nvSpPr>
          <p:cNvPr id="14" name="Shape 12"/>
          <p:cNvSpPr/>
          <p:nvPr/>
        </p:nvSpPr>
        <p:spPr>
          <a:xfrm>
            <a:off x="4663440" y="2971800"/>
            <a:ext cx="4069080" cy="1783080"/>
          </a:xfrm>
          <a:prstGeom prst="roundRect">
            <a:avLst>
              <a:gd name="adj" fmla="val 4103"/>
            </a:avLst>
          </a:prstGeom>
          <a:solidFill>
            <a:srgbClr val="122232"/>
          </a:solidFill>
          <a:ln w="12700">
            <a:solidFill>
              <a:srgbClr val="DDEAEA"/>
            </a:solidFill>
            <a:prstDash val="solid"/>
          </a:ln>
          <a:effectLst>
            <a:outerShdw blurRad="101600" dist="38100" dir="2700000" algn="bl" rotWithShape="0">
              <a:srgbClr val="000000">
                <a:alpha val="13000"/>
              </a:srgbClr>
            </a:outerShdw>
          </a:effectLst>
        </p:spPr>
      </p:sp>
      <p:sp>
        <p:nvSpPr>
          <p:cNvPr id="15" name="Text 13"/>
          <p:cNvSpPr/>
          <p:nvPr/>
        </p:nvSpPr>
        <p:spPr>
          <a:xfrm>
            <a:off x="4800600" y="3063240"/>
            <a:ext cx="3749040" cy="411480"/>
          </a:xfrm>
          <a:prstGeom prst="rect">
            <a:avLst/>
          </a:prstGeom>
          <a:noFill/>
          <a:ln/>
        </p:spPr>
        <p:txBody>
          <a:bodyPr wrap="square" lIns="0" tIns="0" rIns="0" bIns="0" rtlCol="0" anchor="ctr"/>
          <a:lstStyle/>
          <a:p>
            <a:pPr marL="0" indent="0">
              <a:buNone/>
            </a:pPr>
            <a:r>
              <a:rPr lang="en-US" sz="1200" b="1" dirty="0">
                <a:solidFill>
                  <a:srgbClr val="17BEBB"/>
                </a:solidFill>
              </a:rPr>
              <a:t>🔍  α Direction Assumption Unverified</a:t>
            </a:r>
            <a:endParaRPr lang="en-US" sz="1200" dirty="0"/>
          </a:p>
        </p:txBody>
      </p:sp>
      <p:sp>
        <p:nvSpPr>
          <p:cNvPr id="16" name="Text 14"/>
          <p:cNvSpPr/>
          <p:nvPr/>
        </p:nvSpPr>
        <p:spPr>
          <a:xfrm>
            <a:off x="4800600" y="3502152"/>
            <a:ext cx="3749040" cy="11430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All prior CLIP-based detectors assume low similarity = manipulation. HEMT-CLIP is the first to empirically test this on Fakeddit and document the counter-intuitive inversion (fake α = 0.300 &gt; real α = 0.253).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Proposed Framework: HEMT-CLIP Overview</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10 / 30</a:t>
            </a:r>
            <a:endParaRPr lang="en-US" sz="900" dirty="0"/>
          </a:p>
        </p:txBody>
      </p:sp>
      <p:sp>
        <p:nvSpPr>
          <p:cNvPr id="5" name="Shape 3"/>
          <p:cNvSpPr/>
          <p:nvPr/>
        </p:nvSpPr>
        <p:spPr>
          <a:xfrm>
            <a:off x="182880" y="960120"/>
            <a:ext cx="132588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182880" y="960120"/>
            <a:ext cx="1325880" cy="1051560"/>
          </a:xfrm>
          <a:prstGeom prst="roundRect">
            <a:avLst>
              <a:gd name="adj" fmla="val 6957"/>
            </a:avLst>
          </a:prstGeom>
          <a:solidFill>
            <a:srgbClr val="1C2B3A"/>
          </a:solidFill>
          <a:ln w="12700">
            <a:solidFill>
              <a:srgbClr val="1C2B3A"/>
            </a:solidFill>
            <a:prstDash val="solid"/>
          </a:ln>
        </p:spPr>
      </p:sp>
      <p:sp>
        <p:nvSpPr>
          <p:cNvPr id="7" name="Text 5"/>
          <p:cNvSpPr/>
          <p:nvPr/>
        </p:nvSpPr>
        <p:spPr>
          <a:xfrm>
            <a:off x="182880" y="960120"/>
            <a:ext cx="1325880" cy="1051560"/>
          </a:xfrm>
          <a:prstGeom prst="rect">
            <a:avLst/>
          </a:prstGeom>
          <a:noFill/>
          <a:ln/>
        </p:spPr>
        <p:txBody>
          <a:bodyPr wrap="square" lIns="0" tIns="0" rIns="0" bIns="0" rtlCol="0" anchor="ctr"/>
          <a:lstStyle/>
          <a:p>
            <a:pPr marL="0" indent="0" algn="ctr">
              <a:buNone/>
            </a:pPr>
            <a:r>
              <a:rPr lang="en-US" sz="950" b="1" dirty="0">
                <a:solidFill>
                  <a:srgbClr val="FFFFFF"/>
                </a:solidFill>
              </a:rPr>
              <a:t>Reddit Post</a:t>
            </a:r>
            <a:endParaRPr lang="en-US" sz="950" dirty="0"/>
          </a:p>
          <a:p>
            <a:pPr marL="0" indent="0" algn="ctr">
              <a:buNone/>
            </a:pPr>
            <a:r>
              <a:rPr lang="en-US" sz="950" b="1" dirty="0">
                <a:solidFill>
                  <a:srgbClr val="FFFFFF"/>
                </a:solidFill>
              </a:rPr>
              <a:t>(Title + Image)</a:t>
            </a:r>
            <a:endParaRPr lang="en-US" sz="950" dirty="0"/>
          </a:p>
        </p:txBody>
      </p:sp>
      <p:sp>
        <p:nvSpPr>
          <p:cNvPr id="8" name="Shape 6"/>
          <p:cNvSpPr/>
          <p:nvPr/>
        </p:nvSpPr>
        <p:spPr>
          <a:xfrm>
            <a:off x="1508760" y="1485900"/>
            <a:ext cx="109728" cy="0"/>
          </a:xfrm>
          <a:prstGeom prst="line">
            <a:avLst/>
          </a:prstGeom>
          <a:noFill/>
          <a:ln w="25400">
            <a:solidFill>
              <a:srgbClr val="0E7C7B"/>
            </a:solidFill>
            <a:prstDash val="solid"/>
          </a:ln>
        </p:spPr>
      </p:sp>
      <p:sp>
        <p:nvSpPr>
          <p:cNvPr id="9" name="Shape 7"/>
          <p:cNvSpPr/>
          <p:nvPr/>
        </p:nvSpPr>
        <p:spPr>
          <a:xfrm>
            <a:off x="1618488" y="960120"/>
            <a:ext cx="146304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Shape 8"/>
          <p:cNvSpPr/>
          <p:nvPr/>
        </p:nvSpPr>
        <p:spPr>
          <a:xfrm>
            <a:off x="1618488" y="960120"/>
            <a:ext cx="1463040" cy="1051560"/>
          </a:xfrm>
          <a:prstGeom prst="roundRect">
            <a:avLst>
              <a:gd name="adj" fmla="val 6957"/>
            </a:avLst>
          </a:prstGeom>
          <a:solidFill>
            <a:srgbClr val="0E7C7B"/>
          </a:solidFill>
          <a:ln w="12700">
            <a:solidFill>
              <a:srgbClr val="0E7C7B"/>
            </a:solidFill>
            <a:prstDash val="solid"/>
          </a:ln>
        </p:spPr>
      </p:sp>
      <p:sp>
        <p:nvSpPr>
          <p:cNvPr id="11" name="Text 9"/>
          <p:cNvSpPr/>
          <p:nvPr/>
        </p:nvSpPr>
        <p:spPr>
          <a:xfrm>
            <a:off x="1618488" y="960120"/>
            <a:ext cx="1463040" cy="1051560"/>
          </a:xfrm>
          <a:prstGeom prst="rect">
            <a:avLst/>
          </a:prstGeom>
          <a:noFill/>
          <a:ln/>
        </p:spPr>
        <p:txBody>
          <a:bodyPr wrap="square" lIns="0" tIns="0" rIns="0" bIns="0" rtlCol="0" anchor="ctr"/>
          <a:lstStyle/>
          <a:p>
            <a:pPr marL="0" indent="0" algn="ctr">
              <a:buNone/>
            </a:pPr>
            <a:r>
              <a:rPr lang="en-US" sz="950" b="1" dirty="0">
                <a:solidFill>
                  <a:srgbClr val="FFFFFF"/>
                </a:solidFill>
              </a:rPr>
              <a:t>RoBERTa</a:t>
            </a:r>
            <a:endParaRPr lang="en-US" sz="950" dirty="0"/>
          </a:p>
          <a:p>
            <a:pPr marL="0" indent="0" algn="ctr">
              <a:buNone/>
            </a:pPr>
            <a:r>
              <a:rPr lang="en-US" sz="950" b="1" dirty="0">
                <a:solidFill>
                  <a:srgbClr val="FFFFFF"/>
                </a:solidFill>
              </a:rPr>
              <a:t>Text Encoder</a:t>
            </a:r>
            <a:endParaRPr lang="en-US" sz="950" dirty="0"/>
          </a:p>
        </p:txBody>
      </p:sp>
      <p:sp>
        <p:nvSpPr>
          <p:cNvPr id="12" name="Shape 10"/>
          <p:cNvSpPr/>
          <p:nvPr/>
        </p:nvSpPr>
        <p:spPr>
          <a:xfrm>
            <a:off x="3081528" y="1485900"/>
            <a:ext cx="109728" cy="0"/>
          </a:xfrm>
          <a:prstGeom prst="line">
            <a:avLst/>
          </a:prstGeom>
          <a:noFill/>
          <a:ln w="25400">
            <a:solidFill>
              <a:srgbClr val="0E7C7B"/>
            </a:solidFill>
            <a:prstDash val="solid"/>
          </a:ln>
        </p:spPr>
      </p:sp>
      <p:sp>
        <p:nvSpPr>
          <p:cNvPr id="13" name="Shape 11"/>
          <p:cNvSpPr/>
          <p:nvPr/>
        </p:nvSpPr>
        <p:spPr>
          <a:xfrm>
            <a:off x="3191256" y="960120"/>
            <a:ext cx="155448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4" name="Shape 12"/>
          <p:cNvSpPr/>
          <p:nvPr/>
        </p:nvSpPr>
        <p:spPr>
          <a:xfrm>
            <a:off x="3191256" y="960120"/>
            <a:ext cx="1554480" cy="1051560"/>
          </a:xfrm>
          <a:prstGeom prst="roundRect">
            <a:avLst>
              <a:gd name="adj" fmla="val 6957"/>
            </a:avLst>
          </a:prstGeom>
          <a:solidFill>
            <a:srgbClr val="1A7A4A"/>
          </a:solidFill>
          <a:ln w="12700">
            <a:solidFill>
              <a:srgbClr val="1A7A4A"/>
            </a:solidFill>
            <a:prstDash val="solid"/>
          </a:ln>
        </p:spPr>
      </p:sp>
      <p:sp>
        <p:nvSpPr>
          <p:cNvPr id="15" name="Text 13"/>
          <p:cNvSpPr/>
          <p:nvPr/>
        </p:nvSpPr>
        <p:spPr>
          <a:xfrm>
            <a:off x="3191256" y="960120"/>
            <a:ext cx="1554480" cy="1051560"/>
          </a:xfrm>
          <a:prstGeom prst="rect">
            <a:avLst/>
          </a:prstGeom>
          <a:noFill/>
          <a:ln/>
        </p:spPr>
        <p:txBody>
          <a:bodyPr wrap="square" lIns="0" tIns="0" rIns="0" bIns="0" rtlCol="0" anchor="ctr"/>
          <a:lstStyle/>
          <a:p>
            <a:pPr marL="0" indent="0" algn="ctr">
              <a:buNone/>
            </a:pPr>
            <a:r>
              <a:rPr lang="en-US" sz="950" b="1" dirty="0">
                <a:solidFill>
                  <a:srgbClr val="FFFFFF"/>
                </a:solidFill>
              </a:rPr>
              <a:t>CLIP ViT-B/16</a:t>
            </a:r>
            <a:endParaRPr lang="en-US" sz="950" dirty="0"/>
          </a:p>
          <a:p>
            <a:pPr marL="0" indent="0" algn="ctr">
              <a:buNone/>
            </a:pPr>
            <a:r>
              <a:rPr lang="en-US" sz="950" b="1" dirty="0">
                <a:solidFill>
                  <a:srgbClr val="FFFFFF"/>
                </a:solidFill>
              </a:rPr>
              <a:t>Image Encoder</a:t>
            </a:r>
            <a:endParaRPr lang="en-US" sz="950" dirty="0"/>
          </a:p>
        </p:txBody>
      </p:sp>
      <p:sp>
        <p:nvSpPr>
          <p:cNvPr id="16" name="Shape 14"/>
          <p:cNvSpPr/>
          <p:nvPr/>
        </p:nvSpPr>
        <p:spPr>
          <a:xfrm>
            <a:off x="4745736" y="1485900"/>
            <a:ext cx="109728" cy="0"/>
          </a:xfrm>
          <a:prstGeom prst="line">
            <a:avLst/>
          </a:prstGeom>
          <a:noFill/>
          <a:ln w="25400">
            <a:solidFill>
              <a:srgbClr val="0E7C7B"/>
            </a:solidFill>
            <a:prstDash val="solid"/>
          </a:ln>
        </p:spPr>
      </p:sp>
      <p:sp>
        <p:nvSpPr>
          <p:cNvPr id="17" name="Shape 15"/>
          <p:cNvSpPr/>
          <p:nvPr/>
        </p:nvSpPr>
        <p:spPr>
          <a:xfrm>
            <a:off x="4855464" y="960120"/>
            <a:ext cx="164592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8" name="Shape 16"/>
          <p:cNvSpPr/>
          <p:nvPr/>
        </p:nvSpPr>
        <p:spPr>
          <a:xfrm>
            <a:off x="4855464" y="960120"/>
            <a:ext cx="1645920" cy="1051560"/>
          </a:xfrm>
          <a:prstGeom prst="roundRect">
            <a:avLst>
              <a:gd name="adj" fmla="val 6957"/>
            </a:avLst>
          </a:prstGeom>
          <a:solidFill>
            <a:srgbClr val="E8871A"/>
          </a:solidFill>
          <a:ln w="12700">
            <a:solidFill>
              <a:srgbClr val="E8871A"/>
            </a:solidFill>
            <a:prstDash val="solid"/>
          </a:ln>
        </p:spPr>
      </p:sp>
      <p:sp>
        <p:nvSpPr>
          <p:cNvPr id="19" name="Text 17"/>
          <p:cNvSpPr/>
          <p:nvPr/>
        </p:nvSpPr>
        <p:spPr>
          <a:xfrm>
            <a:off x="4855464" y="960120"/>
            <a:ext cx="1645920" cy="1051560"/>
          </a:xfrm>
          <a:prstGeom prst="rect">
            <a:avLst/>
          </a:prstGeom>
          <a:noFill/>
          <a:ln/>
        </p:spPr>
        <p:txBody>
          <a:bodyPr wrap="square" lIns="0" tIns="0" rIns="0" bIns="0" rtlCol="0" anchor="ctr"/>
          <a:lstStyle/>
          <a:p>
            <a:pPr marL="0" indent="0" algn="ctr">
              <a:buNone/>
            </a:pPr>
            <a:r>
              <a:rPr lang="en-US" sz="950" b="1" dirty="0">
                <a:solidFill>
                  <a:srgbClr val="FFFFFF"/>
                </a:solidFill>
              </a:rPr>
              <a:t>α-Gated</a:t>
            </a:r>
            <a:endParaRPr lang="en-US" sz="950" dirty="0"/>
          </a:p>
          <a:p>
            <a:pPr marL="0" indent="0" algn="ctr">
              <a:buNone/>
            </a:pPr>
            <a:r>
              <a:rPr lang="en-US" sz="950" b="1" dirty="0">
                <a:solidFill>
                  <a:srgbClr val="FFFFFF"/>
                </a:solidFill>
              </a:rPr>
              <a:t>Cross-Attention</a:t>
            </a:r>
            <a:endParaRPr lang="en-US" sz="950" dirty="0"/>
          </a:p>
          <a:p>
            <a:pPr marL="0" indent="0" algn="ctr">
              <a:buNone/>
            </a:pPr>
            <a:r>
              <a:rPr lang="en-US" sz="950" b="1" dirty="0">
                <a:solidFill>
                  <a:srgbClr val="FFFFFF"/>
                </a:solidFill>
              </a:rPr>
              <a:t>Fusion</a:t>
            </a:r>
            <a:endParaRPr lang="en-US" sz="950" dirty="0"/>
          </a:p>
        </p:txBody>
      </p:sp>
      <p:sp>
        <p:nvSpPr>
          <p:cNvPr id="20" name="Shape 18"/>
          <p:cNvSpPr/>
          <p:nvPr/>
        </p:nvSpPr>
        <p:spPr>
          <a:xfrm>
            <a:off x="6501384" y="1485900"/>
            <a:ext cx="109728" cy="0"/>
          </a:xfrm>
          <a:prstGeom prst="line">
            <a:avLst/>
          </a:prstGeom>
          <a:noFill/>
          <a:ln w="25400">
            <a:solidFill>
              <a:srgbClr val="0E7C7B"/>
            </a:solidFill>
            <a:prstDash val="solid"/>
          </a:ln>
        </p:spPr>
      </p:sp>
      <p:sp>
        <p:nvSpPr>
          <p:cNvPr id="21" name="Shape 19"/>
          <p:cNvSpPr/>
          <p:nvPr/>
        </p:nvSpPr>
        <p:spPr>
          <a:xfrm>
            <a:off x="6611112" y="960120"/>
            <a:ext cx="132588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2" name="Shape 20"/>
          <p:cNvSpPr/>
          <p:nvPr/>
        </p:nvSpPr>
        <p:spPr>
          <a:xfrm>
            <a:off x="6611112" y="960120"/>
            <a:ext cx="1325880" cy="1051560"/>
          </a:xfrm>
          <a:prstGeom prst="roundRect">
            <a:avLst>
              <a:gd name="adj" fmla="val 6957"/>
            </a:avLst>
          </a:prstGeom>
          <a:solidFill>
            <a:srgbClr val="6D2E46"/>
          </a:solidFill>
          <a:ln w="12700">
            <a:solidFill>
              <a:srgbClr val="6D2E46"/>
            </a:solidFill>
            <a:prstDash val="solid"/>
          </a:ln>
        </p:spPr>
      </p:sp>
      <p:sp>
        <p:nvSpPr>
          <p:cNvPr id="23" name="Text 21"/>
          <p:cNvSpPr/>
          <p:nvPr/>
        </p:nvSpPr>
        <p:spPr>
          <a:xfrm>
            <a:off x="6611112" y="960120"/>
            <a:ext cx="1325880" cy="1051560"/>
          </a:xfrm>
          <a:prstGeom prst="rect">
            <a:avLst/>
          </a:prstGeom>
          <a:noFill/>
          <a:ln/>
        </p:spPr>
        <p:txBody>
          <a:bodyPr wrap="square" lIns="0" tIns="0" rIns="0" bIns="0" rtlCol="0" anchor="ctr"/>
          <a:lstStyle/>
          <a:p>
            <a:pPr marL="0" indent="0" algn="ctr">
              <a:buNone/>
            </a:pPr>
            <a:r>
              <a:rPr lang="en-US" sz="950" b="1" dirty="0">
                <a:solidFill>
                  <a:srgbClr val="FFFFFF"/>
                </a:solidFill>
              </a:rPr>
              <a:t>2-Layer MLP</a:t>
            </a:r>
            <a:endParaRPr lang="en-US" sz="950" dirty="0"/>
          </a:p>
          <a:p>
            <a:pPr marL="0" indent="0" algn="ctr">
              <a:buNone/>
            </a:pPr>
            <a:r>
              <a:rPr lang="en-US" sz="950" b="1" dirty="0">
                <a:solidFill>
                  <a:srgbClr val="FFFFFF"/>
                </a:solidFill>
              </a:rPr>
              <a:t>Classifier</a:t>
            </a:r>
            <a:endParaRPr lang="en-US" sz="950" dirty="0"/>
          </a:p>
        </p:txBody>
      </p:sp>
      <p:sp>
        <p:nvSpPr>
          <p:cNvPr id="24" name="Shape 22"/>
          <p:cNvSpPr/>
          <p:nvPr/>
        </p:nvSpPr>
        <p:spPr>
          <a:xfrm>
            <a:off x="7936992" y="1485900"/>
            <a:ext cx="109728" cy="0"/>
          </a:xfrm>
          <a:prstGeom prst="line">
            <a:avLst/>
          </a:prstGeom>
          <a:noFill/>
          <a:ln w="25400">
            <a:solidFill>
              <a:srgbClr val="0E7C7B"/>
            </a:solidFill>
            <a:prstDash val="solid"/>
          </a:ln>
        </p:spPr>
      </p:sp>
      <p:sp>
        <p:nvSpPr>
          <p:cNvPr id="25" name="Shape 23"/>
          <p:cNvSpPr/>
          <p:nvPr/>
        </p:nvSpPr>
        <p:spPr>
          <a:xfrm>
            <a:off x="8046720" y="960120"/>
            <a:ext cx="1325880" cy="1051560"/>
          </a:xfrm>
          <a:prstGeom prst="roundRect">
            <a:avLst>
              <a:gd name="adj" fmla="val 695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6" name="Shape 24"/>
          <p:cNvSpPr/>
          <p:nvPr/>
        </p:nvSpPr>
        <p:spPr>
          <a:xfrm>
            <a:off x="8046720" y="960120"/>
            <a:ext cx="1325880" cy="1051560"/>
          </a:xfrm>
          <a:prstGeom prst="roundRect">
            <a:avLst>
              <a:gd name="adj" fmla="val 6957"/>
            </a:avLst>
          </a:prstGeom>
          <a:solidFill>
            <a:srgbClr val="C0392B"/>
          </a:solidFill>
          <a:ln w="12700">
            <a:solidFill>
              <a:srgbClr val="C0392B"/>
            </a:solidFill>
            <a:prstDash val="solid"/>
          </a:ln>
        </p:spPr>
      </p:sp>
      <p:sp>
        <p:nvSpPr>
          <p:cNvPr id="27" name="Text 25"/>
          <p:cNvSpPr/>
          <p:nvPr/>
        </p:nvSpPr>
        <p:spPr>
          <a:xfrm>
            <a:off x="8046720" y="960120"/>
            <a:ext cx="1325880" cy="1051560"/>
          </a:xfrm>
          <a:prstGeom prst="rect">
            <a:avLst/>
          </a:prstGeom>
          <a:noFill/>
          <a:ln/>
        </p:spPr>
        <p:txBody>
          <a:bodyPr wrap="square" lIns="0" tIns="0" rIns="0" bIns="0" rtlCol="0" anchor="ctr"/>
          <a:lstStyle/>
          <a:p>
            <a:pPr marL="0" indent="0" algn="ctr">
              <a:buNone/>
            </a:pPr>
            <a:r>
              <a:rPr lang="en-US" sz="950" b="1" dirty="0">
                <a:solidFill>
                  <a:srgbClr val="FFFFFF"/>
                </a:solidFill>
              </a:rPr>
              <a:t>REAL / FAKE</a:t>
            </a:r>
            <a:endParaRPr lang="en-US" sz="950" dirty="0"/>
          </a:p>
          <a:p>
            <a:pPr marL="0" indent="0" algn="ctr">
              <a:buNone/>
            </a:pPr>
            <a:r>
              <a:rPr lang="en-US" sz="950" b="1" dirty="0">
                <a:solidFill>
                  <a:srgbClr val="FFFFFF"/>
                </a:solidFill>
              </a:rPr>
              <a:t>+ XAI</a:t>
            </a:r>
            <a:endParaRPr lang="en-US" sz="950" dirty="0"/>
          </a:p>
        </p:txBody>
      </p:sp>
      <p:sp>
        <p:nvSpPr>
          <p:cNvPr id="28" name="Shape 26"/>
          <p:cNvSpPr/>
          <p:nvPr/>
        </p:nvSpPr>
        <p:spPr>
          <a:xfrm>
            <a:off x="365760" y="2194560"/>
            <a:ext cx="8412480" cy="777240"/>
          </a:xfrm>
          <a:prstGeom prst="roundRect">
            <a:avLst>
              <a:gd name="adj" fmla="val 9412"/>
            </a:avLst>
          </a:prstGeom>
          <a:solidFill>
            <a:srgbClr val="EAF8F4"/>
          </a:solidFill>
          <a:ln w="12700">
            <a:solidFill>
              <a:srgbClr val="DDEAEA"/>
            </a:solidFill>
            <a:prstDash val="solid"/>
          </a:ln>
          <a:effectLst>
            <a:outerShdw blurRad="101600" dist="38100" dir="2700000" algn="bl" rotWithShape="0">
              <a:srgbClr val="000000">
                <a:alpha val="13000"/>
              </a:srgbClr>
            </a:outerShdw>
          </a:effectLst>
        </p:spPr>
      </p:sp>
      <p:sp>
        <p:nvSpPr>
          <p:cNvPr id="29" name="Text 27"/>
          <p:cNvSpPr/>
          <p:nvPr/>
        </p:nvSpPr>
        <p:spPr>
          <a:xfrm>
            <a:off x="548640" y="2267712"/>
            <a:ext cx="8046720" cy="640080"/>
          </a:xfrm>
          <a:prstGeom prst="rect">
            <a:avLst/>
          </a:prstGeom>
          <a:noFill/>
          <a:ln/>
        </p:spPr>
        <p:txBody>
          <a:bodyPr wrap="square" lIns="0" tIns="0" rIns="0" bIns="0" rtlCol="0" anchor="ctr"/>
          <a:lstStyle/>
          <a:p>
            <a:pPr marL="0" indent="0" algn="ctr">
              <a:buNone/>
            </a:pPr>
            <a:r>
              <a:rPr lang="en-US" sz="1300" b="1" dirty="0">
                <a:solidFill>
                  <a:srgbClr val="0E7C7B"/>
                </a:solidFill>
                <a:latin typeface="Cambria" pitchFamily="34" charset="0"/>
                <a:ea typeface="Cambria" pitchFamily="34" charset="-122"/>
                <a:cs typeface="Cambria" pitchFamily="34" charset="-120"/>
              </a:rPr>
              <a:t>Gating Equation:   fused = α · attended + (1 − α) · text     where α = CLIP cosine similarity ∈ [0.086, 0.490]</a:t>
            </a:r>
            <a:endParaRPr lang="en-US" sz="1300" dirty="0"/>
          </a:p>
        </p:txBody>
      </p:sp>
      <p:sp>
        <p:nvSpPr>
          <p:cNvPr id="30" name="Shape 28"/>
          <p:cNvSpPr/>
          <p:nvPr/>
        </p:nvSpPr>
        <p:spPr>
          <a:xfrm>
            <a:off x="365760" y="3154680"/>
            <a:ext cx="2651760" cy="1783080"/>
          </a:xfrm>
          <a:prstGeom prst="roundRect">
            <a:avLst>
              <a:gd name="adj" fmla="val 410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31" name="Shape 29"/>
          <p:cNvSpPr/>
          <p:nvPr/>
        </p:nvSpPr>
        <p:spPr>
          <a:xfrm>
            <a:off x="502920" y="3246120"/>
            <a:ext cx="457200" cy="457200"/>
          </a:xfrm>
          <a:prstGeom prst="ellipse">
            <a:avLst/>
          </a:prstGeom>
          <a:solidFill>
            <a:srgbClr val="0E7C7B"/>
          </a:solidFill>
          <a:ln w="12700">
            <a:solidFill>
              <a:srgbClr val="0E7C7B"/>
            </a:solidFill>
            <a:prstDash val="solid"/>
          </a:ln>
        </p:spPr>
      </p:sp>
      <p:sp>
        <p:nvSpPr>
          <p:cNvPr id="32" name="Text 30"/>
          <p:cNvSpPr/>
          <p:nvPr/>
        </p:nvSpPr>
        <p:spPr>
          <a:xfrm>
            <a:off x="502920" y="324612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L1</a:t>
            </a:r>
            <a:endParaRPr lang="en-US" sz="1000" dirty="0"/>
          </a:p>
        </p:txBody>
      </p:sp>
      <p:sp>
        <p:nvSpPr>
          <p:cNvPr id="33" name="Text 31"/>
          <p:cNvSpPr/>
          <p:nvPr/>
        </p:nvSpPr>
        <p:spPr>
          <a:xfrm>
            <a:off x="1051560" y="3273552"/>
            <a:ext cx="1920240" cy="402336"/>
          </a:xfrm>
          <a:prstGeom prst="rect">
            <a:avLst/>
          </a:prstGeom>
          <a:noFill/>
          <a:ln/>
        </p:spPr>
        <p:txBody>
          <a:bodyPr wrap="square" lIns="0" tIns="0" rIns="0" bIns="0" rtlCol="0" anchor="ctr"/>
          <a:lstStyle/>
          <a:p>
            <a:pPr marL="0" indent="0">
              <a:buNone/>
            </a:pPr>
            <a:r>
              <a:rPr lang="en-US" sz="1100" b="1" dirty="0">
                <a:solidFill>
                  <a:srgbClr val="1C2B3A"/>
                </a:solidFill>
              </a:rPr>
              <a:t>Cross-Attention Heatmaps</a:t>
            </a:r>
            <a:endParaRPr lang="en-US" sz="1100" dirty="0"/>
          </a:p>
        </p:txBody>
      </p:sp>
      <p:sp>
        <p:nvSpPr>
          <p:cNvPr id="34" name="Text 32"/>
          <p:cNvSpPr/>
          <p:nvPr/>
        </p:nvSpPr>
        <p:spPr>
          <a:xfrm>
            <a:off x="502920" y="3749040"/>
            <a:ext cx="2377440" cy="107899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Intrinsic · 14×14 → 224×224 · Zero cost</a:t>
            </a:r>
            <a:endParaRPr lang="en-US" sz="1000" dirty="0"/>
          </a:p>
        </p:txBody>
      </p:sp>
      <p:sp>
        <p:nvSpPr>
          <p:cNvPr id="35" name="Shape 33"/>
          <p:cNvSpPr/>
          <p:nvPr/>
        </p:nvSpPr>
        <p:spPr>
          <a:xfrm>
            <a:off x="3200400" y="3154680"/>
            <a:ext cx="2651760" cy="1783080"/>
          </a:xfrm>
          <a:prstGeom prst="roundRect">
            <a:avLst>
              <a:gd name="adj" fmla="val 410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36" name="Shape 34"/>
          <p:cNvSpPr/>
          <p:nvPr/>
        </p:nvSpPr>
        <p:spPr>
          <a:xfrm>
            <a:off x="3337560" y="3246120"/>
            <a:ext cx="457200" cy="457200"/>
          </a:xfrm>
          <a:prstGeom prst="ellipse">
            <a:avLst/>
          </a:prstGeom>
          <a:solidFill>
            <a:srgbClr val="E8871A"/>
          </a:solidFill>
          <a:ln w="12700">
            <a:solidFill>
              <a:srgbClr val="E8871A"/>
            </a:solidFill>
            <a:prstDash val="solid"/>
          </a:ln>
        </p:spPr>
      </p:sp>
      <p:sp>
        <p:nvSpPr>
          <p:cNvPr id="37" name="Text 35"/>
          <p:cNvSpPr/>
          <p:nvPr/>
        </p:nvSpPr>
        <p:spPr>
          <a:xfrm>
            <a:off x="3337560" y="324612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L2</a:t>
            </a:r>
            <a:endParaRPr lang="en-US" sz="1000" dirty="0"/>
          </a:p>
        </p:txBody>
      </p:sp>
      <p:sp>
        <p:nvSpPr>
          <p:cNvPr id="38" name="Text 36"/>
          <p:cNvSpPr/>
          <p:nvPr/>
        </p:nvSpPr>
        <p:spPr>
          <a:xfrm>
            <a:off x="3886200" y="3273552"/>
            <a:ext cx="1920240" cy="402336"/>
          </a:xfrm>
          <a:prstGeom prst="rect">
            <a:avLst/>
          </a:prstGeom>
          <a:noFill/>
          <a:ln/>
        </p:spPr>
        <p:txBody>
          <a:bodyPr wrap="square" lIns="0" tIns="0" rIns="0" bIns="0" rtlCol="0" anchor="ctr"/>
          <a:lstStyle/>
          <a:p>
            <a:pPr marL="0" indent="0">
              <a:buNone/>
            </a:pPr>
            <a:r>
              <a:rPr lang="en-US" sz="1100" b="1" dirty="0">
                <a:solidFill>
                  <a:srgbClr val="1C2B3A"/>
                </a:solidFill>
              </a:rPr>
              <a:t>SHAP (Owen Partition)</a:t>
            </a:r>
            <a:endParaRPr lang="en-US" sz="1100" dirty="0"/>
          </a:p>
        </p:txBody>
      </p:sp>
      <p:sp>
        <p:nvSpPr>
          <p:cNvPr id="39" name="Text 37"/>
          <p:cNvSpPr/>
          <p:nvPr/>
        </p:nvSpPr>
        <p:spPr>
          <a:xfrm>
            <a:off x="3337560" y="3749040"/>
            <a:ext cx="2377440" cy="107899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Post-hoc · BPE sub-word · 1–5 sec</a:t>
            </a:r>
            <a:endParaRPr lang="en-US" sz="1000" dirty="0"/>
          </a:p>
        </p:txBody>
      </p:sp>
      <p:sp>
        <p:nvSpPr>
          <p:cNvPr id="40" name="Shape 38"/>
          <p:cNvSpPr/>
          <p:nvPr/>
        </p:nvSpPr>
        <p:spPr>
          <a:xfrm>
            <a:off x="6035040" y="3154680"/>
            <a:ext cx="2651760" cy="1783080"/>
          </a:xfrm>
          <a:prstGeom prst="roundRect">
            <a:avLst>
              <a:gd name="adj" fmla="val 410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41" name="Shape 39"/>
          <p:cNvSpPr/>
          <p:nvPr/>
        </p:nvSpPr>
        <p:spPr>
          <a:xfrm>
            <a:off x="6172200" y="3246120"/>
            <a:ext cx="457200" cy="457200"/>
          </a:xfrm>
          <a:prstGeom prst="ellipse">
            <a:avLst/>
          </a:prstGeom>
          <a:solidFill>
            <a:srgbClr val="6D2E46"/>
          </a:solidFill>
          <a:ln w="12700">
            <a:solidFill>
              <a:srgbClr val="6D2E46"/>
            </a:solidFill>
            <a:prstDash val="solid"/>
          </a:ln>
        </p:spPr>
      </p:sp>
      <p:sp>
        <p:nvSpPr>
          <p:cNvPr id="42" name="Text 40"/>
          <p:cNvSpPr/>
          <p:nvPr/>
        </p:nvSpPr>
        <p:spPr>
          <a:xfrm>
            <a:off x="6172200" y="324612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L3</a:t>
            </a:r>
            <a:endParaRPr lang="en-US" sz="1000" dirty="0"/>
          </a:p>
        </p:txBody>
      </p:sp>
      <p:sp>
        <p:nvSpPr>
          <p:cNvPr id="43" name="Text 41"/>
          <p:cNvSpPr/>
          <p:nvPr/>
        </p:nvSpPr>
        <p:spPr>
          <a:xfrm>
            <a:off x="6720840" y="3273552"/>
            <a:ext cx="1920240" cy="402336"/>
          </a:xfrm>
          <a:prstGeom prst="rect">
            <a:avLst/>
          </a:prstGeom>
          <a:noFill/>
          <a:ln/>
        </p:spPr>
        <p:txBody>
          <a:bodyPr wrap="square" lIns="0" tIns="0" rIns="0" bIns="0" rtlCol="0" anchor="ctr"/>
          <a:lstStyle/>
          <a:p>
            <a:pPr marL="0" indent="0">
              <a:buNone/>
            </a:pPr>
            <a:r>
              <a:rPr lang="en-US" sz="1100" b="1" dirty="0">
                <a:solidFill>
                  <a:srgbClr val="1C2B3A"/>
                </a:solidFill>
              </a:rPr>
              <a:t>LIME (Text Explainer)</a:t>
            </a:r>
            <a:endParaRPr lang="en-US" sz="1100" dirty="0"/>
          </a:p>
        </p:txBody>
      </p:sp>
      <p:sp>
        <p:nvSpPr>
          <p:cNvPr id="44" name="Text 42"/>
          <p:cNvSpPr/>
          <p:nvPr/>
        </p:nvSpPr>
        <p:spPr>
          <a:xfrm>
            <a:off x="6172200" y="3749040"/>
            <a:ext cx="2377440" cy="1078992"/>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Post-hoc · Whole word · 1000 perturbations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System Architecture: Detailed Component View</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11 / 30</a:t>
            </a:r>
            <a:endParaRPr lang="en-US" sz="900" dirty="0"/>
          </a:p>
        </p:txBody>
      </p:sp>
      <p:sp>
        <p:nvSpPr>
          <p:cNvPr id="5" name="Shape 3"/>
          <p:cNvSpPr/>
          <p:nvPr/>
        </p:nvSpPr>
        <p:spPr>
          <a:xfrm>
            <a:off x="274320" y="914400"/>
            <a:ext cx="2651760" cy="4069080"/>
          </a:xfrm>
          <a:prstGeom prst="roundRect">
            <a:avLst>
              <a:gd name="adj" fmla="val 275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274320" y="914400"/>
            <a:ext cx="2651760" cy="347472"/>
          </a:xfrm>
          <a:prstGeom prst="rect">
            <a:avLst/>
          </a:prstGeom>
          <a:solidFill>
            <a:srgbClr val="0E7C7B"/>
          </a:solidFill>
          <a:ln/>
        </p:spPr>
        <p:txBody>
          <a:bodyPr wrap="square" rtlCol="0" anchor="ctr"/>
          <a:lstStyle/>
          <a:p>
            <a:pPr marL="0" indent="0" algn="ctr">
              <a:buNone/>
            </a:pPr>
            <a:r>
              <a:rPr lang="en-US" sz="1100" b="1" dirty="0">
                <a:solidFill>
                  <a:srgbClr val="FFFFFF"/>
                </a:solidFill>
              </a:rPr>
              <a:t>TEXT ENCODER</a:t>
            </a:r>
            <a:endParaRPr lang="en-US" sz="1100" dirty="0"/>
          </a:p>
        </p:txBody>
      </p:sp>
      <p:sp>
        <p:nvSpPr>
          <p:cNvPr id="7" name="Text 5"/>
          <p:cNvSpPr/>
          <p:nvPr/>
        </p:nvSpPr>
        <p:spPr>
          <a:xfrm>
            <a:off x="365760" y="1325880"/>
            <a:ext cx="2468880" cy="356616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RoBERTa-base  (125M params)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BPE Tokenizer  · max 128 tokens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Layers 0–7: FROZEN</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Layers 8–11: Fine-tuned (Stage 2)</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Projection: 768 → 512</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 LayerNorm → Dropout(0.1)</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Output: 512-dim text embedding</a:t>
            </a:r>
            <a:endParaRPr lang="en-US" sz="950" dirty="0"/>
          </a:p>
        </p:txBody>
      </p:sp>
      <p:sp>
        <p:nvSpPr>
          <p:cNvPr id="8" name="Shape 6"/>
          <p:cNvSpPr/>
          <p:nvPr/>
        </p:nvSpPr>
        <p:spPr>
          <a:xfrm>
            <a:off x="3063240" y="914400"/>
            <a:ext cx="3017520" cy="4069080"/>
          </a:xfrm>
          <a:prstGeom prst="roundRect">
            <a:avLst>
              <a:gd name="adj" fmla="val 2424"/>
            </a:avLst>
          </a:prstGeom>
          <a:solidFill>
            <a:srgbClr val="EAF8F4"/>
          </a:solidFill>
          <a:ln w="12700">
            <a:solidFill>
              <a:srgbClr val="DDEAEA"/>
            </a:solidFill>
            <a:prstDash val="solid"/>
          </a:ln>
          <a:effectLst>
            <a:outerShdw blurRad="101600" dist="38100" dir="2700000" algn="bl" rotWithShape="0">
              <a:srgbClr val="000000">
                <a:alpha val="13000"/>
              </a:srgbClr>
            </a:outerShdw>
          </a:effectLst>
        </p:spPr>
      </p:sp>
      <p:sp>
        <p:nvSpPr>
          <p:cNvPr id="9" name="Text 7"/>
          <p:cNvSpPr/>
          <p:nvPr/>
        </p:nvSpPr>
        <p:spPr>
          <a:xfrm>
            <a:off x="3063240" y="914400"/>
            <a:ext cx="3017520" cy="347472"/>
          </a:xfrm>
          <a:prstGeom prst="rect">
            <a:avLst/>
          </a:prstGeom>
          <a:solidFill>
            <a:srgbClr val="E8871A"/>
          </a:solidFill>
          <a:ln/>
        </p:spPr>
        <p:txBody>
          <a:bodyPr wrap="square" rtlCol="0" anchor="ctr"/>
          <a:lstStyle/>
          <a:p>
            <a:pPr marL="0" indent="0" algn="ctr">
              <a:buNone/>
            </a:pPr>
            <a:r>
              <a:rPr lang="en-US" sz="1100" b="1" dirty="0">
                <a:solidFill>
                  <a:srgbClr val="FFFFFF"/>
                </a:solidFill>
              </a:rPr>
              <a:t>FUSION MODULE</a:t>
            </a:r>
            <a:endParaRPr lang="en-US" sz="1100" dirty="0"/>
          </a:p>
        </p:txBody>
      </p:sp>
      <p:sp>
        <p:nvSpPr>
          <p:cNvPr id="10" name="Text 8"/>
          <p:cNvSpPr/>
          <p:nvPr/>
        </p:nvSpPr>
        <p:spPr>
          <a:xfrm>
            <a:off x="3154680" y="1325880"/>
            <a:ext cx="2834640" cy="356616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8-Head Cross-Attention</a:t>
            </a:r>
            <a:endParaRPr lang="en-US" sz="900" dirty="0"/>
          </a:p>
          <a:p>
            <a:pPr marL="0" indent="0">
              <a:spcAft>
                <a:spcPts val="200"/>
              </a:spcAft>
              <a:buNone/>
            </a:pPr>
            <a:r>
              <a:rPr lang="en-US" sz="900" dirty="0">
                <a:solidFill>
                  <a:srgbClr val="1C2B3A"/>
                </a:solidFill>
                <a:latin typeface="Calibri" pitchFamily="34" charset="0"/>
                <a:ea typeface="Calibri" pitchFamily="34" charset="-122"/>
                <a:cs typeface="Calibri" pitchFamily="34" charset="-120"/>
              </a:rPr>
              <a:t>  Q = text (B×1×512)</a:t>
            </a:r>
            <a:endParaRPr lang="en-US" sz="900" dirty="0"/>
          </a:p>
          <a:p>
            <a:pPr marL="0" indent="0">
              <a:spcAft>
                <a:spcPts val="200"/>
              </a:spcAft>
              <a:buNone/>
            </a:pPr>
            <a:r>
              <a:rPr lang="en-US" sz="900" dirty="0">
                <a:solidFill>
                  <a:srgbClr val="1C2B3A"/>
                </a:solidFill>
                <a:latin typeface="Calibri" pitchFamily="34" charset="0"/>
                <a:ea typeface="Calibri" pitchFamily="34" charset="-122"/>
                <a:cs typeface="Calibri" pitchFamily="34" charset="-120"/>
              </a:rPr>
              <a:t>  K = V = image patches (B×196×512)</a:t>
            </a:r>
            <a:endParaRPr lang="en-US" sz="900" dirty="0"/>
          </a:p>
          <a:p>
            <a:pPr marL="0" indent="0">
              <a:spcAft>
                <a:spcPts val="200"/>
              </a:spcAft>
              <a:buNone/>
            </a:pPr>
            <a:r>
              <a:rPr lang="en-US" sz="900" dirty="0">
                <a:solidFill>
                  <a:srgbClr val="1C2B3A"/>
                </a:solidFill>
                <a:latin typeface="Calibri" pitchFamily="34" charset="0"/>
                <a:ea typeface="Calibri" pitchFamily="34" charset="-122"/>
                <a:cs typeface="Calibri" pitchFamily="34" charset="-120"/>
              </a:rPr>
              <a:t>  dk = 64 per head</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Residual + LayerNorm</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FFN: 512→2048→GELU→512</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Residual + LayerNorm</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α-Gate: fused = α·att + (1−α)·text</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Dropout(0.2) in fusion block</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Output: 512-dim fused vector</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 Attn weights (B,8,1,196) → heatmap</a:t>
            </a:r>
            <a:endParaRPr lang="en-US" sz="900" dirty="0"/>
          </a:p>
        </p:txBody>
      </p:sp>
      <p:sp>
        <p:nvSpPr>
          <p:cNvPr id="11" name="Shape 9"/>
          <p:cNvSpPr/>
          <p:nvPr/>
        </p:nvSpPr>
        <p:spPr>
          <a:xfrm>
            <a:off x="6217920" y="914400"/>
            <a:ext cx="2651760" cy="1920240"/>
          </a:xfrm>
          <a:prstGeom prst="roundRect">
            <a:avLst>
              <a:gd name="adj" fmla="val 381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2" name="Text 10"/>
          <p:cNvSpPr/>
          <p:nvPr/>
        </p:nvSpPr>
        <p:spPr>
          <a:xfrm>
            <a:off x="6217920" y="914400"/>
            <a:ext cx="2651760" cy="347472"/>
          </a:xfrm>
          <a:prstGeom prst="rect">
            <a:avLst/>
          </a:prstGeom>
          <a:solidFill>
            <a:srgbClr val="1A7A4A"/>
          </a:solidFill>
          <a:ln/>
        </p:spPr>
        <p:txBody>
          <a:bodyPr wrap="square" rtlCol="0" anchor="ctr"/>
          <a:lstStyle/>
          <a:p>
            <a:pPr marL="0" indent="0" algn="ctr">
              <a:buNone/>
            </a:pPr>
            <a:r>
              <a:rPr lang="en-US" sz="1100" b="1" dirty="0">
                <a:solidFill>
                  <a:srgbClr val="FFFFFF"/>
                </a:solidFill>
              </a:rPr>
              <a:t>IMAGE ENCODER</a:t>
            </a:r>
            <a:endParaRPr lang="en-US" sz="1100" dirty="0"/>
          </a:p>
        </p:txBody>
      </p:sp>
      <p:sp>
        <p:nvSpPr>
          <p:cNvPr id="13" name="Text 11"/>
          <p:cNvSpPr/>
          <p:nvPr/>
        </p:nvSpPr>
        <p:spPr>
          <a:xfrm>
            <a:off x="6309360" y="1325880"/>
            <a:ext cx="2468880" cy="141732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CLIP ViT-B/16  (400M pretrain)</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Input: 224×224 RGB</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196 patch tokens (14×14 grid, 16×16 px)</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Blocks 0–7: FROZEN</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Blocks 8–11: Fine-tuned (Stage 2)</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Output: CLS (512d) + patches (196×512)</a:t>
            </a:r>
            <a:endParaRPr lang="en-US" sz="900" dirty="0"/>
          </a:p>
        </p:txBody>
      </p:sp>
      <p:sp>
        <p:nvSpPr>
          <p:cNvPr id="14" name="Shape 12"/>
          <p:cNvSpPr/>
          <p:nvPr/>
        </p:nvSpPr>
        <p:spPr>
          <a:xfrm>
            <a:off x="6217920" y="2971800"/>
            <a:ext cx="2651760" cy="2011680"/>
          </a:xfrm>
          <a:prstGeom prst="roundRect">
            <a:avLst>
              <a:gd name="adj" fmla="val 363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5" name="Text 13"/>
          <p:cNvSpPr/>
          <p:nvPr/>
        </p:nvSpPr>
        <p:spPr>
          <a:xfrm>
            <a:off x="6217920" y="2971800"/>
            <a:ext cx="2651760" cy="347472"/>
          </a:xfrm>
          <a:prstGeom prst="rect">
            <a:avLst/>
          </a:prstGeom>
          <a:solidFill>
            <a:srgbClr val="6D2E46"/>
          </a:solidFill>
          <a:ln/>
        </p:spPr>
        <p:txBody>
          <a:bodyPr wrap="square" rtlCol="0" anchor="ctr"/>
          <a:lstStyle/>
          <a:p>
            <a:pPr marL="0" indent="0" algn="ctr">
              <a:buNone/>
            </a:pPr>
            <a:r>
              <a:rPr lang="en-US" sz="1100" b="1" dirty="0">
                <a:solidFill>
                  <a:srgbClr val="FFFFFF"/>
                </a:solidFill>
              </a:rPr>
              <a:t>CLASSIFIER HEAD</a:t>
            </a:r>
            <a:endParaRPr lang="en-US" sz="1100" dirty="0"/>
          </a:p>
        </p:txBody>
      </p:sp>
      <p:sp>
        <p:nvSpPr>
          <p:cNvPr id="16" name="Text 14"/>
          <p:cNvSpPr/>
          <p:nvPr/>
        </p:nvSpPr>
        <p:spPr>
          <a:xfrm>
            <a:off x="6309360" y="3383280"/>
            <a:ext cx="2468880" cy="150876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2-Layer MLP: 512→256→2</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ReLU activation</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Dropout(0.3)</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Softmax at inference</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Cross-entropy loss (label smooth=0)</a:t>
            </a:r>
            <a:endParaRPr lang="en-US" sz="900" dirty="0"/>
          </a:p>
          <a:p>
            <a:pPr marL="342900" indent="-342900">
              <a:spcAft>
                <a:spcPts val="200"/>
              </a:spcAft>
              <a:buSzPct val="100000"/>
              <a:buChar char="•"/>
            </a:pPr>
            <a:r>
              <a:rPr lang="en-US" sz="900" dirty="0">
                <a:solidFill>
                  <a:srgbClr val="1C2B3A"/>
                </a:solidFill>
                <a:latin typeface="Calibri" pitchFamily="34" charset="0"/>
                <a:ea typeface="Calibri" pitchFamily="34" charset="-122"/>
                <a:cs typeface="Calibri" pitchFamily="34" charset="-120"/>
              </a:rPr>
              <a:t>Output: P(Real), P(Fake)</a:t>
            </a:r>
            <a:endParaRPr lang="en-US" sz="900" dirty="0"/>
          </a:p>
        </p:txBody>
      </p:sp>
      <p:sp>
        <p:nvSpPr>
          <p:cNvPr id="17" name="Text 15"/>
          <p:cNvSpPr/>
          <p:nvPr/>
        </p:nvSpPr>
        <p:spPr>
          <a:xfrm>
            <a:off x="274320" y="4663440"/>
            <a:ext cx="8595360" cy="201168"/>
          </a:xfrm>
          <a:prstGeom prst="rect">
            <a:avLst/>
          </a:prstGeom>
          <a:noFill/>
          <a:ln/>
        </p:spPr>
        <p:txBody>
          <a:bodyPr wrap="square" lIns="0" tIns="0" rIns="0" bIns="0" rtlCol="0" anchor="ctr"/>
          <a:lstStyle/>
          <a:p>
            <a:pPr marL="0" indent="0" algn="ctr">
              <a:buNone/>
            </a:pPr>
            <a:r>
              <a:rPr lang="en-US" sz="850" dirty="0">
                <a:solidFill>
                  <a:srgbClr val="7A8FA6"/>
                </a:solidFill>
              </a:rPr>
              <a:t>Total trainable params: 32.82M  ·  α precomputed offline, cached in HDF5  ·  Trained on NVIDIA T4 16GB</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Dataset: Fakeddit Corpus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12 / 30</a:t>
            </a:r>
            <a:endParaRPr lang="en-US" sz="900" dirty="0"/>
          </a:p>
        </p:txBody>
      </p:sp>
      <p:sp>
        <p:nvSpPr>
          <p:cNvPr id="5" name="Shape 3"/>
          <p:cNvSpPr/>
          <p:nvPr/>
        </p:nvSpPr>
        <p:spPr>
          <a:xfrm>
            <a:off x="365760" y="914400"/>
            <a:ext cx="1965960" cy="1097280"/>
          </a:xfrm>
          <a:prstGeom prst="roundRect">
            <a:avLst>
              <a:gd name="adj" fmla="val 6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365760" y="987552"/>
            <a:ext cx="1965960" cy="530352"/>
          </a:xfrm>
          <a:prstGeom prst="rect">
            <a:avLst/>
          </a:prstGeom>
          <a:noFill/>
          <a:ln/>
        </p:spPr>
        <p:txBody>
          <a:bodyPr wrap="square" lIns="0" tIns="0" rIns="0" bIns="0" rtlCol="0" anchor="ctr"/>
          <a:lstStyle/>
          <a:p>
            <a:pPr marL="0" indent="0" algn="ctr">
              <a:buNone/>
            </a:pPr>
            <a:r>
              <a:rPr lang="en-US" sz="2800" b="1" dirty="0">
                <a:solidFill>
                  <a:srgbClr val="0E7C7B"/>
                </a:solidFill>
              </a:rPr>
              <a:t>17,149</a:t>
            </a:r>
            <a:endParaRPr lang="en-US" sz="2800" dirty="0"/>
          </a:p>
        </p:txBody>
      </p:sp>
      <p:sp>
        <p:nvSpPr>
          <p:cNvPr id="7" name="Text 5"/>
          <p:cNvSpPr/>
          <p:nvPr/>
        </p:nvSpPr>
        <p:spPr>
          <a:xfrm>
            <a:off x="365760" y="1536192"/>
            <a:ext cx="1965960" cy="347472"/>
          </a:xfrm>
          <a:prstGeom prst="rect">
            <a:avLst/>
          </a:prstGeom>
          <a:noFill/>
          <a:ln/>
        </p:spPr>
        <p:txBody>
          <a:bodyPr wrap="square" lIns="0" tIns="0" rIns="0" bIns="0" rtlCol="0" anchor="ctr"/>
          <a:lstStyle/>
          <a:p>
            <a:pPr marL="0" indent="0" algn="ctr">
              <a:buNone/>
            </a:pPr>
            <a:r>
              <a:rPr lang="en-US" sz="950" dirty="0">
                <a:solidFill>
                  <a:srgbClr val="1C2B3A"/>
                </a:solidFill>
              </a:rPr>
              <a:t>HEMT-CLIP Subset</a:t>
            </a:r>
            <a:endParaRPr lang="en-US" sz="950" dirty="0"/>
          </a:p>
        </p:txBody>
      </p:sp>
      <p:sp>
        <p:nvSpPr>
          <p:cNvPr id="8" name="Shape 6"/>
          <p:cNvSpPr/>
          <p:nvPr/>
        </p:nvSpPr>
        <p:spPr>
          <a:xfrm>
            <a:off x="2514600" y="914400"/>
            <a:ext cx="1965960" cy="1097280"/>
          </a:xfrm>
          <a:prstGeom prst="roundRect">
            <a:avLst>
              <a:gd name="adj" fmla="val 6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9" name="Text 7"/>
          <p:cNvSpPr/>
          <p:nvPr/>
        </p:nvSpPr>
        <p:spPr>
          <a:xfrm>
            <a:off x="2514600" y="987552"/>
            <a:ext cx="1965960" cy="530352"/>
          </a:xfrm>
          <a:prstGeom prst="rect">
            <a:avLst/>
          </a:prstGeom>
          <a:noFill/>
          <a:ln/>
        </p:spPr>
        <p:txBody>
          <a:bodyPr wrap="square" lIns="0" tIns="0" rIns="0" bIns="0" rtlCol="0" anchor="ctr"/>
          <a:lstStyle/>
          <a:p>
            <a:pPr marL="0" indent="0" algn="ctr">
              <a:buNone/>
            </a:pPr>
            <a:r>
              <a:rPr lang="en-US" sz="2800" b="1" dirty="0">
                <a:solidFill>
                  <a:srgbClr val="E8871A"/>
                </a:solidFill>
              </a:rPr>
              <a:t>1M+</a:t>
            </a:r>
            <a:endParaRPr lang="en-US" sz="2800" dirty="0"/>
          </a:p>
        </p:txBody>
      </p:sp>
      <p:sp>
        <p:nvSpPr>
          <p:cNvPr id="10" name="Text 8"/>
          <p:cNvSpPr/>
          <p:nvPr/>
        </p:nvSpPr>
        <p:spPr>
          <a:xfrm>
            <a:off x="2514600" y="1536192"/>
            <a:ext cx="1965960" cy="347472"/>
          </a:xfrm>
          <a:prstGeom prst="rect">
            <a:avLst/>
          </a:prstGeom>
          <a:noFill/>
          <a:ln/>
        </p:spPr>
        <p:txBody>
          <a:bodyPr wrap="square" lIns="0" tIns="0" rIns="0" bIns="0" rtlCol="0" anchor="ctr"/>
          <a:lstStyle/>
          <a:p>
            <a:pPr marL="0" indent="0" algn="ctr">
              <a:buNone/>
            </a:pPr>
            <a:r>
              <a:rPr lang="en-US" sz="950" dirty="0">
                <a:solidFill>
                  <a:srgbClr val="1C2B3A"/>
                </a:solidFill>
              </a:rPr>
              <a:t>Full Fakeddit Corpus</a:t>
            </a:r>
            <a:endParaRPr lang="en-US" sz="950" dirty="0"/>
          </a:p>
        </p:txBody>
      </p:sp>
      <p:sp>
        <p:nvSpPr>
          <p:cNvPr id="11" name="Shape 9"/>
          <p:cNvSpPr/>
          <p:nvPr/>
        </p:nvSpPr>
        <p:spPr>
          <a:xfrm>
            <a:off x="4663440" y="914400"/>
            <a:ext cx="1965960" cy="1097280"/>
          </a:xfrm>
          <a:prstGeom prst="roundRect">
            <a:avLst>
              <a:gd name="adj" fmla="val 6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2" name="Text 10"/>
          <p:cNvSpPr/>
          <p:nvPr/>
        </p:nvSpPr>
        <p:spPr>
          <a:xfrm>
            <a:off x="4663440" y="987552"/>
            <a:ext cx="1965960" cy="530352"/>
          </a:xfrm>
          <a:prstGeom prst="rect">
            <a:avLst/>
          </a:prstGeom>
          <a:noFill/>
          <a:ln/>
        </p:spPr>
        <p:txBody>
          <a:bodyPr wrap="square" lIns="0" tIns="0" rIns="0" bIns="0" rtlCol="0" anchor="ctr"/>
          <a:lstStyle/>
          <a:p>
            <a:pPr marL="0" indent="0" algn="ctr">
              <a:buNone/>
            </a:pPr>
            <a:r>
              <a:rPr lang="en-US" sz="2800" b="1" dirty="0">
                <a:solidFill>
                  <a:srgbClr val="1A7A4A"/>
                </a:solidFill>
              </a:rPr>
              <a:t>28+</a:t>
            </a:r>
            <a:endParaRPr lang="en-US" sz="2800" dirty="0"/>
          </a:p>
        </p:txBody>
      </p:sp>
      <p:sp>
        <p:nvSpPr>
          <p:cNvPr id="13" name="Text 11"/>
          <p:cNvSpPr/>
          <p:nvPr/>
        </p:nvSpPr>
        <p:spPr>
          <a:xfrm>
            <a:off x="4663440" y="1536192"/>
            <a:ext cx="1965960" cy="347472"/>
          </a:xfrm>
          <a:prstGeom prst="rect">
            <a:avLst/>
          </a:prstGeom>
          <a:noFill/>
          <a:ln/>
        </p:spPr>
        <p:txBody>
          <a:bodyPr wrap="square" lIns="0" tIns="0" rIns="0" bIns="0" rtlCol="0" anchor="ctr"/>
          <a:lstStyle/>
          <a:p>
            <a:pPr marL="0" indent="0" algn="ctr">
              <a:buNone/>
            </a:pPr>
            <a:r>
              <a:rPr lang="en-US" sz="950" dirty="0">
                <a:solidFill>
                  <a:srgbClr val="1C2B3A"/>
                </a:solidFill>
              </a:rPr>
              <a:t>Subreddits</a:t>
            </a:r>
            <a:endParaRPr lang="en-US" sz="950" dirty="0"/>
          </a:p>
        </p:txBody>
      </p:sp>
      <p:sp>
        <p:nvSpPr>
          <p:cNvPr id="14" name="Shape 12"/>
          <p:cNvSpPr/>
          <p:nvPr/>
        </p:nvSpPr>
        <p:spPr>
          <a:xfrm>
            <a:off x="6812280" y="914400"/>
            <a:ext cx="1965960" cy="1097280"/>
          </a:xfrm>
          <a:prstGeom prst="roundRect">
            <a:avLst>
              <a:gd name="adj" fmla="val 66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5" name="Text 13"/>
          <p:cNvSpPr/>
          <p:nvPr/>
        </p:nvSpPr>
        <p:spPr>
          <a:xfrm>
            <a:off x="6812280" y="987552"/>
            <a:ext cx="1965960" cy="530352"/>
          </a:xfrm>
          <a:prstGeom prst="rect">
            <a:avLst/>
          </a:prstGeom>
          <a:noFill/>
          <a:ln/>
        </p:spPr>
        <p:txBody>
          <a:bodyPr wrap="square" lIns="0" tIns="0" rIns="0" bIns="0" rtlCol="0" anchor="ctr"/>
          <a:lstStyle/>
          <a:p>
            <a:pPr marL="0" indent="0" algn="ctr">
              <a:buNone/>
            </a:pPr>
            <a:r>
              <a:rPr lang="en-US" sz="2800" b="1" dirty="0">
                <a:solidFill>
                  <a:srgbClr val="6D2E46"/>
                </a:solidFill>
              </a:rPr>
              <a:t>50.83%</a:t>
            </a:r>
            <a:endParaRPr lang="en-US" sz="2800" dirty="0"/>
          </a:p>
        </p:txBody>
      </p:sp>
      <p:sp>
        <p:nvSpPr>
          <p:cNvPr id="16" name="Text 14"/>
          <p:cNvSpPr/>
          <p:nvPr/>
        </p:nvSpPr>
        <p:spPr>
          <a:xfrm>
            <a:off x="6812280" y="1536192"/>
            <a:ext cx="1965960" cy="347472"/>
          </a:xfrm>
          <a:prstGeom prst="rect">
            <a:avLst/>
          </a:prstGeom>
          <a:noFill/>
          <a:ln/>
        </p:spPr>
        <p:txBody>
          <a:bodyPr wrap="square" lIns="0" tIns="0" rIns="0" bIns="0" rtlCol="0" anchor="ctr"/>
          <a:lstStyle/>
          <a:p>
            <a:pPr marL="0" indent="0" algn="ctr">
              <a:buNone/>
            </a:pPr>
            <a:r>
              <a:rPr lang="en-US" sz="950" dirty="0">
                <a:solidFill>
                  <a:srgbClr val="1C2B3A"/>
                </a:solidFill>
              </a:rPr>
              <a:t>Real Class Balance</a:t>
            </a:r>
            <a:endParaRPr lang="en-US" sz="950" dirty="0"/>
          </a:p>
        </p:txBody>
      </p:sp>
      <p:sp>
        <p:nvSpPr>
          <p:cNvPr id="17" name="Shape 15"/>
          <p:cNvSpPr/>
          <p:nvPr/>
        </p:nvSpPr>
        <p:spPr>
          <a:xfrm>
            <a:off x="365760" y="2176272"/>
            <a:ext cx="4114800" cy="2423160"/>
          </a:xfrm>
          <a:prstGeom prst="roundRect">
            <a:avLst>
              <a:gd name="adj" fmla="val 301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8" name="Text 16"/>
          <p:cNvSpPr/>
          <p:nvPr/>
        </p:nvSpPr>
        <p:spPr>
          <a:xfrm>
            <a:off x="502920" y="2231136"/>
            <a:ext cx="3840480" cy="320040"/>
          </a:xfrm>
          <a:prstGeom prst="rect">
            <a:avLst/>
          </a:prstGeom>
          <a:noFill/>
          <a:ln/>
        </p:spPr>
        <p:txBody>
          <a:bodyPr wrap="square" lIns="0" tIns="0" rIns="0" bIns="0" rtlCol="0" anchor="ctr"/>
          <a:lstStyle/>
          <a:p>
            <a:pPr marL="0" indent="0">
              <a:buNone/>
            </a:pPr>
            <a:r>
              <a:rPr lang="en-US" sz="1200" b="1" dirty="0">
                <a:solidFill>
                  <a:srgbClr val="0E7C7B"/>
                </a:solidFill>
              </a:rPr>
              <a:t>Data Splits (Stratified, Seed 42)</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2578608"/>
          <a:ext cx="4114800" cy="187452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rPr>
                        <a:t>Split</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1200" b="1" dirty="0">
                          <a:solidFill>
                            <a:srgbClr val="FFFFFF"/>
                          </a:solidFill>
                        </a:rPr>
                        <a:t>Samples</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1200" b="1" dirty="0">
                          <a:solidFill>
                            <a:srgbClr val="FFFFFF"/>
                          </a:solidFill>
                        </a:rPr>
                        <a:t>Ratio</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C2B3A"/>
                          </a:solidFill>
                        </a:rPr>
                        <a:t>Train</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12,003</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70%</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C2B3A"/>
                          </a:solidFill>
                        </a:rPr>
                        <a:t>Validation</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2,573</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15%</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C2B3A"/>
                          </a:solidFill>
                        </a:rPr>
                        <a:t>Test</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2,573</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15%</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A7A4A"/>
                          </a:solidFill>
                        </a:rPr>
                        <a:t>REAL</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8,716</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50.83%</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C0392B"/>
                          </a:solidFill>
                        </a:rPr>
                        <a:t>FAKE</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8,433</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buNone/>
                      </a:pPr>
                      <a:r>
                        <a:rPr lang="en-US" sz="1200" dirty="0">
                          <a:solidFill>
                            <a:srgbClr val="1C2B3A"/>
                          </a:solidFill>
                        </a:rPr>
                        <a:t>49.17%</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0" name="Shape 17"/>
          <p:cNvSpPr/>
          <p:nvPr/>
        </p:nvSpPr>
        <p:spPr>
          <a:xfrm>
            <a:off x="4663440" y="2176272"/>
            <a:ext cx="4114800" cy="2423160"/>
          </a:xfrm>
          <a:prstGeom prst="roundRect">
            <a:avLst>
              <a:gd name="adj" fmla="val 301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Text 18"/>
          <p:cNvSpPr/>
          <p:nvPr/>
        </p:nvSpPr>
        <p:spPr>
          <a:xfrm>
            <a:off x="4800600" y="2231136"/>
            <a:ext cx="3840480" cy="320040"/>
          </a:xfrm>
          <a:prstGeom prst="rect">
            <a:avLst/>
          </a:prstGeom>
          <a:noFill/>
          <a:ln/>
        </p:spPr>
        <p:txBody>
          <a:bodyPr wrap="square" lIns="0" tIns="0" rIns="0" bIns="0" rtlCol="0" anchor="ctr"/>
          <a:lstStyle/>
          <a:p>
            <a:pPr marL="0" indent="0">
              <a:buNone/>
            </a:pPr>
            <a:r>
              <a:rPr lang="en-US" sz="1200" b="1" dirty="0">
                <a:solidFill>
                  <a:srgbClr val="E8871A"/>
                </a:solidFill>
              </a:rPr>
              <a:t>CLIP Similarity (α) Distribution</a:t>
            </a:r>
            <a:endParaRPr lang="en-US" sz="1200" dirty="0"/>
          </a:p>
        </p:txBody>
      </p:sp>
      <p:sp>
        <p:nvSpPr>
          <p:cNvPr id="22" name="Text 19"/>
          <p:cNvSpPr/>
          <p:nvPr/>
        </p:nvSpPr>
        <p:spPr>
          <a:xfrm>
            <a:off x="4800600" y="2578608"/>
            <a:ext cx="3840480" cy="18745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C2B3A"/>
                </a:solidFill>
                <a:latin typeface="Calibri" pitchFamily="34" charset="0"/>
                <a:ea typeface="Calibri" pitchFamily="34" charset="-122"/>
                <a:cs typeface="Calibri" pitchFamily="34" charset="-120"/>
              </a:rPr>
              <a:t>Corpus mean α = 0.276  ·  std = 0.054</a:t>
            </a:r>
            <a:endParaRPr lang="en-US" sz="1000" dirty="0"/>
          </a:p>
          <a:p>
            <a:pPr marL="342900" indent="-342900">
              <a:spcAft>
                <a:spcPts val="300"/>
              </a:spcAft>
              <a:buSzPct val="100000"/>
              <a:buChar char="•"/>
            </a:pPr>
            <a:r>
              <a:rPr lang="en-US" sz="1000" dirty="0">
                <a:solidFill>
                  <a:srgbClr val="1C2B3A"/>
                </a:solidFill>
                <a:latin typeface="Calibri" pitchFamily="34" charset="0"/>
                <a:ea typeface="Calibri" pitchFamily="34" charset="-122"/>
                <a:cs typeface="Calibri" pitchFamily="34" charset="-120"/>
              </a:rPr>
              <a:t>Range: [0.086, 0.490]  —  no outliers</a:t>
            </a:r>
            <a:endParaRPr lang="en-US" sz="1000" dirty="0"/>
          </a:p>
          <a:p>
            <a:pPr marL="342900" indent="-342900">
              <a:spcAft>
                <a:spcPts val="300"/>
              </a:spcAft>
              <a:buSzPct val="100000"/>
              <a:buChar char="•"/>
            </a:pPr>
            <a:r>
              <a:rPr lang="en-US" sz="1000" dirty="0">
                <a:solidFill>
                  <a:srgbClr val="1C2B3A"/>
                </a:solidFill>
                <a:latin typeface="Calibri" pitchFamily="34" charset="0"/>
                <a:ea typeface="Calibri" pitchFamily="34" charset="-122"/>
                <a:cs typeface="Calibri" pitchFamily="34" charset="-120"/>
              </a:rPr>
              <a:t>Fake posts mean α = 0.300</a:t>
            </a:r>
            <a:endParaRPr lang="en-US" sz="1000" dirty="0"/>
          </a:p>
          <a:p>
            <a:pPr marL="342900" indent="-342900">
              <a:spcAft>
                <a:spcPts val="300"/>
              </a:spcAft>
              <a:buSzPct val="100000"/>
              <a:buChar char="•"/>
            </a:pPr>
            <a:r>
              <a:rPr lang="en-US" sz="1000" dirty="0">
                <a:solidFill>
                  <a:srgbClr val="1C2B3A"/>
                </a:solidFill>
                <a:latin typeface="Calibri" pitchFamily="34" charset="0"/>
                <a:ea typeface="Calibri" pitchFamily="34" charset="-122"/>
                <a:cs typeface="Calibri" pitchFamily="34" charset="-120"/>
              </a:rPr>
              <a:t>Real posts mean α = 0.253</a:t>
            </a:r>
            <a:endParaRPr lang="en-US" sz="1000" dirty="0"/>
          </a:p>
          <a:p>
            <a:pPr marL="342900" indent="-342900">
              <a:spcAft>
                <a:spcPts val="300"/>
              </a:spcAft>
              <a:buSzPct val="100000"/>
              <a:buChar char="•"/>
            </a:pPr>
            <a:r>
              <a:rPr lang="en-US" sz="1000" dirty="0">
                <a:solidFill>
                  <a:srgbClr val="1C2B3A"/>
                </a:solidFill>
                <a:latin typeface="Calibri" pitchFamily="34" charset="0"/>
                <a:ea typeface="Calibri" pitchFamily="34" charset="-122"/>
                <a:cs typeface="Calibri" pitchFamily="34" charset="-120"/>
              </a:rPr>
              <a:t>Δ = +0.048 ≈ 1 standard deviation</a:t>
            </a:r>
            <a:endParaRPr lang="en-US" sz="1000" dirty="0"/>
          </a:p>
          <a:p>
            <a:pPr marL="0" indent="0">
              <a:spcAft>
                <a:spcPts val="300"/>
              </a:spcAft>
              <a:buNone/>
            </a:pPr>
            <a:r>
              <a:rPr lang="en-US" sz="1000" b="1" dirty="0">
                <a:solidFill>
                  <a:srgbClr val="E8871A"/>
                </a:solidFill>
                <a:latin typeface="Calibri" pitchFamily="34" charset="0"/>
                <a:ea typeface="Calibri" pitchFamily="34" charset="-122"/>
                <a:cs typeface="Calibri" pitchFamily="34" charset="-120"/>
              </a:rPr>
              <a:t>⚠ Counter-intuitive: fake posts have HIGHER</a:t>
            </a:r>
            <a:endParaRPr lang="en-US" sz="1000" dirty="0"/>
          </a:p>
          <a:p>
            <a:pPr marL="0" indent="0">
              <a:spcAft>
                <a:spcPts val="300"/>
              </a:spcAft>
              <a:buNone/>
            </a:pPr>
            <a:r>
              <a:rPr lang="en-US" sz="1000" dirty="0">
                <a:solidFill>
                  <a:srgbClr val="E8871A"/>
                </a:solidFill>
                <a:latin typeface="Calibri" pitchFamily="34" charset="0"/>
                <a:ea typeface="Calibri" pitchFamily="34" charset="-122"/>
                <a:cs typeface="Calibri" pitchFamily="34" charset="-120"/>
              </a:rPr>
              <a:t>   semantic alignment than real posts</a:t>
            </a:r>
            <a:endParaRPr lang="en-US" sz="1000" dirty="0"/>
          </a:p>
        </p:txBody>
      </p:sp>
      <p:sp>
        <p:nvSpPr>
          <p:cNvPr id="23" name="Text 20"/>
          <p:cNvSpPr/>
          <p:nvPr/>
        </p:nvSpPr>
        <p:spPr>
          <a:xfrm>
            <a:off x="365760" y="4663440"/>
            <a:ext cx="8412480" cy="201168"/>
          </a:xfrm>
          <a:prstGeom prst="rect">
            <a:avLst/>
          </a:prstGeom>
          <a:noFill/>
          <a:ln/>
        </p:spPr>
        <p:txBody>
          <a:bodyPr wrap="square" lIns="0" tIns="0" rIns="0" bIns="0" rtlCol="0" anchor="ctr"/>
          <a:lstStyle/>
          <a:p>
            <a:pPr marL="0" indent="0" algn="ctr">
              <a:buNone/>
            </a:pPr>
            <a:r>
              <a:rPr lang="en-US" sz="850" dirty="0">
                <a:solidFill>
                  <a:srgbClr val="7A8FA6"/>
                </a:solidFill>
              </a:rPr>
              <a:t>Title length: median 10 tokens  ·  99th percentile 35 tokens  ·  0% capped at 128 tokens  ·  Label: subreddit-level (not per-post human annotation)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Data Preprocessing Pipeline</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13 / 30</a:t>
            </a:r>
            <a:endParaRPr lang="en-US" sz="900" dirty="0"/>
          </a:p>
        </p:txBody>
      </p:sp>
      <p:sp>
        <p:nvSpPr>
          <p:cNvPr id="5" name="Shape 3"/>
          <p:cNvSpPr/>
          <p:nvPr/>
        </p:nvSpPr>
        <p:spPr>
          <a:xfrm>
            <a:off x="365760" y="960120"/>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475488" y="1069848"/>
            <a:ext cx="411480" cy="411480"/>
          </a:xfrm>
          <a:prstGeom prst="ellipse">
            <a:avLst/>
          </a:prstGeom>
          <a:solidFill>
            <a:srgbClr val="0E7C7B"/>
          </a:solidFill>
          <a:ln w="12700">
            <a:solidFill>
              <a:srgbClr val="0E7C7B"/>
            </a:solidFill>
            <a:prstDash val="solid"/>
          </a:ln>
        </p:spPr>
      </p:sp>
      <p:sp>
        <p:nvSpPr>
          <p:cNvPr id="7" name="Text 5"/>
          <p:cNvSpPr/>
          <p:nvPr/>
        </p:nvSpPr>
        <p:spPr>
          <a:xfrm>
            <a:off x="475488" y="10698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987552" y="1069848"/>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Dataset Loading</a:t>
            </a:r>
            <a:endParaRPr lang="en-US" sz="1100" dirty="0"/>
          </a:p>
        </p:txBody>
      </p:sp>
      <p:sp>
        <p:nvSpPr>
          <p:cNvPr id="9" name="Text 7"/>
          <p:cNvSpPr/>
          <p:nvPr/>
        </p:nvSpPr>
        <p:spPr>
          <a:xfrm>
            <a:off x="987552" y="1453896"/>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Fakeddit metadata CSV · 2-way labels (0=real, 1=fake) · Image URLs extracted</a:t>
            </a:r>
            <a:endParaRPr lang="en-US" sz="950" dirty="0"/>
          </a:p>
        </p:txBody>
      </p:sp>
      <p:sp>
        <p:nvSpPr>
          <p:cNvPr id="10" name="Shape 8"/>
          <p:cNvSpPr/>
          <p:nvPr/>
        </p:nvSpPr>
        <p:spPr>
          <a:xfrm>
            <a:off x="4663440" y="960120"/>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4773168" y="1069848"/>
            <a:ext cx="411480" cy="411480"/>
          </a:xfrm>
          <a:prstGeom prst="ellipse">
            <a:avLst/>
          </a:prstGeom>
          <a:solidFill>
            <a:srgbClr val="1A7A4A"/>
          </a:solidFill>
          <a:ln w="12700">
            <a:solidFill>
              <a:srgbClr val="1A7A4A"/>
            </a:solidFill>
            <a:prstDash val="solid"/>
          </a:ln>
        </p:spPr>
      </p:sp>
      <p:sp>
        <p:nvSpPr>
          <p:cNvPr id="12" name="Text 10"/>
          <p:cNvSpPr/>
          <p:nvPr/>
        </p:nvSpPr>
        <p:spPr>
          <a:xfrm>
            <a:off x="4773168" y="10698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5285232" y="1069848"/>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Parallel Image Download</a:t>
            </a:r>
            <a:endParaRPr lang="en-US" sz="1100" dirty="0"/>
          </a:p>
        </p:txBody>
      </p:sp>
      <p:sp>
        <p:nvSpPr>
          <p:cNvPr id="14" name="Text 12"/>
          <p:cNvSpPr/>
          <p:nvPr/>
        </p:nvSpPr>
        <p:spPr>
          <a:xfrm>
            <a:off x="5285232" y="1453896"/>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8 worker threads · Resize to 224×224 RGB · CLIP normalization: mean=[0.481,0.458,0.408], std=[0.269,0.261,0.276] · Broken/corrupt URLs logged &amp; excluded</a:t>
            </a:r>
            <a:endParaRPr lang="en-US" sz="950" dirty="0"/>
          </a:p>
        </p:txBody>
      </p:sp>
      <p:sp>
        <p:nvSpPr>
          <p:cNvPr id="15" name="Shape 13"/>
          <p:cNvSpPr/>
          <p:nvPr/>
        </p:nvSpPr>
        <p:spPr>
          <a:xfrm>
            <a:off x="365760" y="2258568"/>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475488" y="2368296"/>
            <a:ext cx="411480" cy="411480"/>
          </a:xfrm>
          <a:prstGeom prst="ellipse">
            <a:avLst/>
          </a:prstGeom>
          <a:solidFill>
            <a:srgbClr val="E8871A"/>
          </a:solidFill>
          <a:ln w="12700">
            <a:solidFill>
              <a:srgbClr val="E8871A"/>
            </a:solidFill>
            <a:prstDash val="solid"/>
          </a:ln>
        </p:spPr>
      </p:sp>
      <p:sp>
        <p:nvSpPr>
          <p:cNvPr id="17" name="Text 15"/>
          <p:cNvSpPr/>
          <p:nvPr/>
        </p:nvSpPr>
        <p:spPr>
          <a:xfrm>
            <a:off x="475488" y="2368296"/>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6"/>
          <p:cNvSpPr/>
          <p:nvPr/>
        </p:nvSpPr>
        <p:spPr>
          <a:xfrm>
            <a:off x="987552" y="2368296"/>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Text Preprocessing</a:t>
            </a:r>
            <a:endParaRPr lang="en-US" sz="1100" dirty="0"/>
          </a:p>
        </p:txBody>
      </p:sp>
      <p:sp>
        <p:nvSpPr>
          <p:cNvPr id="19" name="Text 17"/>
          <p:cNvSpPr/>
          <p:nvPr/>
        </p:nvSpPr>
        <p:spPr>
          <a:xfrm>
            <a:off x="987552" y="2752344"/>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RoBERTa tokenizer · max 128 tokens · Pad/truncate · [CLS] and [SEP] auto-added · Zero titles truncated (0%)</a:t>
            </a:r>
            <a:endParaRPr lang="en-US" sz="950" dirty="0"/>
          </a:p>
        </p:txBody>
      </p:sp>
      <p:sp>
        <p:nvSpPr>
          <p:cNvPr id="20" name="Shape 18"/>
          <p:cNvSpPr/>
          <p:nvPr/>
        </p:nvSpPr>
        <p:spPr>
          <a:xfrm>
            <a:off x="4663440" y="2258568"/>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4773168" y="2368296"/>
            <a:ext cx="411480" cy="411480"/>
          </a:xfrm>
          <a:prstGeom prst="ellipse">
            <a:avLst/>
          </a:prstGeom>
          <a:solidFill>
            <a:srgbClr val="6D2E46"/>
          </a:solidFill>
          <a:ln w="12700">
            <a:solidFill>
              <a:srgbClr val="6D2E46"/>
            </a:solidFill>
            <a:prstDash val="solid"/>
          </a:ln>
        </p:spPr>
      </p:sp>
      <p:sp>
        <p:nvSpPr>
          <p:cNvPr id="22" name="Text 20"/>
          <p:cNvSpPr/>
          <p:nvPr/>
        </p:nvSpPr>
        <p:spPr>
          <a:xfrm>
            <a:off x="4773168" y="2368296"/>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21"/>
          <p:cNvSpPr/>
          <p:nvPr/>
        </p:nvSpPr>
        <p:spPr>
          <a:xfrm>
            <a:off x="5285232" y="2368296"/>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CLIP Similarity Precomputation</a:t>
            </a:r>
            <a:endParaRPr lang="en-US" sz="1100" dirty="0"/>
          </a:p>
        </p:txBody>
      </p:sp>
      <p:sp>
        <p:nvSpPr>
          <p:cNvPr id="24" name="Text 22"/>
          <p:cNvSpPr/>
          <p:nvPr/>
        </p:nvSpPr>
        <p:spPr>
          <a:xfrm>
            <a:off x="5285232" y="2752344"/>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Full CLIP ViT-B/16 (both towers) run ONCE offline · cosine similarity α per sample · Cached in HDF5 — avoids repeated inference during training</a:t>
            </a:r>
            <a:endParaRPr lang="en-US" sz="950" dirty="0"/>
          </a:p>
        </p:txBody>
      </p:sp>
      <p:sp>
        <p:nvSpPr>
          <p:cNvPr id="25" name="Shape 23"/>
          <p:cNvSpPr/>
          <p:nvPr/>
        </p:nvSpPr>
        <p:spPr>
          <a:xfrm>
            <a:off x="365760" y="3557016"/>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6" name="Shape 24"/>
          <p:cNvSpPr/>
          <p:nvPr/>
        </p:nvSpPr>
        <p:spPr>
          <a:xfrm>
            <a:off x="475488" y="3666744"/>
            <a:ext cx="411480" cy="411480"/>
          </a:xfrm>
          <a:prstGeom prst="ellipse">
            <a:avLst/>
          </a:prstGeom>
          <a:solidFill>
            <a:srgbClr val="C0392B"/>
          </a:solidFill>
          <a:ln w="12700">
            <a:solidFill>
              <a:srgbClr val="C0392B"/>
            </a:solidFill>
            <a:prstDash val="solid"/>
          </a:ln>
        </p:spPr>
      </p:sp>
      <p:sp>
        <p:nvSpPr>
          <p:cNvPr id="27" name="Text 25"/>
          <p:cNvSpPr/>
          <p:nvPr/>
        </p:nvSpPr>
        <p:spPr>
          <a:xfrm>
            <a:off x="475488" y="366674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8" name="Text 26"/>
          <p:cNvSpPr/>
          <p:nvPr/>
        </p:nvSpPr>
        <p:spPr>
          <a:xfrm>
            <a:off x="987552" y="3666744"/>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HDF5 Packing</a:t>
            </a:r>
            <a:endParaRPr lang="en-US" sz="1100" dirty="0"/>
          </a:p>
        </p:txBody>
      </p:sp>
      <p:sp>
        <p:nvSpPr>
          <p:cNvPr id="29" name="Text 27"/>
          <p:cNvSpPr/>
          <p:nvPr/>
        </p:nvSpPr>
        <p:spPr>
          <a:xfrm>
            <a:off x="987552" y="4050792"/>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Token IDs + images + labels + α scalars → single 1.94GB gzip-compressed HDF5 file · Epoch I/O: 20 min (Drive) → &lt;30 sec (Colab SSD) · Copied to local SSD at session start</a:t>
            </a:r>
            <a:endParaRPr lang="en-US" sz="950" dirty="0"/>
          </a:p>
        </p:txBody>
      </p:sp>
      <p:sp>
        <p:nvSpPr>
          <p:cNvPr id="30" name="Shape 28"/>
          <p:cNvSpPr/>
          <p:nvPr/>
        </p:nvSpPr>
        <p:spPr>
          <a:xfrm>
            <a:off x="4663440" y="3557016"/>
            <a:ext cx="4069080" cy="1188720"/>
          </a:xfrm>
          <a:prstGeom prst="roundRect">
            <a:avLst>
              <a:gd name="adj" fmla="val 6154"/>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31" name="Shape 29"/>
          <p:cNvSpPr/>
          <p:nvPr/>
        </p:nvSpPr>
        <p:spPr>
          <a:xfrm>
            <a:off x="4773168" y="3666744"/>
            <a:ext cx="411480" cy="411480"/>
          </a:xfrm>
          <a:prstGeom prst="ellipse">
            <a:avLst/>
          </a:prstGeom>
          <a:solidFill>
            <a:srgbClr val="7A8FA6"/>
          </a:solidFill>
          <a:ln w="12700">
            <a:solidFill>
              <a:srgbClr val="7A8FA6"/>
            </a:solidFill>
            <a:prstDash val="solid"/>
          </a:ln>
        </p:spPr>
      </p:sp>
      <p:sp>
        <p:nvSpPr>
          <p:cNvPr id="32" name="Text 30"/>
          <p:cNvSpPr/>
          <p:nvPr/>
        </p:nvSpPr>
        <p:spPr>
          <a:xfrm>
            <a:off x="4773168" y="366674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3" name="Text 31"/>
          <p:cNvSpPr/>
          <p:nvPr/>
        </p:nvSpPr>
        <p:spPr>
          <a:xfrm>
            <a:off x="5285232" y="3666744"/>
            <a:ext cx="3337560" cy="347472"/>
          </a:xfrm>
          <a:prstGeom prst="rect">
            <a:avLst/>
          </a:prstGeom>
          <a:noFill/>
          <a:ln/>
        </p:spPr>
        <p:txBody>
          <a:bodyPr wrap="square" lIns="0" tIns="0" rIns="0" bIns="0" rtlCol="0" anchor="ctr"/>
          <a:lstStyle/>
          <a:p>
            <a:pPr marL="0" indent="0">
              <a:buNone/>
            </a:pPr>
            <a:r>
              <a:rPr lang="en-US" sz="1100" b="1" dirty="0">
                <a:solidFill>
                  <a:srgbClr val="1C2B3A"/>
                </a:solidFill>
              </a:rPr>
              <a:t>Stratified Split + DataLoader</a:t>
            </a:r>
            <a:endParaRPr lang="en-US" sz="1100" dirty="0"/>
          </a:p>
        </p:txBody>
      </p:sp>
      <p:sp>
        <p:nvSpPr>
          <p:cNvPr id="34" name="Text 32"/>
          <p:cNvSpPr/>
          <p:nvPr/>
        </p:nvSpPr>
        <p:spPr>
          <a:xfrm>
            <a:off x="5285232" y="4050792"/>
            <a:ext cx="333756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70/15/15 split · Seed=42 · Shuffled each epoch · Batch size 16 · pin_memory=True · Custom collate function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Feature Extraction: Dual-Encoder Design</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14 / 30</a:t>
            </a:r>
            <a:endParaRPr lang="en-US" sz="900" dirty="0"/>
          </a:p>
        </p:txBody>
      </p:sp>
      <p:sp>
        <p:nvSpPr>
          <p:cNvPr id="5" name="Shape 3"/>
          <p:cNvSpPr/>
          <p:nvPr/>
        </p:nvSpPr>
        <p:spPr>
          <a:xfrm>
            <a:off x="274320" y="960120"/>
            <a:ext cx="4069080" cy="3977640"/>
          </a:xfrm>
          <a:prstGeom prst="roundRect">
            <a:avLst>
              <a:gd name="adj" fmla="val 183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4069080" cy="457200"/>
          </a:xfrm>
          <a:prstGeom prst="roundRect">
            <a:avLst>
              <a:gd name="adj" fmla="val 16000"/>
            </a:avLst>
          </a:prstGeom>
          <a:solidFill>
            <a:srgbClr val="0E7C7B"/>
          </a:solidFill>
          <a:ln w="12700">
            <a:solidFill>
              <a:srgbClr val="0E7C7B"/>
            </a:solidFill>
            <a:prstDash val="solid"/>
          </a:ln>
        </p:spPr>
      </p:sp>
      <p:sp>
        <p:nvSpPr>
          <p:cNvPr id="7" name="Text 5"/>
          <p:cNvSpPr/>
          <p:nvPr/>
        </p:nvSpPr>
        <p:spPr>
          <a:xfrm>
            <a:off x="274320" y="960120"/>
            <a:ext cx="4069080" cy="457200"/>
          </a:xfrm>
          <a:prstGeom prst="rect">
            <a:avLst/>
          </a:prstGeom>
          <a:noFill/>
          <a:ln/>
        </p:spPr>
        <p:txBody>
          <a:bodyPr wrap="square" lIns="0" tIns="0" rIns="0" bIns="0" rtlCol="0" anchor="ctr"/>
          <a:lstStyle/>
          <a:p>
            <a:pPr marL="0" indent="0" algn="ctr">
              <a:buNone/>
            </a:pPr>
            <a:r>
              <a:rPr lang="en-US" sz="1200" b="1" dirty="0">
                <a:solidFill>
                  <a:srgbClr val="FFFFFF"/>
                </a:solidFill>
              </a:rPr>
              <a:t>Text Feature Extraction (RoBERTa-base)</a:t>
            </a:r>
            <a:endParaRPr lang="en-US" sz="1200" dirty="0"/>
          </a:p>
        </p:txBody>
      </p:sp>
      <p:sp>
        <p:nvSpPr>
          <p:cNvPr id="8" name="Text 6"/>
          <p:cNvSpPr/>
          <p:nvPr/>
        </p:nvSpPr>
        <p:spPr>
          <a:xfrm>
            <a:off x="411480" y="1508760"/>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Architecture:</a:t>
            </a:r>
            <a:endParaRPr lang="en-US" sz="950" dirty="0"/>
          </a:p>
        </p:txBody>
      </p:sp>
      <p:sp>
        <p:nvSpPr>
          <p:cNvPr id="9" name="Text 7"/>
          <p:cNvSpPr/>
          <p:nvPr/>
        </p:nvSpPr>
        <p:spPr>
          <a:xfrm>
            <a:off x="1810512" y="1508760"/>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RoBERTa-base  (125M params)</a:t>
            </a:r>
            <a:endParaRPr lang="en-US" sz="950" dirty="0"/>
          </a:p>
        </p:txBody>
      </p:sp>
      <p:sp>
        <p:nvSpPr>
          <p:cNvPr id="10" name="Text 8"/>
          <p:cNvSpPr/>
          <p:nvPr/>
        </p:nvSpPr>
        <p:spPr>
          <a:xfrm>
            <a:off x="411480" y="1911096"/>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Pretrained on:</a:t>
            </a:r>
            <a:endParaRPr lang="en-US" sz="950" dirty="0"/>
          </a:p>
        </p:txBody>
      </p:sp>
      <p:sp>
        <p:nvSpPr>
          <p:cNvPr id="11" name="Text 9"/>
          <p:cNvSpPr/>
          <p:nvPr/>
        </p:nvSpPr>
        <p:spPr>
          <a:xfrm>
            <a:off x="1810512" y="1911096"/>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BookCorpus + Wikipedia (web-scale)</a:t>
            </a:r>
            <a:endParaRPr lang="en-US" sz="950" dirty="0"/>
          </a:p>
        </p:txBody>
      </p:sp>
      <p:sp>
        <p:nvSpPr>
          <p:cNvPr id="12" name="Text 10"/>
          <p:cNvSpPr/>
          <p:nvPr/>
        </p:nvSpPr>
        <p:spPr>
          <a:xfrm>
            <a:off x="411480" y="2313432"/>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Input:</a:t>
            </a:r>
            <a:endParaRPr lang="en-US" sz="950" dirty="0"/>
          </a:p>
        </p:txBody>
      </p:sp>
      <p:sp>
        <p:nvSpPr>
          <p:cNvPr id="13" name="Text 11"/>
          <p:cNvSpPr/>
          <p:nvPr/>
        </p:nvSpPr>
        <p:spPr>
          <a:xfrm>
            <a:off x="1810512" y="2313432"/>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Post title · max 128 BPE tokens</a:t>
            </a:r>
            <a:endParaRPr lang="en-US" sz="950" dirty="0"/>
          </a:p>
        </p:txBody>
      </p:sp>
      <p:sp>
        <p:nvSpPr>
          <p:cNvPr id="14" name="Text 12"/>
          <p:cNvSpPr/>
          <p:nvPr/>
        </p:nvSpPr>
        <p:spPr>
          <a:xfrm>
            <a:off x="411480" y="2715768"/>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Frozen:</a:t>
            </a:r>
            <a:endParaRPr lang="en-US" sz="950" dirty="0"/>
          </a:p>
        </p:txBody>
      </p:sp>
      <p:sp>
        <p:nvSpPr>
          <p:cNvPr id="15" name="Text 13"/>
          <p:cNvSpPr/>
          <p:nvPr/>
        </p:nvSpPr>
        <p:spPr>
          <a:xfrm>
            <a:off x="1810512" y="2715768"/>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Layers 0–7 + embedding layer</a:t>
            </a:r>
            <a:endParaRPr lang="en-US" sz="950" dirty="0"/>
          </a:p>
        </p:txBody>
      </p:sp>
      <p:sp>
        <p:nvSpPr>
          <p:cNvPr id="16" name="Text 14"/>
          <p:cNvSpPr/>
          <p:nvPr/>
        </p:nvSpPr>
        <p:spPr>
          <a:xfrm>
            <a:off x="411480" y="3118104"/>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Fine-tuned:</a:t>
            </a:r>
            <a:endParaRPr lang="en-US" sz="950" dirty="0"/>
          </a:p>
        </p:txBody>
      </p:sp>
      <p:sp>
        <p:nvSpPr>
          <p:cNvPr id="17" name="Text 15"/>
          <p:cNvSpPr/>
          <p:nvPr/>
        </p:nvSpPr>
        <p:spPr>
          <a:xfrm>
            <a:off x="1810512" y="3118104"/>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Layers 8–11 (social media domain)</a:t>
            </a:r>
            <a:endParaRPr lang="en-US" sz="950" dirty="0"/>
          </a:p>
        </p:txBody>
      </p:sp>
      <p:sp>
        <p:nvSpPr>
          <p:cNvPr id="18" name="Text 16"/>
          <p:cNvSpPr/>
          <p:nvPr/>
        </p:nvSpPr>
        <p:spPr>
          <a:xfrm>
            <a:off x="411480" y="3520440"/>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Projection:</a:t>
            </a:r>
            <a:endParaRPr lang="en-US" sz="950" dirty="0"/>
          </a:p>
        </p:txBody>
      </p:sp>
      <p:sp>
        <p:nvSpPr>
          <p:cNvPr id="19" name="Text 17"/>
          <p:cNvSpPr/>
          <p:nvPr/>
        </p:nvSpPr>
        <p:spPr>
          <a:xfrm>
            <a:off x="1810512" y="3520440"/>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Linear(768,512) → LayerNorm → Dropout(0.1)</a:t>
            </a:r>
            <a:endParaRPr lang="en-US" sz="950" dirty="0"/>
          </a:p>
        </p:txBody>
      </p:sp>
      <p:sp>
        <p:nvSpPr>
          <p:cNvPr id="20" name="Text 18"/>
          <p:cNvSpPr/>
          <p:nvPr/>
        </p:nvSpPr>
        <p:spPr>
          <a:xfrm>
            <a:off x="411480" y="3922776"/>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Output:</a:t>
            </a:r>
            <a:endParaRPr lang="en-US" sz="950" dirty="0"/>
          </a:p>
        </p:txBody>
      </p:sp>
      <p:sp>
        <p:nvSpPr>
          <p:cNvPr id="21" name="Text 19"/>
          <p:cNvSpPr/>
          <p:nvPr/>
        </p:nvSpPr>
        <p:spPr>
          <a:xfrm>
            <a:off x="1810512" y="3922776"/>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512-dim [CLS] text embedding</a:t>
            </a:r>
            <a:endParaRPr lang="en-US" sz="950" dirty="0"/>
          </a:p>
        </p:txBody>
      </p:sp>
      <p:sp>
        <p:nvSpPr>
          <p:cNvPr id="22" name="Text 20"/>
          <p:cNvSpPr/>
          <p:nvPr/>
        </p:nvSpPr>
        <p:spPr>
          <a:xfrm>
            <a:off x="411480" y="4325112"/>
            <a:ext cx="1371600" cy="365760"/>
          </a:xfrm>
          <a:prstGeom prst="rect">
            <a:avLst/>
          </a:prstGeom>
          <a:noFill/>
          <a:ln/>
        </p:spPr>
        <p:txBody>
          <a:bodyPr wrap="square" lIns="0" tIns="0" rIns="0" bIns="0" rtlCol="0" anchor="ctr"/>
          <a:lstStyle/>
          <a:p>
            <a:pPr marL="0" indent="0">
              <a:buNone/>
            </a:pPr>
            <a:r>
              <a:rPr lang="en-US" sz="950" b="1" dirty="0">
                <a:solidFill>
                  <a:srgbClr val="0E7C7B"/>
                </a:solidFill>
              </a:rPr>
              <a:t>Why RoBERTa:</a:t>
            </a:r>
            <a:endParaRPr lang="en-US" sz="950" dirty="0"/>
          </a:p>
        </p:txBody>
      </p:sp>
      <p:sp>
        <p:nvSpPr>
          <p:cNvPr id="23" name="Text 21"/>
          <p:cNvSpPr/>
          <p:nvPr/>
        </p:nvSpPr>
        <p:spPr>
          <a:xfrm>
            <a:off x="1810512" y="4325112"/>
            <a:ext cx="242316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Robust to noisy social-media text; removes NSP; dynamic masking</a:t>
            </a:r>
            <a:endParaRPr lang="en-US" sz="950" dirty="0"/>
          </a:p>
        </p:txBody>
      </p:sp>
      <p:sp>
        <p:nvSpPr>
          <p:cNvPr id="24" name="Shape 22"/>
          <p:cNvSpPr/>
          <p:nvPr/>
        </p:nvSpPr>
        <p:spPr>
          <a:xfrm>
            <a:off x="4617720" y="960120"/>
            <a:ext cx="4160520" cy="3977640"/>
          </a:xfrm>
          <a:prstGeom prst="roundRect">
            <a:avLst>
              <a:gd name="adj" fmla="val 183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5" name="Shape 23"/>
          <p:cNvSpPr/>
          <p:nvPr/>
        </p:nvSpPr>
        <p:spPr>
          <a:xfrm>
            <a:off x="4617720" y="960120"/>
            <a:ext cx="4160520" cy="457200"/>
          </a:xfrm>
          <a:prstGeom prst="roundRect">
            <a:avLst>
              <a:gd name="adj" fmla="val 16000"/>
            </a:avLst>
          </a:prstGeom>
          <a:solidFill>
            <a:srgbClr val="1A7A4A"/>
          </a:solidFill>
          <a:ln w="12700">
            <a:solidFill>
              <a:srgbClr val="1A7A4A"/>
            </a:solidFill>
            <a:prstDash val="solid"/>
          </a:ln>
        </p:spPr>
      </p:sp>
      <p:sp>
        <p:nvSpPr>
          <p:cNvPr id="26" name="Text 24"/>
          <p:cNvSpPr/>
          <p:nvPr/>
        </p:nvSpPr>
        <p:spPr>
          <a:xfrm>
            <a:off x="4617720" y="960120"/>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rPr>
              <a:t>Image Feature Extraction (CLIP ViT-B/16)</a:t>
            </a:r>
            <a:endParaRPr lang="en-US" sz="1200" dirty="0"/>
          </a:p>
        </p:txBody>
      </p:sp>
      <p:sp>
        <p:nvSpPr>
          <p:cNvPr id="27" name="Text 25"/>
          <p:cNvSpPr/>
          <p:nvPr/>
        </p:nvSpPr>
        <p:spPr>
          <a:xfrm>
            <a:off x="4736592" y="1508760"/>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Architecture:</a:t>
            </a:r>
            <a:endParaRPr lang="en-US" sz="950" dirty="0"/>
          </a:p>
        </p:txBody>
      </p:sp>
      <p:sp>
        <p:nvSpPr>
          <p:cNvPr id="28" name="Text 26"/>
          <p:cNvSpPr/>
          <p:nvPr/>
        </p:nvSpPr>
        <p:spPr>
          <a:xfrm>
            <a:off x="6108192" y="1508760"/>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CLIP ViT-B/16 vision transformer</a:t>
            </a:r>
            <a:endParaRPr lang="en-US" sz="950" dirty="0"/>
          </a:p>
        </p:txBody>
      </p:sp>
      <p:sp>
        <p:nvSpPr>
          <p:cNvPr id="29" name="Text 27"/>
          <p:cNvSpPr/>
          <p:nvPr/>
        </p:nvSpPr>
        <p:spPr>
          <a:xfrm>
            <a:off x="4736592" y="1911096"/>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Pretrained on:</a:t>
            </a:r>
            <a:endParaRPr lang="en-US" sz="950" dirty="0"/>
          </a:p>
        </p:txBody>
      </p:sp>
      <p:sp>
        <p:nvSpPr>
          <p:cNvPr id="30" name="Text 28"/>
          <p:cNvSpPr/>
          <p:nvPr/>
        </p:nvSpPr>
        <p:spPr>
          <a:xfrm>
            <a:off x="6108192" y="1911096"/>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400M image-text pairs (web-scraped)</a:t>
            </a:r>
            <a:endParaRPr lang="en-US" sz="950" dirty="0"/>
          </a:p>
        </p:txBody>
      </p:sp>
      <p:sp>
        <p:nvSpPr>
          <p:cNvPr id="31" name="Text 29"/>
          <p:cNvSpPr/>
          <p:nvPr/>
        </p:nvSpPr>
        <p:spPr>
          <a:xfrm>
            <a:off x="4736592" y="2313432"/>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Input:</a:t>
            </a:r>
            <a:endParaRPr lang="en-US" sz="950" dirty="0"/>
          </a:p>
        </p:txBody>
      </p:sp>
      <p:sp>
        <p:nvSpPr>
          <p:cNvPr id="32" name="Text 30"/>
          <p:cNvSpPr/>
          <p:nvPr/>
        </p:nvSpPr>
        <p:spPr>
          <a:xfrm>
            <a:off x="6108192" y="2313432"/>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224×224 RGB · CLIP normalization</a:t>
            </a:r>
            <a:endParaRPr lang="en-US" sz="950" dirty="0"/>
          </a:p>
        </p:txBody>
      </p:sp>
      <p:sp>
        <p:nvSpPr>
          <p:cNvPr id="33" name="Text 31"/>
          <p:cNvSpPr/>
          <p:nvPr/>
        </p:nvSpPr>
        <p:spPr>
          <a:xfrm>
            <a:off x="4736592" y="2715768"/>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Patches:</a:t>
            </a:r>
            <a:endParaRPr lang="en-US" sz="950" dirty="0"/>
          </a:p>
        </p:txBody>
      </p:sp>
      <p:sp>
        <p:nvSpPr>
          <p:cNvPr id="34" name="Text 32"/>
          <p:cNvSpPr/>
          <p:nvPr/>
        </p:nvSpPr>
        <p:spPr>
          <a:xfrm>
            <a:off x="6108192" y="2715768"/>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16×16 px → 196 patch tokens (14×14 grid)</a:t>
            </a:r>
            <a:endParaRPr lang="en-US" sz="950" dirty="0"/>
          </a:p>
        </p:txBody>
      </p:sp>
      <p:sp>
        <p:nvSpPr>
          <p:cNvPr id="35" name="Text 33"/>
          <p:cNvSpPr/>
          <p:nvPr/>
        </p:nvSpPr>
        <p:spPr>
          <a:xfrm>
            <a:off x="4736592" y="3118104"/>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Frozen:</a:t>
            </a:r>
            <a:endParaRPr lang="en-US" sz="950" dirty="0"/>
          </a:p>
        </p:txBody>
      </p:sp>
      <p:sp>
        <p:nvSpPr>
          <p:cNvPr id="36" name="Text 34"/>
          <p:cNvSpPr/>
          <p:nvPr/>
        </p:nvSpPr>
        <p:spPr>
          <a:xfrm>
            <a:off x="6108192" y="3118104"/>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Blocks 0–7 + patch &amp; position embeddings</a:t>
            </a:r>
            <a:endParaRPr lang="en-US" sz="950" dirty="0"/>
          </a:p>
        </p:txBody>
      </p:sp>
      <p:sp>
        <p:nvSpPr>
          <p:cNvPr id="37" name="Text 35"/>
          <p:cNvSpPr/>
          <p:nvPr/>
        </p:nvSpPr>
        <p:spPr>
          <a:xfrm>
            <a:off x="4736592" y="3520440"/>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Fine-tuned:</a:t>
            </a:r>
            <a:endParaRPr lang="en-US" sz="950" dirty="0"/>
          </a:p>
        </p:txBody>
      </p:sp>
      <p:sp>
        <p:nvSpPr>
          <p:cNvPr id="38" name="Text 36"/>
          <p:cNvSpPr/>
          <p:nvPr/>
        </p:nvSpPr>
        <p:spPr>
          <a:xfrm>
            <a:off x="6108192" y="3520440"/>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Blocks 8–11 (symmetric with RoBERTa)</a:t>
            </a:r>
            <a:endParaRPr lang="en-US" sz="950" dirty="0"/>
          </a:p>
        </p:txBody>
      </p:sp>
      <p:sp>
        <p:nvSpPr>
          <p:cNvPr id="39" name="Text 37"/>
          <p:cNvSpPr/>
          <p:nvPr/>
        </p:nvSpPr>
        <p:spPr>
          <a:xfrm>
            <a:off x="4736592" y="3922776"/>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Output 1:</a:t>
            </a:r>
            <a:endParaRPr lang="en-US" sz="950" dirty="0"/>
          </a:p>
        </p:txBody>
      </p:sp>
      <p:sp>
        <p:nvSpPr>
          <p:cNvPr id="40" name="Text 38"/>
          <p:cNvSpPr/>
          <p:nvPr/>
        </p:nvSpPr>
        <p:spPr>
          <a:xfrm>
            <a:off x="6108192" y="3922776"/>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512-dim pooled [CLS] vector (global semantics)</a:t>
            </a:r>
            <a:endParaRPr lang="en-US" sz="950" dirty="0"/>
          </a:p>
        </p:txBody>
      </p:sp>
      <p:sp>
        <p:nvSpPr>
          <p:cNvPr id="41" name="Text 39"/>
          <p:cNvSpPr/>
          <p:nvPr/>
        </p:nvSpPr>
        <p:spPr>
          <a:xfrm>
            <a:off x="4736592" y="4325112"/>
            <a:ext cx="1325880" cy="365760"/>
          </a:xfrm>
          <a:prstGeom prst="rect">
            <a:avLst/>
          </a:prstGeom>
          <a:noFill/>
          <a:ln/>
        </p:spPr>
        <p:txBody>
          <a:bodyPr wrap="square" lIns="0" tIns="0" rIns="0" bIns="0" rtlCol="0" anchor="ctr"/>
          <a:lstStyle/>
          <a:p>
            <a:pPr marL="0" indent="0">
              <a:buNone/>
            </a:pPr>
            <a:r>
              <a:rPr lang="en-US" sz="950" b="1" dirty="0">
                <a:solidFill>
                  <a:srgbClr val="1A7A4A"/>
                </a:solidFill>
              </a:rPr>
              <a:t>Output 2:</a:t>
            </a:r>
            <a:endParaRPr lang="en-US" sz="950" dirty="0"/>
          </a:p>
        </p:txBody>
      </p:sp>
      <p:sp>
        <p:nvSpPr>
          <p:cNvPr id="42" name="Text 40"/>
          <p:cNvSpPr/>
          <p:nvPr/>
        </p:nvSpPr>
        <p:spPr>
          <a:xfrm>
            <a:off x="6108192" y="4325112"/>
            <a:ext cx="2560320" cy="36576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196×512 patch token sequence (K and V in cross-attn)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Multimodal Fusion: α-Gated Cross-Attention</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15 / 30</a:t>
            </a:r>
            <a:endParaRPr lang="en-US" sz="900" dirty="0"/>
          </a:p>
        </p:txBody>
      </p:sp>
      <p:sp>
        <p:nvSpPr>
          <p:cNvPr id="5" name="Shape 3"/>
          <p:cNvSpPr/>
          <p:nvPr/>
        </p:nvSpPr>
        <p:spPr>
          <a:xfrm>
            <a:off x="365760" y="932688"/>
            <a:ext cx="8412480" cy="1463040"/>
          </a:xfrm>
          <a:prstGeom prst="roundRect">
            <a:avLst>
              <a:gd name="adj" fmla="val 5000"/>
            </a:avLst>
          </a:prstGeom>
          <a:solidFill>
            <a:srgbClr val="0A1520"/>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502920" y="1005840"/>
            <a:ext cx="8046720" cy="411480"/>
          </a:xfrm>
          <a:prstGeom prst="rect">
            <a:avLst/>
          </a:prstGeom>
          <a:noFill/>
          <a:ln/>
        </p:spPr>
        <p:txBody>
          <a:bodyPr wrap="square" lIns="0" tIns="0" rIns="0" bIns="0" rtlCol="0" anchor="ctr"/>
          <a:lstStyle/>
          <a:p>
            <a:pPr marL="0" indent="0" algn="ctr">
              <a:buNone/>
            </a:pPr>
            <a:r>
              <a:rPr lang="en-US" sz="1350" b="1" dirty="0">
                <a:solidFill>
                  <a:srgbClr val="17BEBB"/>
                </a:solidFill>
                <a:latin typeface="Cambria" pitchFamily="34" charset="0"/>
                <a:ea typeface="Cambria" pitchFamily="34" charset="-122"/>
                <a:cs typeface="Cambria" pitchFamily="34" charset="-120"/>
              </a:rPr>
              <a:t>Cross-Attention:    Attention(Q, K, V) = Softmax( QKᵀ / √dk ) · V</a:t>
            </a:r>
            <a:endParaRPr lang="en-US" sz="1350" dirty="0"/>
          </a:p>
        </p:txBody>
      </p:sp>
      <p:sp>
        <p:nvSpPr>
          <p:cNvPr id="7" name="Text 5"/>
          <p:cNvSpPr/>
          <p:nvPr/>
        </p:nvSpPr>
        <p:spPr>
          <a:xfrm>
            <a:off x="502920" y="1417320"/>
            <a:ext cx="8046720" cy="274320"/>
          </a:xfrm>
          <a:prstGeom prst="rect">
            <a:avLst/>
          </a:prstGeom>
          <a:noFill/>
          <a:ln/>
        </p:spPr>
        <p:txBody>
          <a:bodyPr wrap="square" lIns="0" tIns="0" rIns="0" bIns="0" rtlCol="0" anchor="ctr"/>
          <a:lstStyle/>
          <a:p>
            <a:pPr marL="0" indent="0" algn="ctr">
              <a:buNone/>
            </a:pPr>
            <a:r>
              <a:rPr lang="en-US" sz="1100" dirty="0">
                <a:solidFill>
                  <a:srgbClr val="7A8FA6"/>
                </a:solidFill>
              </a:rPr>
              <a:t>Q = text (B×1×512)   ·   K = V = image patches (B×196×512)   ·   dk = 64 per head</a:t>
            </a:r>
            <a:endParaRPr lang="en-US" sz="1100" dirty="0"/>
          </a:p>
        </p:txBody>
      </p:sp>
      <p:sp>
        <p:nvSpPr>
          <p:cNvPr id="8" name="Text 6"/>
          <p:cNvSpPr/>
          <p:nvPr/>
        </p:nvSpPr>
        <p:spPr>
          <a:xfrm>
            <a:off x="502920" y="1719072"/>
            <a:ext cx="8046720" cy="411480"/>
          </a:xfrm>
          <a:prstGeom prst="rect">
            <a:avLst/>
          </a:prstGeom>
          <a:noFill/>
          <a:ln/>
        </p:spPr>
        <p:txBody>
          <a:bodyPr wrap="square" lIns="0" tIns="0" rIns="0" bIns="0" rtlCol="0" anchor="ctr"/>
          <a:lstStyle/>
          <a:p>
            <a:pPr marL="0" indent="0" algn="ctr">
              <a:buNone/>
            </a:pPr>
            <a:r>
              <a:rPr lang="en-US" sz="1350" b="1" dirty="0">
                <a:solidFill>
                  <a:srgbClr val="E8871A"/>
                </a:solidFill>
                <a:latin typeface="Cambria" pitchFamily="34" charset="0"/>
                <a:ea typeface="Cambria" pitchFamily="34" charset="-122"/>
                <a:cs typeface="Cambria" pitchFamily="34" charset="-120"/>
              </a:rPr>
              <a:t>α-Gate:    fused = α · attended + (1 − α) · text     where α = cosine_sim(CLIP_text, CLIP_image)</a:t>
            </a:r>
            <a:endParaRPr lang="en-US" sz="1350" dirty="0"/>
          </a:p>
        </p:txBody>
      </p:sp>
      <p:sp>
        <p:nvSpPr>
          <p:cNvPr id="9" name="Shape 7"/>
          <p:cNvSpPr/>
          <p:nvPr/>
        </p:nvSpPr>
        <p:spPr>
          <a:xfrm>
            <a:off x="365760" y="2542032"/>
            <a:ext cx="2651760" cy="2286000"/>
          </a:xfrm>
          <a:prstGeom prst="roundRect">
            <a:avLst>
              <a:gd name="adj" fmla="val 32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0" name="Text 8"/>
          <p:cNvSpPr/>
          <p:nvPr/>
        </p:nvSpPr>
        <p:spPr>
          <a:xfrm>
            <a:off x="502920" y="2633472"/>
            <a:ext cx="2377440" cy="457200"/>
          </a:xfrm>
          <a:prstGeom prst="rect">
            <a:avLst/>
          </a:prstGeom>
          <a:noFill/>
          <a:ln/>
        </p:spPr>
        <p:txBody>
          <a:bodyPr wrap="square" lIns="0" tIns="0" rIns="0" bIns="0" rtlCol="0" anchor="ctr"/>
          <a:lstStyle/>
          <a:p>
            <a:pPr marL="0" indent="0">
              <a:buNone/>
            </a:pPr>
            <a:r>
              <a:rPr lang="en-US" sz="1150" b="1" dirty="0">
                <a:solidFill>
                  <a:srgbClr val="0E7C7B"/>
                </a:solidFill>
              </a:rPr>
              <a:t>Query-Driven Localization</a:t>
            </a:r>
            <a:endParaRPr lang="en-US" sz="1150" dirty="0"/>
          </a:p>
        </p:txBody>
      </p:sp>
      <p:sp>
        <p:nvSpPr>
          <p:cNvPr id="11" name="Text 9"/>
          <p:cNvSpPr/>
          <p:nvPr/>
        </p:nvSpPr>
        <p:spPr>
          <a:xfrm>
            <a:off x="502920" y="3127248"/>
            <a:ext cx="2377440" cy="1600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Text as Query means the text representation 'asks' which image regions are semantically relevant — producing intrinsic spatial explanations as a natural byproduct of the forward pass.</a:t>
            </a:r>
            <a:endParaRPr lang="en-US" sz="1000" dirty="0"/>
          </a:p>
        </p:txBody>
      </p:sp>
      <p:sp>
        <p:nvSpPr>
          <p:cNvPr id="12" name="Shape 10"/>
          <p:cNvSpPr/>
          <p:nvPr/>
        </p:nvSpPr>
        <p:spPr>
          <a:xfrm>
            <a:off x="3200400" y="2542032"/>
            <a:ext cx="2651760" cy="2286000"/>
          </a:xfrm>
          <a:prstGeom prst="roundRect">
            <a:avLst>
              <a:gd name="adj" fmla="val 32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3" name="Text 11"/>
          <p:cNvSpPr/>
          <p:nvPr/>
        </p:nvSpPr>
        <p:spPr>
          <a:xfrm>
            <a:off x="3337560" y="2633472"/>
            <a:ext cx="2377440" cy="457200"/>
          </a:xfrm>
          <a:prstGeom prst="rect">
            <a:avLst/>
          </a:prstGeom>
          <a:noFill/>
          <a:ln/>
        </p:spPr>
        <p:txBody>
          <a:bodyPr wrap="square" lIns="0" tIns="0" rIns="0" bIns="0" rtlCol="0" anchor="ctr"/>
          <a:lstStyle/>
          <a:p>
            <a:pPr marL="0" indent="0">
              <a:buNone/>
            </a:pPr>
            <a:r>
              <a:rPr lang="en-US" sz="1150" b="1" dirty="0">
                <a:solidFill>
                  <a:srgbClr val="E8871A"/>
                </a:solidFill>
              </a:rPr>
              <a:t>Parameter-Free Gate</a:t>
            </a:r>
            <a:endParaRPr lang="en-US" sz="1150" dirty="0"/>
          </a:p>
        </p:txBody>
      </p:sp>
      <p:sp>
        <p:nvSpPr>
          <p:cNvPr id="14" name="Text 12"/>
          <p:cNvSpPr/>
          <p:nvPr/>
        </p:nvSpPr>
        <p:spPr>
          <a:xfrm>
            <a:off x="3337560" y="3127248"/>
            <a:ext cx="2377440" cy="1600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α is the pre-computed CLIP cosine similarity. No trainable weights are added by the gate. The soft blend is decided entirely by semantic alignment — zero capacity cost.</a:t>
            </a:r>
            <a:endParaRPr lang="en-US" sz="1000" dirty="0"/>
          </a:p>
        </p:txBody>
      </p:sp>
      <p:sp>
        <p:nvSpPr>
          <p:cNvPr id="15" name="Shape 13"/>
          <p:cNvSpPr/>
          <p:nvPr/>
        </p:nvSpPr>
        <p:spPr>
          <a:xfrm>
            <a:off x="6035040" y="2542032"/>
            <a:ext cx="2651760" cy="2286000"/>
          </a:xfrm>
          <a:prstGeom prst="roundRect">
            <a:avLst>
              <a:gd name="adj" fmla="val 32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6" name="Text 14"/>
          <p:cNvSpPr/>
          <p:nvPr/>
        </p:nvSpPr>
        <p:spPr>
          <a:xfrm>
            <a:off x="6172200" y="2633472"/>
            <a:ext cx="2377440" cy="457200"/>
          </a:xfrm>
          <a:prstGeom prst="rect">
            <a:avLst/>
          </a:prstGeom>
          <a:noFill/>
          <a:ln/>
        </p:spPr>
        <p:txBody>
          <a:bodyPr wrap="square" lIns="0" tIns="0" rIns="0" bIns="0" rtlCol="0" anchor="ctr"/>
          <a:lstStyle/>
          <a:p>
            <a:pPr marL="0" indent="0">
              <a:buNone/>
            </a:pPr>
            <a:r>
              <a:rPr lang="en-US" sz="1150" b="1" dirty="0">
                <a:solidFill>
                  <a:srgbClr val="1A7A4A"/>
                </a:solidFill>
              </a:rPr>
              <a:t>8-Head Specialization</a:t>
            </a:r>
            <a:endParaRPr lang="en-US" sz="1150" dirty="0"/>
          </a:p>
        </p:txBody>
      </p:sp>
      <p:sp>
        <p:nvSpPr>
          <p:cNvPr id="17" name="Text 15"/>
          <p:cNvSpPr/>
          <p:nvPr/>
        </p:nvSpPr>
        <p:spPr>
          <a:xfrm>
            <a:off x="6172200" y="3127248"/>
            <a:ext cx="2377440" cy="1600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Eight attention heads attend to dk=64 subspaces — allowing specialization in entity correspondence, tonal concordance, semantic cohesion, and spatial co-reference simultaneously.</a:t>
            </a:r>
            <a:endParaRPr lang="en-US" sz="1000" dirty="0"/>
          </a:p>
        </p:txBody>
      </p:sp>
      <p:sp>
        <p:nvSpPr>
          <p:cNvPr id="18" name="Text 16"/>
          <p:cNvSpPr/>
          <p:nvPr/>
        </p:nvSpPr>
        <p:spPr>
          <a:xfrm>
            <a:off x="365760" y="4645152"/>
            <a:ext cx="8412480" cy="256032"/>
          </a:xfrm>
          <a:prstGeom prst="rect">
            <a:avLst/>
          </a:prstGeom>
          <a:noFill/>
          <a:ln/>
        </p:spPr>
        <p:txBody>
          <a:bodyPr wrap="square" lIns="0" tIns="0" rIns="0" bIns="0" rtlCol="0" anchor="ctr"/>
          <a:lstStyle/>
          <a:p>
            <a:pPr marL="0" indent="0" algn="ctr">
              <a:buNone/>
            </a:pPr>
            <a:r>
              <a:rPr lang="en-US" sz="900" i="1" dirty="0">
                <a:solidFill>
                  <a:srgbClr val="17BEBB"/>
                </a:solidFill>
              </a:rPr>
              <a:t>Why gating beats concatenation: cross-attention alone adds modal noise (−0.42 F1 vs concat); the α-gate calibrates how much attended information is blended in, suppressing noise when semantic alignment is weak.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Three-Level Explainability Framework (XAI)</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16 / 30</a:t>
            </a:r>
            <a:endParaRPr lang="en-US" sz="900" dirty="0"/>
          </a:p>
        </p:txBody>
      </p:sp>
      <p:sp>
        <p:nvSpPr>
          <p:cNvPr id="5" name="Shape 3"/>
          <p:cNvSpPr/>
          <p:nvPr/>
        </p:nvSpPr>
        <p:spPr>
          <a:xfrm>
            <a:off x="274320" y="960120"/>
            <a:ext cx="2788920" cy="3977640"/>
          </a:xfrm>
          <a:prstGeom prst="roundRect">
            <a:avLst>
              <a:gd name="adj" fmla="val 262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2788920" cy="438912"/>
          </a:xfrm>
          <a:prstGeom prst="roundRect">
            <a:avLst>
              <a:gd name="adj" fmla="val 16667"/>
            </a:avLst>
          </a:prstGeom>
          <a:solidFill>
            <a:srgbClr val="0E7C7B"/>
          </a:solidFill>
          <a:ln w="12700">
            <a:solidFill>
              <a:srgbClr val="0E7C7B"/>
            </a:solidFill>
            <a:prstDash val="solid"/>
          </a:ln>
        </p:spPr>
      </p:sp>
      <p:sp>
        <p:nvSpPr>
          <p:cNvPr id="7" name="Text 5"/>
          <p:cNvSpPr/>
          <p:nvPr/>
        </p:nvSpPr>
        <p:spPr>
          <a:xfrm>
            <a:off x="274320" y="960120"/>
            <a:ext cx="2788920" cy="438912"/>
          </a:xfrm>
          <a:prstGeom prst="rect">
            <a:avLst/>
          </a:prstGeom>
          <a:noFill/>
          <a:ln/>
        </p:spPr>
        <p:txBody>
          <a:bodyPr wrap="square" lIns="0" tIns="0" rIns="0" bIns="0" rtlCol="0" anchor="ctr"/>
          <a:lstStyle/>
          <a:p>
            <a:pPr marL="0" indent="0" algn="ctr">
              <a:buNone/>
            </a:pPr>
            <a:r>
              <a:rPr lang="en-US" sz="1050" b="1" dirty="0">
                <a:solidFill>
                  <a:srgbClr val="FFFFFF"/>
                </a:solidFill>
              </a:rPr>
              <a:t>L1: Cross-Attention Heatmaps</a:t>
            </a:r>
            <a:endParaRPr lang="en-US" sz="1050" dirty="0"/>
          </a:p>
        </p:txBody>
      </p:sp>
      <p:sp>
        <p:nvSpPr>
          <p:cNvPr id="8" name="Text 6"/>
          <p:cNvSpPr/>
          <p:nvPr/>
        </p:nvSpPr>
        <p:spPr>
          <a:xfrm>
            <a:off x="384048" y="1481328"/>
            <a:ext cx="2560320" cy="201168"/>
          </a:xfrm>
          <a:prstGeom prst="rect">
            <a:avLst/>
          </a:prstGeom>
          <a:noFill/>
          <a:ln/>
        </p:spPr>
        <p:txBody>
          <a:bodyPr wrap="square" lIns="0" tIns="0" rIns="0" bIns="0" rtlCol="0" anchor="ctr"/>
          <a:lstStyle/>
          <a:p>
            <a:pPr marL="0" indent="0">
              <a:buNone/>
            </a:pPr>
            <a:r>
              <a:rPr lang="en-US" sz="850" b="1" dirty="0">
                <a:solidFill>
                  <a:srgbClr val="0E7C7B"/>
                </a:solidFill>
              </a:rPr>
              <a:t>Type:</a:t>
            </a:r>
            <a:endParaRPr lang="en-US" sz="850" dirty="0"/>
          </a:p>
        </p:txBody>
      </p:sp>
      <p:sp>
        <p:nvSpPr>
          <p:cNvPr id="9" name="Text 7"/>
          <p:cNvSpPr/>
          <p:nvPr/>
        </p:nvSpPr>
        <p:spPr>
          <a:xfrm>
            <a:off x="384048" y="166420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Intrinsic  ·  Zero cost</a:t>
            </a:r>
            <a:endParaRPr lang="en-US" sz="850" dirty="0"/>
          </a:p>
        </p:txBody>
      </p:sp>
      <p:sp>
        <p:nvSpPr>
          <p:cNvPr id="10" name="Text 8"/>
          <p:cNvSpPr/>
          <p:nvPr/>
        </p:nvSpPr>
        <p:spPr>
          <a:xfrm>
            <a:off x="384048" y="2029968"/>
            <a:ext cx="2560320" cy="201168"/>
          </a:xfrm>
          <a:prstGeom prst="rect">
            <a:avLst/>
          </a:prstGeom>
          <a:noFill/>
          <a:ln/>
        </p:spPr>
        <p:txBody>
          <a:bodyPr wrap="square" lIns="0" tIns="0" rIns="0" bIns="0" rtlCol="0" anchor="ctr"/>
          <a:lstStyle/>
          <a:p>
            <a:pPr marL="0" indent="0">
              <a:buNone/>
            </a:pPr>
            <a:r>
              <a:rPr lang="en-US" sz="850" b="1" dirty="0">
                <a:solidFill>
                  <a:srgbClr val="0E7C7B"/>
                </a:solidFill>
              </a:rPr>
              <a:t>How:</a:t>
            </a:r>
            <a:endParaRPr lang="en-US" sz="850" dirty="0"/>
          </a:p>
        </p:txBody>
      </p:sp>
      <p:sp>
        <p:nvSpPr>
          <p:cNvPr id="11" name="Text 9"/>
          <p:cNvSpPr/>
          <p:nvPr/>
        </p:nvSpPr>
        <p:spPr>
          <a:xfrm>
            <a:off x="384048" y="221284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8-head attention weights (B,8,1,196) averaged → reshaped to 14×14 → bilinear upsampled to 224×224 → overlaid with 'hot' colormap at α=0.5</a:t>
            </a:r>
            <a:endParaRPr lang="en-US" sz="850" dirty="0"/>
          </a:p>
        </p:txBody>
      </p:sp>
      <p:sp>
        <p:nvSpPr>
          <p:cNvPr id="12" name="Text 10"/>
          <p:cNvSpPr/>
          <p:nvPr/>
        </p:nvSpPr>
        <p:spPr>
          <a:xfrm>
            <a:off x="384048" y="2761488"/>
            <a:ext cx="2560320" cy="201168"/>
          </a:xfrm>
          <a:prstGeom prst="rect">
            <a:avLst/>
          </a:prstGeom>
          <a:noFill/>
          <a:ln/>
        </p:spPr>
        <p:txBody>
          <a:bodyPr wrap="square" lIns="0" tIns="0" rIns="0" bIns="0" rtlCol="0" anchor="ctr"/>
          <a:lstStyle/>
          <a:p>
            <a:pPr marL="0" indent="0">
              <a:buNone/>
            </a:pPr>
            <a:r>
              <a:rPr lang="en-US" sz="850" b="1" dirty="0">
                <a:solidFill>
                  <a:srgbClr val="0E7C7B"/>
                </a:solidFill>
              </a:rPr>
              <a:t>Granularity:</a:t>
            </a:r>
            <a:endParaRPr lang="en-US" sz="850" dirty="0"/>
          </a:p>
        </p:txBody>
      </p:sp>
      <p:sp>
        <p:nvSpPr>
          <p:cNvPr id="13" name="Text 11"/>
          <p:cNvSpPr/>
          <p:nvPr/>
        </p:nvSpPr>
        <p:spPr>
          <a:xfrm>
            <a:off x="384048" y="294436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14×14 patch grid → 224×224 image overlay</a:t>
            </a:r>
            <a:endParaRPr lang="en-US" sz="850" dirty="0"/>
          </a:p>
        </p:txBody>
      </p:sp>
      <p:sp>
        <p:nvSpPr>
          <p:cNvPr id="14" name="Text 12"/>
          <p:cNvSpPr/>
          <p:nvPr/>
        </p:nvSpPr>
        <p:spPr>
          <a:xfrm>
            <a:off x="384048" y="3310128"/>
            <a:ext cx="2560320" cy="201168"/>
          </a:xfrm>
          <a:prstGeom prst="rect">
            <a:avLst/>
          </a:prstGeom>
          <a:noFill/>
          <a:ln/>
        </p:spPr>
        <p:txBody>
          <a:bodyPr wrap="square" lIns="0" tIns="0" rIns="0" bIns="0" rtlCol="0" anchor="ctr"/>
          <a:lstStyle/>
          <a:p>
            <a:pPr marL="0" indent="0">
              <a:buNone/>
            </a:pPr>
            <a:r>
              <a:rPr lang="en-US" sz="850" b="1" dirty="0">
                <a:solidFill>
                  <a:srgbClr val="0E7C7B"/>
                </a:solidFill>
              </a:rPr>
              <a:t>Key Point:</a:t>
            </a:r>
            <a:endParaRPr lang="en-US" sz="850" dirty="0"/>
          </a:p>
        </p:txBody>
      </p:sp>
      <p:sp>
        <p:nvSpPr>
          <p:cNvPr id="15" name="Text 13"/>
          <p:cNvSpPr/>
          <p:nvPr/>
        </p:nvSpPr>
        <p:spPr>
          <a:xfrm>
            <a:off x="384048" y="349300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UNIQUE to cross-attention architecture. Concatenation-based fusion CANNOT produce spatial heatmaps intrinsically.</a:t>
            </a:r>
            <a:endParaRPr lang="en-US" sz="850" dirty="0"/>
          </a:p>
        </p:txBody>
      </p:sp>
      <p:sp>
        <p:nvSpPr>
          <p:cNvPr id="16" name="Text 14"/>
          <p:cNvSpPr/>
          <p:nvPr/>
        </p:nvSpPr>
        <p:spPr>
          <a:xfrm>
            <a:off x="384048" y="4041648"/>
            <a:ext cx="2560320" cy="201168"/>
          </a:xfrm>
          <a:prstGeom prst="rect">
            <a:avLst/>
          </a:prstGeom>
          <a:noFill/>
          <a:ln/>
        </p:spPr>
        <p:txBody>
          <a:bodyPr wrap="square" lIns="0" tIns="0" rIns="0" bIns="0" rtlCol="0" anchor="ctr"/>
          <a:lstStyle/>
          <a:p>
            <a:pPr marL="0" indent="0">
              <a:buNone/>
            </a:pPr>
            <a:r>
              <a:rPr lang="en-US" sz="850" b="1" dirty="0">
                <a:solidFill>
                  <a:srgbClr val="0E7C7B"/>
                </a:solidFill>
              </a:rPr>
              <a:t>Audience:</a:t>
            </a:r>
            <a:endParaRPr lang="en-US" sz="850" dirty="0"/>
          </a:p>
        </p:txBody>
      </p:sp>
      <p:sp>
        <p:nvSpPr>
          <p:cNvPr id="17" name="Text 15"/>
          <p:cNvSpPr/>
          <p:nvPr/>
        </p:nvSpPr>
        <p:spPr>
          <a:xfrm>
            <a:off x="384048" y="422452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Developers · Platform engineers</a:t>
            </a:r>
            <a:endParaRPr lang="en-US" sz="850" dirty="0"/>
          </a:p>
        </p:txBody>
      </p:sp>
      <p:sp>
        <p:nvSpPr>
          <p:cNvPr id="18" name="Shape 16"/>
          <p:cNvSpPr/>
          <p:nvPr/>
        </p:nvSpPr>
        <p:spPr>
          <a:xfrm>
            <a:off x="3246120" y="960120"/>
            <a:ext cx="2788920" cy="3977640"/>
          </a:xfrm>
          <a:prstGeom prst="roundRect">
            <a:avLst>
              <a:gd name="adj" fmla="val 262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9" name="Shape 17"/>
          <p:cNvSpPr/>
          <p:nvPr/>
        </p:nvSpPr>
        <p:spPr>
          <a:xfrm>
            <a:off x="3246120" y="960120"/>
            <a:ext cx="2788920" cy="438912"/>
          </a:xfrm>
          <a:prstGeom prst="roundRect">
            <a:avLst>
              <a:gd name="adj" fmla="val 16667"/>
            </a:avLst>
          </a:prstGeom>
          <a:solidFill>
            <a:srgbClr val="E8871A"/>
          </a:solidFill>
          <a:ln w="12700">
            <a:solidFill>
              <a:srgbClr val="E8871A"/>
            </a:solidFill>
            <a:prstDash val="solid"/>
          </a:ln>
        </p:spPr>
      </p:sp>
      <p:sp>
        <p:nvSpPr>
          <p:cNvPr id="20" name="Text 18"/>
          <p:cNvSpPr/>
          <p:nvPr/>
        </p:nvSpPr>
        <p:spPr>
          <a:xfrm>
            <a:off x="3246120" y="960120"/>
            <a:ext cx="2788920" cy="438912"/>
          </a:xfrm>
          <a:prstGeom prst="rect">
            <a:avLst/>
          </a:prstGeom>
          <a:noFill/>
          <a:ln/>
        </p:spPr>
        <p:txBody>
          <a:bodyPr wrap="square" lIns="0" tIns="0" rIns="0" bIns="0" rtlCol="0" anchor="ctr"/>
          <a:lstStyle/>
          <a:p>
            <a:pPr marL="0" indent="0" algn="ctr">
              <a:buNone/>
            </a:pPr>
            <a:r>
              <a:rPr lang="en-US" sz="1050" b="1" dirty="0">
                <a:solidFill>
                  <a:srgbClr val="FFFFFF"/>
                </a:solidFill>
              </a:rPr>
              <a:t>L2: SHAP (Owen Partition Explainer)</a:t>
            </a:r>
            <a:endParaRPr lang="en-US" sz="1050" dirty="0"/>
          </a:p>
        </p:txBody>
      </p:sp>
      <p:sp>
        <p:nvSpPr>
          <p:cNvPr id="21" name="Text 19"/>
          <p:cNvSpPr/>
          <p:nvPr/>
        </p:nvSpPr>
        <p:spPr>
          <a:xfrm>
            <a:off x="3355848" y="1481328"/>
            <a:ext cx="2560320" cy="201168"/>
          </a:xfrm>
          <a:prstGeom prst="rect">
            <a:avLst/>
          </a:prstGeom>
          <a:noFill/>
          <a:ln/>
        </p:spPr>
        <p:txBody>
          <a:bodyPr wrap="square" lIns="0" tIns="0" rIns="0" bIns="0" rtlCol="0" anchor="ctr"/>
          <a:lstStyle/>
          <a:p>
            <a:pPr marL="0" indent="0">
              <a:buNone/>
            </a:pPr>
            <a:r>
              <a:rPr lang="en-US" sz="850" b="1" dirty="0">
                <a:solidFill>
                  <a:srgbClr val="E8871A"/>
                </a:solidFill>
              </a:rPr>
              <a:t>Type:</a:t>
            </a:r>
            <a:endParaRPr lang="en-US" sz="850" dirty="0"/>
          </a:p>
        </p:txBody>
      </p:sp>
      <p:sp>
        <p:nvSpPr>
          <p:cNvPr id="22" name="Text 20"/>
          <p:cNvSpPr/>
          <p:nvPr/>
        </p:nvSpPr>
        <p:spPr>
          <a:xfrm>
            <a:off x="3355848" y="166420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Post-hoc  ·  1–5 sec</a:t>
            </a:r>
            <a:endParaRPr lang="en-US" sz="850" dirty="0"/>
          </a:p>
        </p:txBody>
      </p:sp>
      <p:sp>
        <p:nvSpPr>
          <p:cNvPr id="23" name="Text 21"/>
          <p:cNvSpPr/>
          <p:nvPr/>
        </p:nvSpPr>
        <p:spPr>
          <a:xfrm>
            <a:off x="3355848" y="2029968"/>
            <a:ext cx="2560320" cy="201168"/>
          </a:xfrm>
          <a:prstGeom prst="rect">
            <a:avLst/>
          </a:prstGeom>
          <a:noFill/>
          <a:ln/>
        </p:spPr>
        <p:txBody>
          <a:bodyPr wrap="square" lIns="0" tIns="0" rIns="0" bIns="0" rtlCol="0" anchor="ctr"/>
          <a:lstStyle/>
          <a:p>
            <a:pPr marL="0" indent="0">
              <a:buNone/>
            </a:pPr>
            <a:r>
              <a:rPr lang="en-US" sz="850" b="1" dirty="0">
                <a:solidFill>
                  <a:srgbClr val="E8871A"/>
                </a:solidFill>
              </a:rPr>
              <a:t>How:</a:t>
            </a:r>
            <a:endParaRPr lang="en-US" sz="850" dirty="0"/>
          </a:p>
        </p:txBody>
      </p:sp>
      <p:sp>
        <p:nvSpPr>
          <p:cNvPr id="24" name="Text 22"/>
          <p:cNvSpPr/>
          <p:nvPr/>
        </p:nvSpPr>
        <p:spPr>
          <a:xfrm>
            <a:off x="3355848" y="221284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shap.Explainer with RoBERTa tokenizer masker; Owen-value Shapley allocation across token coalitions; applied to TEXT-ONLY model for clean semantics</a:t>
            </a:r>
            <a:endParaRPr lang="en-US" sz="850" dirty="0"/>
          </a:p>
        </p:txBody>
      </p:sp>
      <p:sp>
        <p:nvSpPr>
          <p:cNvPr id="25" name="Text 23"/>
          <p:cNvSpPr/>
          <p:nvPr/>
        </p:nvSpPr>
        <p:spPr>
          <a:xfrm>
            <a:off x="3355848" y="2761488"/>
            <a:ext cx="2560320" cy="201168"/>
          </a:xfrm>
          <a:prstGeom prst="rect">
            <a:avLst/>
          </a:prstGeom>
          <a:noFill/>
          <a:ln/>
        </p:spPr>
        <p:txBody>
          <a:bodyPr wrap="square" lIns="0" tIns="0" rIns="0" bIns="0" rtlCol="0" anchor="ctr"/>
          <a:lstStyle/>
          <a:p>
            <a:pPr marL="0" indent="0">
              <a:buNone/>
            </a:pPr>
            <a:r>
              <a:rPr lang="en-US" sz="850" b="1" dirty="0">
                <a:solidFill>
                  <a:srgbClr val="E8871A"/>
                </a:solidFill>
              </a:rPr>
              <a:t>Granularity:</a:t>
            </a:r>
            <a:endParaRPr lang="en-US" sz="850" dirty="0"/>
          </a:p>
        </p:txBody>
      </p:sp>
      <p:sp>
        <p:nvSpPr>
          <p:cNvPr id="26" name="Text 24"/>
          <p:cNvSpPr/>
          <p:nvPr/>
        </p:nvSpPr>
        <p:spPr>
          <a:xfrm>
            <a:off x="3355848" y="294436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BPE sub-word token importance scores (+/− contribution bars)</a:t>
            </a:r>
            <a:endParaRPr lang="en-US" sz="850" dirty="0"/>
          </a:p>
        </p:txBody>
      </p:sp>
      <p:sp>
        <p:nvSpPr>
          <p:cNvPr id="27" name="Text 25"/>
          <p:cNvSpPr/>
          <p:nvPr/>
        </p:nvSpPr>
        <p:spPr>
          <a:xfrm>
            <a:off x="3355848" y="3310128"/>
            <a:ext cx="2560320" cy="201168"/>
          </a:xfrm>
          <a:prstGeom prst="rect">
            <a:avLst/>
          </a:prstGeom>
          <a:noFill/>
          <a:ln/>
        </p:spPr>
        <p:txBody>
          <a:bodyPr wrap="square" lIns="0" tIns="0" rIns="0" bIns="0" rtlCol="0" anchor="ctr"/>
          <a:lstStyle/>
          <a:p>
            <a:pPr marL="0" indent="0">
              <a:buNone/>
            </a:pPr>
            <a:r>
              <a:rPr lang="en-US" sz="850" b="1" dirty="0">
                <a:solidFill>
                  <a:srgbClr val="E8871A"/>
                </a:solidFill>
              </a:rPr>
              <a:t>Key Point:</a:t>
            </a:r>
            <a:endParaRPr lang="en-US" sz="850" dirty="0"/>
          </a:p>
        </p:txBody>
      </p:sp>
      <p:sp>
        <p:nvSpPr>
          <p:cNvPr id="28" name="Text 26"/>
          <p:cNvSpPr/>
          <p:nvPr/>
        </p:nvSpPr>
        <p:spPr>
          <a:xfrm>
            <a:off x="3355848" y="349300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Theoretically grounded: Shapley values satisfy identity, separability &amp; stability axioms</a:t>
            </a:r>
            <a:endParaRPr lang="en-US" sz="850" dirty="0"/>
          </a:p>
        </p:txBody>
      </p:sp>
      <p:sp>
        <p:nvSpPr>
          <p:cNvPr id="29" name="Text 27"/>
          <p:cNvSpPr/>
          <p:nvPr/>
        </p:nvSpPr>
        <p:spPr>
          <a:xfrm>
            <a:off x="3355848" y="4041648"/>
            <a:ext cx="2560320" cy="201168"/>
          </a:xfrm>
          <a:prstGeom prst="rect">
            <a:avLst/>
          </a:prstGeom>
          <a:noFill/>
          <a:ln/>
        </p:spPr>
        <p:txBody>
          <a:bodyPr wrap="square" lIns="0" tIns="0" rIns="0" bIns="0" rtlCol="0" anchor="ctr"/>
          <a:lstStyle/>
          <a:p>
            <a:pPr marL="0" indent="0">
              <a:buNone/>
            </a:pPr>
            <a:r>
              <a:rPr lang="en-US" sz="850" b="1" dirty="0">
                <a:solidFill>
                  <a:srgbClr val="E8871A"/>
                </a:solidFill>
              </a:rPr>
              <a:t>Audience:</a:t>
            </a:r>
            <a:endParaRPr lang="en-US" sz="850" dirty="0"/>
          </a:p>
        </p:txBody>
      </p:sp>
      <p:sp>
        <p:nvSpPr>
          <p:cNvPr id="30" name="Text 28"/>
          <p:cNvSpPr/>
          <p:nvPr/>
        </p:nvSpPr>
        <p:spPr>
          <a:xfrm>
            <a:off x="3355848" y="422452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Researchers · Model validators</a:t>
            </a:r>
            <a:endParaRPr lang="en-US" sz="850" dirty="0"/>
          </a:p>
        </p:txBody>
      </p:sp>
      <p:sp>
        <p:nvSpPr>
          <p:cNvPr id="31" name="Shape 29"/>
          <p:cNvSpPr/>
          <p:nvPr/>
        </p:nvSpPr>
        <p:spPr>
          <a:xfrm>
            <a:off x="6217920" y="960120"/>
            <a:ext cx="2788920" cy="3977640"/>
          </a:xfrm>
          <a:prstGeom prst="roundRect">
            <a:avLst>
              <a:gd name="adj" fmla="val 262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32" name="Shape 30"/>
          <p:cNvSpPr/>
          <p:nvPr/>
        </p:nvSpPr>
        <p:spPr>
          <a:xfrm>
            <a:off x="6217920" y="960120"/>
            <a:ext cx="2788920" cy="438912"/>
          </a:xfrm>
          <a:prstGeom prst="roundRect">
            <a:avLst>
              <a:gd name="adj" fmla="val 16667"/>
            </a:avLst>
          </a:prstGeom>
          <a:solidFill>
            <a:srgbClr val="6D2E46"/>
          </a:solidFill>
          <a:ln w="12700">
            <a:solidFill>
              <a:srgbClr val="6D2E46"/>
            </a:solidFill>
            <a:prstDash val="solid"/>
          </a:ln>
        </p:spPr>
      </p:sp>
      <p:sp>
        <p:nvSpPr>
          <p:cNvPr id="33" name="Text 31"/>
          <p:cNvSpPr/>
          <p:nvPr/>
        </p:nvSpPr>
        <p:spPr>
          <a:xfrm>
            <a:off x="6217920" y="960120"/>
            <a:ext cx="2788920" cy="438912"/>
          </a:xfrm>
          <a:prstGeom prst="rect">
            <a:avLst/>
          </a:prstGeom>
          <a:noFill/>
          <a:ln/>
        </p:spPr>
        <p:txBody>
          <a:bodyPr wrap="square" lIns="0" tIns="0" rIns="0" bIns="0" rtlCol="0" anchor="ctr"/>
          <a:lstStyle/>
          <a:p>
            <a:pPr marL="0" indent="0" algn="ctr">
              <a:buNone/>
            </a:pPr>
            <a:r>
              <a:rPr lang="en-US" sz="1050" b="1" dirty="0">
                <a:solidFill>
                  <a:srgbClr val="FFFFFF"/>
                </a:solidFill>
              </a:rPr>
              <a:t>L3: LIME (Text Explainer)</a:t>
            </a:r>
            <a:endParaRPr lang="en-US" sz="1050" dirty="0"/>
          </a:p>
        </p:txBody>
      </p:sp>
      <p:sp>
        <p:nvSpPr>
          <p:cNvPr id="34" name="Text 32"/>
          <p:cNvSpPr/>
          <p:nvPr/>
        </p:nvSpPr>
        <p:spPr>
          <a:xfrm>
            <a:off x="6327648" y="1481328"/>
            <a:ext cx="2560320" cy="201168"/>
          </a:xfrm>
          <a:prstGeom prst="rect">
            <a:avLst/>
          </a:prstGeom>
          <a:noFill/>
          <a:ln/>
        </p:spPr>
        <p:txBody>
          <a:bodyPr wrap="square" lIns="0" tIns="0" rIns="0" bIns="0" rtlCol="0" anchor="ctr"/>
          <a:lstStyle/>
          <a:p>
            <a:pPr marL="0" indent="0">
              <a:buNone/>
            </a:pPr>
            <a:r>
              <a:rPr lang="en-US" sz="850" b="1" dirty="0">
                <a:solidFill>
                  <a:srgbClr val="6D2E46"/>
                </a:solidFill>
              </a:rPr>
              <a:t>Type:</a:t>
            </a:r>
            <a:endParaRPr lang="en-US" sz="850" dirty="0"/>
          </a:p>
        </p:txBody>
      </p:sp>
      <p:sp>
        <p:nvSpPr>
          <p:cNvPr id="35" name="Text 33"/>
          <p:cNvSpPr/>
          <p:nvPr/>
        </p:nvSpPr>
        <p:spPr>
          <a:xfrm>
            <a:off x="6327648" y="166420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Post-hoc  ·  &lt; 0.5 sec</a:t>
            </a:r>
            <a:endParaRPr lang="en-US" sz="850" dirty="0"/>
          </a:p>
        </p:txBody>
      </p:sp>
      <p:sp>
        <p:nvSpPr>
          <p:cNvPr id="36" name="Text 34"/>
          <p:cNvSpPr/>
          <p:nvPr/>
        </p:nvSpPr>
        <p:spPr>
          <a:xfrm>
            <a:off x="6327648" y="2029968"/>
            <a:ext cx="2560320" cy="201168"/>
          </a:xfrm>
          <a:prstGeom prst="rect">
            <a:avLst/>
          </a:prstGeom>
          <a:noFill/>
          <a:ln/>
        </p:spPr>
        <p:txBody>
          <a:bodyPr wrap="square" lIns="0" tIns="0" rIns="0" bIns="0" rtlCol="0" anchor="ctr"/>
          <a:lstStyle/>
          <a:p>
            <a:pPr marL="0" indent="0">
              <a:buNone/>
            </a:pPr>
            <a:r>
              <a:rPr lang="en-US" sz="850" b="1" dirty="0">
                <a:solidFill>
                  <a:srgbClr val="6D2E46"/>
                </a:solidFill>
              </a:rPr>
              <a:t>How:</a:t>
            </a:r>
            <a:endParaRPr lang="en-US" sz="850" dirty="0"/>
          </a:p>
        </p:txBody>
      </p:sp>
      <p:sp>
        <p:nvSpPr>
          <p:cNvPr id="37" name="Text 35"/>
          <p:cNvSpPr/>
          <p:nvPr/>
        </p:nvSpPr>
        <p:spPr>
          <a:xfrm>
            <a:off x="6327648" y="221284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LimeTextExplainer(bow=False) · 1,000 word-deletion perturbations per sample · same text-only model as SHAP · same seed(42) → joinable by sample ID</a:t>
            </a:r>
            <a:endParaRPr lang="en-US" sz="850" dirty="0"/>
          </a:p>
        </p:txBody>
      </p:sp>
      <p:sp>
        <p:nvSpPr>
          <p:cNvPr id="38" name="Text 36"/>
          <p:cNvSpPr/>
          <p:nvPr/>
        </p:nvSpPr>
        <p:spPr>
          <a:xfrm>
            <a:off x="6327648" y="2761488"/>
            <a:ext cx="2560320" cy="201168"/>
          </a:xfrm>
          <a:prstGeom prst="rect">
            <a:avLst/>
          </a:prstGeom>
          <a:noFill/>
          <a:ln/>
        </p:spPr>
        <p:txBody>
          <a:bodyPr wrap="square" lIns="0" tIns="0" rIns="0" bIns="0" rtlCol="0" anchor="ctr"/>
          <a:lstStyle/>
          <a:p>
            <a:pPr marL="0" indent="0">
              <a:buNone/>
            </a:pPr>
            <a:r>
              <a:rPr lang="en-US" sz="850" b="1" dirty="0">
                <a:solidFill>
                  <a:srgbClr val="6D2E46"/>
                </a:solidFill>
              </a:rPr>
              <a:t>Granularity:</a:t>
            </a:r>
            <a:endParaRPr lang="en-US" sz="850" dirty="0"/>
          </a:p>
        </p:txBody>
      </p:sp>
      <p:sp>
        <p:nvSpPr>
          <p:cNvPr id="39" name="Text 37"/>
          <p:cNvSpPr/>
          <p:nvPr/>
        </p:nvSpPr>
        <p:spPr>
          <a:xfrm>
            <a:off x="6327648" y="294436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Whole-word importance (more readable than SHAP sub-word fragmentation)</a:t>
            </a:r>
            <a:endParaRPr lang="en-US" sz="850" dirty="0"/>
          </a:p>
        </p:txBody>
      </p:sp>
      <p:sp>
        <p:nvSpPr>
          <p:cNvPr id="40" name="Text 38"/>
          <p:cNvSpPr/>
          <p:nvPr/>
        </p:nvSpPr>
        <p:spPr>
          <a:xfrm>
            <a:off x="6327648" y="3310128"/>
            <a:ext cx="2560320" cy="201168"/>
          </a:xfrm>
          <a:prstGeom prst="rect">
            <a:avLst/>
          </a:prstGeom>
          <a:noFill/>
          <a:ln/>
        </p:spPr>
        <p:txBody>
          <a:bodyPr wrap="square" lIns="0" tIns="0" rIns="0" bIns="0" rtlCol="0" anchor="ctr"/>
          <a:lstStyle/>
          <a:p>
            <a:pPr marL="0" indent="0">
              <a:buNone/>
            </a:pPr>
            <a:r>
              <a:rPr lang="en-US" sz="850" b="1" dirty="0">
                <a:solidFill>
                  <a:srgbClr val="6D2E46"/>
                </a:solidFill>
              </a:rPr>
              <a:t>Key Point:</a:t>
            </a:r>
            <a:endParaRPr lang="en-US" sz="850" dirty="0"/>
          </a:p>
        </p:txBody>
      </p:sp>
      <p:sp>
        <p:nvSpPr>
          <p:cNvPr id="41" name="Text 39"/>
          <p:cNvSpPr/>
          <p:nvPr/>
        </p:nvSpPr>
        <p:spPr>
          <a:xfrm>
            <a:off x="6327648" y="3493008"/>
            <a:ext cx="2560320" cy="50292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LIME preserves multi-char tokens intact (e.g. 'Kristallnacht') that SHAP splits into BPE sub-tokens</a:t>
            </a:r>
            <a:endParaRPr lang="en-US" sz="850" dirty="0"/>
          </a:p>
        </p:txBody>
      </p:sp>
      <p:sp>
        <p:nvSpPr>
          <p:cNvPr id="42" name="Text 40"/>
          <p:cNvSpPr/>
          <p:nvPr/>
        </p:nvSpPr>
        <p:spPr>
          <a:xfrm>
            <a:off x="6327648" y="4041648"/>
            <a:ext cx="2560320" cy="201168"/>
          </a:xfrm>
          <a:prstGeom prst="rect">
            <a:avLst/>
          </a:prstGeom>
          <a:noFill/>
          <a:ln/>
        </p:spPr>
        <p:txBody>
          <a:bodyPr wrap="square" lIns="0" tIns="0" rIns="0" bIns="0" rtlCol="0" anchor="ctr"/>
          <a:lstStyle/>
          <a:p>
            <a:pPr marL="0" indent="0">
              <a:buNone/>
            </a:pPr>
            <a:r>
              <a:rPr lang="en-US" sz="850" b="1" dirty="0">
                <a:solidFill>
                  <a:srgbClr val="6D2E46"/>
                </a:solidFill>
              </a:rPr>
              <a:t>Audience:</a:t>
            </a:r>
            <a:endParaRPr lang="en-US" sz="850" dirty="0"/>
          </a:p>
        </p:txBody>
      </p:sp>
      <p:sp>
        <p:nvSpPr>
          <p:cNvPr id="43" name="Text 41"/>
          <p:cNvSpPr/>
          <p:nvPr/>
        </p:nvSpPr>
        <p:spPr>
          <a:xfrm>
            <a:off x="6327648" y="4224528"/>
            <a:ext cx="2560320" cy="320040"/>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Journalists · Policymakers · Non-technical</a:t>
            </a:r>
            <a:endParaRPr lang="en-US" sz="850" dirty="0"/>
          </a:p>
        </p:txBody>
      </p:sp>
      <p:sp>
        <p:nvSpPr>
          <p:cNvPr id="44" name="Text 42"/>
          <p:cNvSpPr/>
          <p:nvPr/>
        </p:nvSpPr>
        <p:spPr>
          <a:xfrm>
            <a:off x="274320" y="4645152"/>
            <a:ext cx="8595360" cy="256032"/>
          </a:xfrm>
          <a:prstGeom prst="rect">
            <a:avLst/>
          </a:prstGeom>
          <a:noFill/>
          <a:ln/>
        </p:spPr>
        <p:txBody>
          <a:bodyPr wrap="square" lIns="0" tIns="0" rIns="0" bIns="0" rtlCol="0" anchor="ctr"/>
          <a:lstStyle/>
          <a:p>
            <a:pPr marL="0" indent="0" algn="ctr">
              <a:buNone/>
            </a:pPr>
            <a:r>
              <a:rPr lang="en-US" sz="900" i="1" dirty="0">
                <a:solidFill>
                  <a:srgbClr val="0E7C7B"/>
                </a:solidFill>
              </a:rPr>
              <a:t>Cross-method agreement analysis on 30 stratified test samples: Agreement holds for long, signal-rich titles · Divergence on short/ambiguous titles (methodologically informative, not a failure)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Experimental Setup</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17 / 30</a:t>
            </a:r>
            <a:endParaRPr lang="en-US" sz="900" dirty="0"/>
          </a:p>
        </p:txBody>
      </p:sp>
      <p:sp>
        <p:nvSpPr>
          <p:cNvPr id="5" name="Shape 3"/>
          <p:cNvSpPr/>
          <p:nvPr/>
        </p:nvSpPr>
        <p:spPr>
          <a:xfrm>
            <a:off x="274320" y="960120"/>
            <a:ext cx="4206240" cy="3977640"/>
          </a:xfrm>
          <a:prstGeom prst="roundRect">
            <a:avLst>
              <a:gd name="adj" fmla="val 183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411480" y="1024128"/>
            <a:ext cx="3931920" cy="347472"/>
          </a:xfrm>
          <a:prstGeom prst="rect">
            <a:avLst/>
          </a:prstGeom>
          <a:noFill/>
          <a:ln/>
        </p:spPr>
        <p:txBody>
          <a:bodyPr wrap="square" lIns="0" tIns="0" rIns="0" bIns="0" rtlCol="0" anchor="ctr"/>
          <a:lstStyle/>
          <a:p>
            <a:pPr marL="0" indent="0">
              <a:buNone/>
            </a:pPr>
            <a:r>
              <a:rPr lang="en-US" sz="1300" b="1" dirty="0">
                <a:solidFill>
                  <a:srgbClr val="0E7C7B"/>
                </a:solidFill>
              </a:rPr>
              <a:t>Hardware &amp; Environment</a:t>
            </a:r>
            <a:endParaRPr lang="en-US" sz="1300" dirty="0"/>
          </a:p>
        </p:txBody>
      </p:sp>
      <p:sp>
        <p:nvSpPr>
          <p:cNvPr id="7" name="Text 5"/>
          <p:cNvSpPr/>
          <p:nvPr/>
        </p:nvSpPr>
        <p:spPr>
          <a:xfrm>
            <a:off x="411480" y="1444752"/>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GPU:</a:t>
            </a:r>
            <a:endParaRPr lang="en-US" sz="950" dirty="0"/>
          </a:p>
        </p:txBody>
      </p:sp>
      <p:sp>
        <p:nvSpPr>
          <p:cNvPr id="8" name="Text 6"/>
          <p:cNvSpPr/>
          <p:nvPr/>
        </p:nvSpPr>
        <p:spPr>
          <a:xfrm>
            <a:off x="1783080" y="1444752"/>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NVIDIA T4  16 GB VRAM (Google Colab)</a:t>
            </a:r>
            <a:endParaRPr lang="en-US" sz="950" dirty="0"/>
          </a:p>
        </p:txBody>
      </p:sp>
      <p:sp>
        <p:nvSpPr>
          <p:cNvPr id="9" name="Text 7"/>
          <p:cNvSpPr/>
          <p:nvPr/>
        </p:nvSpPr>
        <p:spPr>
          <a:xfrm>
            <a:off x="411480" y="1819656"/>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CPU:</a:t>
            </a:r>
            <a:endParaRPr lang="en-US" sz="950" dirty="0"/>
          </a:p>
        </p:txBody>
      </p:sp>
      <p:sp>
        <p:nvSpPr>
          <p:cNvPr id="10" name="Text 8"/>
          <p:cNvSpPr/>
          <p:nvPr/>
        </p:nvSpPr>
        <p:spPr>
          <a:xfrm>
            <a:off x="1783080" y="1819656"/>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Intel Xeon · 2 vCPUs · ~13 GB RAM</a:t>
            </a:r>
            <a:endParaRPr lang="en-US" sz="950" dirty="0"/>
          </a:p>
        </p:txBody>
      </p:sp>
      <p:sp>
        <p:nvSpPr>
          <p:cNvPr id="11" name="Text 9"/>
          <p:cNvSpPr/>
          <p:nvPr/>
        </p:nvSpPr>
        <p:spPr>
          <a:xfrm>
            <a:off x="411480" y="2194560"/>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Storage:</a:t>
            </a:r>
            <a:endParaRPr lang="en-US" sz="950" dirty="0"/>
          </a:p>
        </p:txBody>
      </p:sp>
      <p:sp>
        <p:nvSpPr>
          <p:cNvPr id="12" name="Text 10"/>
          <p:cNvSpPr/>
          <p:nvPr/>
        </p:nvSpPr>
        <p:spPr>
          <a:xfrm>
            <a:off x="1783080" y="2194560"/>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Local SSD 50 GB · Google Drive 5 TB</a:t>
            </a:r>
            <a:endParaRPr lang="en-US" sz="950" dirty="0"/>
          </a:p>
        </p:txBody>
      </p:sp>
      <p:sp>
        <p:nvSpPr>
          <p:cNvPr id="13" name="Text 11"/>
          <p:cNvSpPr/>
          <p:nvPr/>
        </p:nvSpPr>
        <p:spPr>
          <a:xfrm>
            <a:off x="411480" y="2569464"/>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Python:</a:t>
            </a:r>
            <a:endParaRPr lang="en-US" sz="950" dirty="0"/>
          </a:p>
        </p:txBody>
      </p:sp>
      <p:sp>
        <p:nvSpPr>
          <p:cNvPr id="14" name="Text 12"/>
          <p:cNvSpPr/>
          <p:nvPr/>
        </p:nvSpPr>
        <p:spPr>
          <a:xfrm>
            <a:off x="1783080" y="2569464"/>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3.10</a:t>
            </a:r>
            <a:endParaRPr lang="en-US" sz="950" dirty="0"/>
          </a:p>
        </p:txBody>
      </p:sp>
      <p:sp>
        <p:nvSpPr>
          <p:cNvPr id="15" name="Text 13"/>
          <p:cNvSpPr/>
          <p:nvPr/>
        </p:nvSpPr>
        <p:spPr>
          <a:xfrm>
            <a:off x="411480" y="2944368"/>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DL Framework:</a:t>
            </a:r>
            <a:endParaRPr lang="en-US" sz="950" dirty="0"/>
          </a:p>
        </p:txBody>
      </p:sp>
      <p:sp>
        <p:nvSpPr>
          <p:cNvPr id="16" name="Text 14"/>
          <p:cNvSpPr/>
          <p:nvPr/>
        </p:nvSpPr>
        <p:spPr>
          <a:xfrm>
            <a:off x="1783080" y="2944368"/>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PyTorch 2.1 (CUDA) · FP16 autocast</a:t>
            </a:r>
            <a:endParaRPr lang="en-US" sz="950" dirty="0"/>
          </a:p>
        </p:txBody>
      </p:sp>
      <p:sp>
        <p:nvSpPr>
          <p:cNvPr id="17" name="Text 15"/>
          <p:cNvSpPr/>
          <p:nvPr/>
        </p:nvSpPr>
        <p:spPr>
          <a:xfrm>
            <a:off x="411480" y="3319272"/>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Backbones:</a:t>
            </a:r>
            <a:endParaRPr lang="en-US" sz="950" dirty="0"/>
          </a:p>
        </p:txBody>
      </p:sp>
      <p:sp>
        <p:nvSpPr>
          <p:cNvPr id="18" name="Text 16"/>
          <p:cNvSpPr/>
          <p:nvPr/>
        </p:nvSpPr>
        <p:spPr>
          <a:xfrm>
            <a:off x="1783080" y="3319272"/>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HuggingFace Transformers 4.40</a:t>
            </a:r>
            <a:endParaRPr lang="en-US" sz="950" dirty="0"/>
          </a:p>
        </p:txBody>
      </p:sp>
      <p:sp>
        <p:nvSpPr>
          <p:cNvPr id="19" name="Text 17"/>
          <p:cNvSpPr/>
          <p:nvPr/>
        </p:nvSpPr>
        <p:spPr>
          <a:xfrm>
            <a:off x="411480" y="3694176"/>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Explainability:</a:t>
            </a:r>
            <a:endParaRPr lang="en-US" sz="950" dirty="0"/>
          </a:p>
        </p:txBody>
      </p:sp>
      <p:sp>
        <p:nvSpPr>
          <p:cNvPr id="20" name="Text 18"/>
          <p:cNvSpPr/>
          <p:nvPr/>
        </p:nvSpPr>
        <p:spPr>
          <a:xfrm>
            <a:off x="1783080" y="3694176"/>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SHAP 0.45 · LIME 0.2</a:t>
            </a:r>
            <a:endParaRPr lang="en-US" sz="950" dirty="0"/>
          </a:p>
        </p:txBody>
      </p:sp>
      <p:sp>
        <p:nvSpPr>
          <p:cNvPr id="21" name="Text 19"/>
          <p:cNvSpPr/>
          <p:nvPr/>
        </p:nvSpPr>
        <p:spPr>
          <a:xfrm>
            <a:off x="411480" y="4069080"/>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Eval:</a:t>
            </a:r>
            <a:endParaRPr lang="en-US" sz="950" dirty="0"/>
          </a:p>
        </p:txBody>
      </p:sp>
      <p:sp>
        <p:nvSpPr>
          <p:cNvPr id="22" name="Text 20"/>
          <p:cNvSpPr/>
          <p:nvPr/>
        </p:nvSpPr>
        <p:spPr>
          <a:xfrm>
            <a:off x="1783080" y="4069080"/>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scikit-learn · TensorBoard</a:t>
            </a:r>
            <a:endParaRPr lang="en-US" sz="950" dirty="0"/>
          </a:p>
        </p:txBody>
      </p:sp>
      <p:sp>
        <p:nvSpPr>
          <p:cNvPr id="23" name="Text 21"/>
          <p:cNvSpPr/>
          <p:nvPr/>
        </p:nvSpPr>
        <p:spPr>
          <a:xfrm>
            <a:off x="411480" y="4443984"/>
            <a:ext cx="1325880" cy="347472"/>
          </a:xfrm>
          <a:prstGeom prst="rect">
            <a:avLst/>
          </a:prstGeom>
          <a:noFill/>
          <a:ln/>
        </p:spPr>
        <p:txBody>
          <a:bodyPr wrap="square" lIns="0" tIns="0" rIns="0" bIns="0" rtlCol="0" anchor="ctr"/>
          <a:lstStyle/>
          <a:p>
            <a:pPr marL="0" indent="0">
              <a:buNone/>
            </a:pPr>
            <a:r>
              <a:rPr lang="en-US" sz="950" b="1" dirty="0">
                <a:solidFill>
                  <a:srgbClr val="0E7C7B"/>
                </a:solidFill>
              </a:rPr>
              <a:t>Version Control:</a:t>
            </a:r>
            <a:endParaRPr lang="en-US" sz="950" dirty="0"/>
          </a:p>
        </p:txBody>
      </p:sp>
      <p:sp>
        <p:nvSpPr>
          <p:cNvPr id="24" name="Text 22"/>
          <p:cNvSpPr/>
          <p:nvPr/>
        </p:nvSpPr>
        <p:spPr>
          <a:xfrm>
            <a:off x="1783080" y="4443984"/>
            <a:ext cx="2578608" cy="3474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Git/GitHub (staharizvi/hemt-clip-fnd)</a:t>
            </a:r>
            <a:endParaRPr lang="en-US" sz="950" dirty="0"/>
          </a:p>
        </p:txBody>
      </p:sp>
      <p:sp>
        <p:nvSpPr>
          <p:cNvPr id="25" name="Shape 23"/>
          <p:cNvSpPr/>
          <p:nvPr/>
        </p:nvSpPr>
        <p:spPr>
          <a:xfrm>
            <a:off x="4663440" y="960120"/>
            <a:ext cx="4206240" cy="3977640"/>
          </a:xfrm>
          <a:prstGeom prst="roundRect">
            <a:avLst>
              <a:gd name="adj" fmla="val 1839"/>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6" name="Text 24"/>
          <p:cNvSpPr/>
          <p:nvPr/>
        </p:nvSpPr>
        <p:spPr>
          <a:xfrm>
            <a:off x="4800600" y="1024128"/>
            <a:ext cx="3931920" cy="347472"/>
          </a:xfrm>
          <a:prstGeom prst="rect">
            <a:avLst/>
          </a:prstGeom>
          <a:noFill/>
          <a:ln/>
        </p:spPr>
        <p:txBody>
          <a:bodyPr wrap="square" lIns="0" tIns="0" rIns="0" bIns="0" rtlCol="0" anchor="ctr"/>
          <a:lstStyle/>
          <a:p>
            <a:pPr marL="0" indent="0">
              <a:buNone/>
            </a:pPr>
            <a:r>
              <a:rPr lang="en-US" sz="1300" b="1" dirty="0">
                <a:solidFill>
                  <a:srgbClr val="E8871A"/>
                </a:solidFill>
              </a:rPr>
              <a:t>Experimental Protocol</a:t>
            </a:r>
            <a:endParaRPr lang="en-US" sz="1300" dirty="0"/>
          </a:p>
        </p:txBody>
      </p:sp>
      <p:sp>
        <p:nvSpPr>
          <p:cNvPr id="27" name="Text 25"/>
          <p:cNvSpPr/>
          <p:nvPr/>
        </p:nvSpPr>
        <p:spPr>
          <a:xfrm>
            <a:off x="4800600" y="1444752"/>
            <a:ext cx="3931920" cy="3383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All 5 variants trained from scratch on identical HDF5 dataset</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Same 70/15/15 split · Same seed=42 · Same cross-entropy loss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Best checkpoint per variant: max validation F1 on val set</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Test set NEVER used during training or model selection</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FP16 mixed precision (torch.cuda.amp autocast + GradScaler)</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Gradient checkpointing enabled on both encoders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Per-epoch atomic checkpointing: model + optimizer + scheduler + scaler + RNG states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~6 minutes per variant on T4 · ~23 min for 4-variant ablation</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Reproducibility: seed=42 for Python / NumPy / PyTorch / CUDA</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Evaluation Metrics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18 / 30</a:t>
            </a:r>
            <a:endParaRPr lang="en-US" sz="900" dirty="0"/>
          </a:p>
        </p:txBody>
      </p:sp>
      <p:sp>
        <p:nvSpPr>
          <p:cNvPr id="5" name="Shape 3"/>
          <p:cNvSpPr/>
          <p:nvPr/>
        </p:nvSpPr>
        <p:spPr>
          <a:xfrm>
            <a:off x="274320" y="960120"/>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1234440" cy="731520"/>
          </a:xfrm>
          <a:prstGeom prst="roundRect">
            <a:avLst>
              <a:gd name="adj" fmla="val 7500"/>
            </a:avLst>
          </a:prstGeom>
          <a:solidFill>
            <a:srgbClr val="0E7C7B"/>
          </a:solidFill>
          <a:ln w="12700">
            <a:solidFill>
              <a:srgbClr val="0E7C7B"/>
            </a:solidFill>
            <a:prstDash val="solid"/>
          </a:ln>
        </p:spPr>
      </p:sp>
      <p:sp>
        <p:nvSpPr>
          <p:cNvPr id="7" name="Text 5"/>
          <p:cNvSpPr/>
          <p:nvPr/>
        </p:nvSpPr>
        <p:spPr>
          <a:xfrm>
            <a:off x="274320" y="960120"/>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rPr>
              <a:t>Accuracy</a:t>
            </a:r>
            <a:endParaRPr lang="en-US" sz="1100" dirty="0"/>
          </a:p>
        </p:txBody>
      </p:sp>
      <p:sp>
        <p:nvSpPr>
          <p:cNvPr id="8" name="Text 6"/>
          <p:cNvSpPr/>
          <p:nvPr/>
        </p:nvSpPr>
        <p:spPr>
          <a:xfrm>
            <a:off x="1627632" y="1024128"/>
            <a:ext cx="3520440" cy="594360"/>
          </a:xfrm>
          <a:prstGeom prst="rect">
            <a:avLst/>
          </a:prstGeom>
          <a:noFill/>
          <a:ln/>
        </p:spPr>
        <p:txBody>
          <a:bodyPr wrap="square" lIns="0" tIns="0" rIns="0" bIns="0" rtlCol="0" anchor="ctr"/>
          <a:lstStyle/>
          <a:p>
            <a:pPr marL="0" indent="0">
              <a:buNone/>
            </a:pPr>
            <a:r>
              <a:rPr lang="en-US" sz="1100" b="1" dirty="0">
                <a:solidFill>
                  <a:srgbClr val="0E7C7B"/>
                </a:solidFill>
                <a:latin typeface="Cambria" pitchFamily="34" charset="0"/>
                <a:ea typeface="Cambria" pitchFamily="34" charset="-122"/>
                <a:cs typeface="Cambria" pitchFamily="34" charset="-120"/>
              </a:rPr>
              <a:t>Acc = (TP + TN) / (TP + TN + FP + FN)</a:t>
            </a:r>
            <a:endParaRPr lang="en-US" sz="1100" dirty="0"/>
          </a:p>
        </p:txBody>
      </p:sp>
      <p:sp>
        <p:nvSpPr>
          <p:cNvPr id="9" name="Text 7"/>
          <p:cNvSpPr/>
          <p:nvPr/>
        </p:nvSpPr>
        <p:spPr>
          <a:xfrm>
            <a:off x="5257800" y="1024128"/>
            <a:ext cx="3474720" cy="594360"/>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Proportion of correctly classified samples. Reported for direct comparison.</a:t>
            </a:r>
            <a:endParaRPr lang="en-US" sz="1000" dirty="0"/>
          </a:p>
        </p:txBody>
      </p:sp>
      <p:sp>
        <p:nvSpPr>
          <p:cNvPr id="10" name="Shape 8"/>
          <p:cNvSpPr/>
          <p:nvPr/>
        </p:nvSpPr>
        <p:spPr>
          <a:xfrm>
            <a:off x="274320" y="1764792"/>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274320" y="1764792"/>
            <a:ext cx="1234440" cy="731520"/>
          </a:xfrm>
          <a:prstGeom prst="roundRect">
            <a:avLst>
              <a:gd name="adj" fmla="val 7500"/>
            </a:avLst>
          </a:prstGeom>
          <a:solidFill>
            <a:srgbClr val="E8871A"/>
          </a:solidFill>
          <a:ln w="12700">
            <a:solidFill>
              <a:srgbClr val="E8871A"/>
            </a:solidFill>
            <a:prstDash val="solid"/>
          </a:ln>
        </p:spPr>
      </p:sp>
      <p:sp>
        <p:nvSpPr>
          <p:cNvPr id="12" name="Text 10"/>
          <p:cNvSpPr/>
          <p:nvPr/>
        </p:nvSpPr>
        <p:spPr>
          <a:xfrm>
            <a:off x="274320" y="1764792"/>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rPr>
              <a:t>Precision</a:t>
            </a:r>
            <a:endParaRPr lang="en-US" sz="1100" dirty="0"/>
          </a:p>
        </p:txBody>
      </p:sp>
      <p:sp>
        <p:nvSpPr>
          <p:cNvPr id="13" name="Text 11"/>
          <p:cNvSpPr/>
          <p:nvPr/>
        </p:nvSpPr>
        <p:spPr>
          <a:xfrm>
            <a:off x="1627632" y="1828800"/>
            <a:ext cx="3520440" cy="594360"/>
          </a:xfrm>
          <a:prstGeom prst="rect">
            <a:avLst/>
          </a:prstGeom>
          <a:noFill/>
          <a:ln/>
        </p:spPr>
        <p:txBody>
          <a:bodyPr wrap="square" lIns="0" tIns="0" rIns="0" bIns="0" rtlCol="0" anchor="ctr"/>
          <a:lstStyle/>
          <a:p>
            <a:pPr marL="0" indent="0">
              <a:buNone/>
            </a:pPr>
            <a:r>
              <a:rPr lang="en-US" sz="1100" b="1" dirty="0">
                <a:solidFill>
                  <a:srgbClr val="E8871A"/>
                </a:solidFill>
                <a:latin typeface="Cambria" pitchFamily="34" charset="0"/>
                <a:ea typeface="Cambria" pitchFamily="34" charset="-122"/>
                <a:cs typeface="Cambria" pitchFamily="34" charset="-120"/>
              </a:rPr>
              <a:t>Prec = TP / (TP + FP)</a:t>
            </a:r>
            <a:endParaRPr lang="en-US" sz="1100" dirty="0"/>
          </a:p>
        </p:txBody>
      </p:sp>
      <p:sp>
        <p:nvSpPr>
          <p:cNvPr id="14" name="Text 12"/>
          <p:cNvSpPr/>
          <p:nvPr/>
        </p:nvSpPr>
        <p:spPr>
          <a:xfrm>
            <a:off x="5257800" y="1828800"/>
            <a:ext cx="3474720" cy="594360"/>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Fraction of predicted fakes that are truly fake. High precision = fewer false alarms.</a:t>
            </a:r>
            <a:endParaRPr lang="en-US" sz="1000" dirty="0"/>
          </a:p>
        </p:txBody>
      </p:sp>
      <p:sp>
        <p:nvSpPr>
          <p:cNvPr id="15" name="Shape 13"/>
          <p:cNvSpPr/>
          <p:nvPr/>
        </p:nvSpPr>
        <p:spPr>
          <a:xfrm>
            <a:off x="274320" y="2569464"/>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274320" y="2569464"/>
            <a:ext cx="1234440" cy="731520"/>
          </a:xfrm>
          <a:prstGeom prst="roundRect">
            <a:avLst>
              <a:gd name="adj" fmla="val 7500"/>
            </a:avLst>
          </a:prstGeom>
          <a:solidFill>
            <a:srgbClr val="1A7A4A"/>
          </a:solidFill>
          <a:ln w="12700">
            <a:solidFill>
              <a:srgbClr val="1A7A4A"/>
            </a:solidFill>
            <a:prstDash val="solid"/>
          </a:ln>
        </p:spPr>
      </p:sp>
      <p:sp>
        <p:nvSpPr>
          <p:cNvPr id="17" name="Text 15"/>
          <p:cNvSpPr/>
          <p:nvPr/>
        </p:nvSpPr>
        <p:spPr>
          <a:xfrm>
            <a:off x="274320" y="2569464"/>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rPr>
              <a:t>Recall</a:t>
            </a:r>
            <a:endParaRPr lang="en-US" sz="1100" dirty="0"/>
          </a:p>
        </p:txBody>
      </p:sp>
      <p:sp>
        <p:nvSpPr>
          <p:cNvPr id="18" name="Text 16"/>
          <p:cNvSpPr/>
          <p:nvPr/>
        </p:nvSpPr>
        <p:spPr>
          <a:xfrm>
            <a:off x="1627632" y="2633472"/>
            <a:ext cx="3520440" cy="594360"/>
          </a:xfrm>
          <a:prstGeom prst="rect">
            <a:avLst/>
          </a:prstGeom>
          <a:noFill/>
          <a:ln/>
        </p:spPr>
        <p:txBody>
          <a:bodyPr wrap="square" lIns="0" tIns="0" rIns="0" bIns="0" rtlCol="0" anchor="ctr"/>
          <a:lstStyle/>
          <a:p>
            <a:pPr marL="0" indent="0">
              <a:buNone/>
            </a:pPr>
            <a:r>
              <a:rPr lang="en-US" sz="1100" b="1" dirty="0">
                <a:solidFill>
                  <a:srgbClr val="1A7A4A"/>
                </a:solidFill>
                <a:latin typeface="Cambria" pitchFamily="34" charset="0"/>
                <a:ea typeface="Cambria" pitchFamily="34" charset="-122"/>
                <a:cs typeface="Cambria" pitchFamily="34" charset="-120"/>
              </a:rPr>
              <a:t>Rec = TP / (TP + FN)</a:t>
            </a:r>
            <a:endParaRPr lang="en-US" sz="1100" dirty="0"/>
          </a:p>
        </p:txBody>
      </p:sp>
      <p:sp>
        <p:nvSpPr>
          <p:cNvPr id="19" name="Text 17"/>
          <p:cNvSpPr/>
          <p:nvPr/>
        </p:nvSpPr>
        <p:spPr>
          <a:xfrm>
            <a:off x="5257800" y="2633472"/>
            <a:ext cx="3474720" cy="594360"/>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Fraction of actual fakes that are caught. High recall = fewer missed fake posts. Prioritized in moderation.</a:t>
            </a:r>
            <a:endParaRPr lang="en-US" sz="1000" dirty="0"/>
          </a:p>
        </p:txBody>
      </p:sp>
      <p:sp>
        <p:nvSpPr>
          <p:cNvPr id="20" name="Shape 18"/>
          <p:cNvSpPr/>
          <p:nvPr/>
        </p:nvSpPr>
        <p:spPr>
          <a:xfrm>
            <a:off x="274320" y="3374136"/>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274320" y="3374136"/>
            <a:ext cx="1234440" cy="731520"/>
          </a:xfrm>
          <a:prstGeom prst="roundRect">
            <a:avLst>
              <a:gd name="adj" fmla="val 7500"/>
            </a:avLst>
          </a:prstGeom>
          <a:solidFill>
            <a:srgbClr val="6D2E46"/>
          </a:solidFill>
          <a:ln w="12700">
            <a:solidFill>
              <a:srgbClr val="6D2E46"/>
            </a:solidFill>
            <a:prstDash val="solid"/>
          </a:ln>
        </p:spPr>
      </p:sp>
      <p:sp>
        <p:nvSpPr>
          <p:cNvPr id="22" name="Text 20"/>
          <p:cNvSpPr/>
          <p:nvPr/>
        </p:nvSpPr>
        <p:spPr>
          <a:xfrm>
            <a:off x="274320" y="3374136"/>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rPr>
              <a:t>F1-Score</a:t>
            </a:r>
            <a:endParaRPr lang="en-US" sz="1100" dirty="0"/>
          </a:p>
        </p:txBody>
      </p:sp>
      <p:sp>
        <p:nvSpPr>
          <p:cNvPr id="23" name="Text 21"/>
          <p:cNvSpPr/>
          <p:nvPr/>
        </p:nvSpPr>
        <p:spPr>
          <a:xfrm>
            <a:off x="1627632" y="3438144"/>
            <a:ext cx="3520440" cy="594360"/>
          </a:xfrm>
          <a:prstGeom prst="rect">
            <a:avLst/>
          </a:prstGeom>
          <a:noFill/>
          <a:ln/>
        </p:spPr>
        <p:txBody>
          <a:bodyPr wrap="square" lIns="0" tIns="0" rIns="0" bIns="0" rtlCol="0" anchor="ctr"/>
          <a:lstStyle/>
          <a:p>
            <a:pPr marL="0" indent="0">
              <a:buNone/>
            </a:pPr>
            <a:r>
              <a:rPr lang="en-US" sz="1100" b="1" dirty="0">
                <a:solidFill>
                  <a:srgbClr val="6D2E46"/>
                </a:solidFill>
                <a:latin typeface="Cambria" pitchFamily="34" charset="0"/>
                <a:ea typeface="Cambria" pitchFamily="34" charset="-122"/>
                <a:cs typeface="Cambria" pitchFamily="34" charset="-120"/>
              </a:rPr>
              <a:t>F1 = 2 × (Prec × Rec) / (Prec + Rec)</a:t>
            </a:r>
            <a:endParaRPr lang="en-US" sz="1100" dirty="0"/>
          </a:p>
        </p:txBody>
      </p:sp>
      <p:sp>
        <p:nvSpPr>
          <p:cNvPr id="24" name="Text 22"/>
          <p:cNvSpPr/>
          <p:nvPr/>
        </p:nvSpPr>
        <p:spPr>
          <a:xfrm>
            <a:off x="5257800" y="3438144"/>
            <a:ext cx="3474720" cy="594360"/>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Harmonic mean of Precision and Recall. PRIMARY metric for model selection and comparison.</a:t>
            </a:r>
            <a:endParaRPr lang="en-US" sz="1000" dirty="0"/>
          </a:p>
        </p:txBody>
      </p:sp>
      <p:sp>
        <p:nvSpPr>
          <p:cNvPr id="25" name="Shape 23"/>
          <p:cNvSpPr/>
          <p:nvPr/>
        </p:nvSpPr>
        <p:spPr>
          <a:xfrm>
            <a:off x="274320" y="4178808"/>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6" name="Shape 24"/>
          <p:cNvSpPr/>
          <p:nvPr/>
        </p:nvSpPr>
        <p:spPr>
          <a:xfrm>
            <a:off x="274320" y="4178808"/>
            <a:ext cx="1234440" cy="731520"/>
          </a:xfrm>
          <a:prstGeom prst="roundRect">
            <a:avLst>
              <a:gd name="adj" fmla="val 7500"/>
            </a:avLst>
          </a:prstGeom>
          <a:solidFill>
            <a:srgbClr val="C0392B"/>
          </a:solidFill>
          <a:ln w="12700">
            <a:solidFill>
              <a:srgbClr val="C0392B"/>
            </a:solidFill>
            <a:prstDash val="solid"/>
          </a:ln>
        </p:spPr>
      </p:sp>
      <p:sp>
        <p:nvSpPr>
          <p:cNvPr id="27" name="Text 25"/>
          <p:cNvSpPr/>
          <p:nvPr/>
        </p:nvSpPr>
        <p:spPr>
          <a:xfrm>
            <a:off x="274320" y="4178808"/>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rPr>
              <a:t>AUC-ROC</a:t>
            </a:r>
            <a:endParaRPr lang="en-US" sz="1100" dirty="0"/>
          </a:p>
        </p:txBody>
      </p:sp>
      <p:sp>
        <p:nvSpPr>
          <p:cNvPr id="28" name="Text 26"/>
          <p:cNvSpPr/>
          <p:nvPr/>
        </p:nvSpPr>
        <p:spPr>
          <a:xfrm>
            <a:off x="1627632" y="4242816"/>
            <a:ext cx="3520440" cy="594360"/>
          </a:xfrm>
          <a:prstGeom prst="rect">
            <a:avLst/>
          </a:prstGeom>
          <a:noFill/>
          <a:ln/>
        </p:spPr>
        <p:txBody>
          <a:bodyPr wrap="square" lIns="0" tIns="0" rIns="0" bIns="0" rtlCol="0" anchor="ctr"/>
          <a:lstStyle/>
          <a:p>
            <a:pPr marL="0" indent="0">
              <a:buNone/>
            </a:pPr>
            <a:r>
              <a:rPr lang="en-US" sz="1100" b="1" dirty="0">
                <a:solidFill>
                  <a:srgbClr val="C0392B"/>
                </a:solidFill>
                <a:latin typeface="Cambria" pitchFamily="34" charset="0"/>
                <a:ea typeface="Cambria" pitchFamily="34" charset="-122"/>
                <a:cs typeface="Cambria" pitchFamily="34" charset="-120"/>
              </a:rPr>
              <a:t>AUC = ∫₀¹ TPR(FPR⁻¹(t)) dt</a:t>
            </a:r>
            <a:endParaRPr lang="en-US" sz="1100" dirty="0"/>
          </a:p>
        </p:txBody>
      </p:sp>
      <p:sp>
        <p:nvSpPr>
          <p:cNvPr id="29" name="Text 27"/>
          <p:cNvSpPr/>
          <p:nvPr/>
        </p:nvSpPr>
        <p:spPr>
          <a:xfrm>
            <a:off x="5257800" y="4242816"/>
            <a:ext cx="3474720" cy="594360"/>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Threshold-independent discriminative ability. Confirms F1 gains are not threshold artifacts. Secondary metric.</a:t>
            </a:r>
            <a:endParaRPr lang="en-US" sz="1000" dirty="0"/>
          </a:p>
        </p:txBody>
      </p:sp>
      <p:sp>
        <p:nvSpPr>
          <p:cNvPr id="30" name="Text 28"/>
          <p:cNvSpPr/>
          <p:nvPr/>
        </p:nvSpPr>
        <p:spPr>
          <a:xfrm>
            <a:off x="274320" y="4956048"/>
            <a:ext cx="8595360" cy="201168"/>
          </a:xfrm>
          <a:prstGeom prst="rect">
            <a:avLst/>
          </a:prstGeom>
          <a:noFill/>
          <a:ln/>
        </p:spPr>
        <p:txBody>
          <a:bodyPr wrap="square" lIns="0" tIns="0" rIns="0" bIns="0" rtlCol="0" anchor="ctr"/>
          <a:lstStyle/>
          <a:p>
            <a:pPr marL="0" indent="0" algn="ctr">
              <a:buNone/>
            </a:pPr>
            <a:r>
              <a:rPr lang="en-US" sz="900" i="1" dirty="0">
                <a:solidFill>
                  <a:srgbClr val="7A8FA6"/>
                </a:solidFill>
              </a:rPr>
              <a:t>Model selection: best checkpoint chosen by VALIDATION F1 only · Final evaluation: TEST set (n=2,573, never touched during training)</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Two-Stage Fine-Tuning Strategy</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19 / 30</a:t>
            </a:r>
            <a:endParaRPr lang="en-US" sz="900" dirty="0"/>
          </a:p>
        </p:txBody>
      </p:sp>
      <p:sp>
        <p:nvSpPr>
          <p:cNvPr id="5" name="Shape 3"/>
          <p:cNvSpPr/>
          <p:nvPr/>
        </p:nvSpPr>
        <p:spPr>
          <a:xfrm>
            <a:off x="274320" y="960120"/>
            <a:ext cx="4069080" cy="2926080"/>
          </a:xfrm>
          <a:prstGeom prst="roundRect">
            <a:avLst>
              <a:gd name="adj" fmla="val 25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4069080" cy="457200"/>
          </a:xfrm>
          <a:prstGeom prst="roundRect">
            <a:avLst>
              <a:gd name="adj" fmla="val 16000"/>
            </a:avLst>
          </a:prstGeom>
          <a:solidFill>
            <a:srgbClr val="0E7C7B"/>
          </a:solidFill>
          <a:ln w="12700">
            <a:solidFill>
              <a:srgbClr val="0E7C7B"/>
            </a:solidFill>
            <a:prstDash val="solid"/>
          </a:ln>
        </p:spPr>
      </p:sp>
      <p:sp>
        <p:nvSpPr>
          <p:cNvPr id="7" name="Text 5"/>
          <p:cNvSpPr/>
          <p:nvPr/>
        </p:nvSpPr>
        <p:spPr>
          <a:xfrm>
            <a:off x="274320" y="960120"/>
            <a:ext cx="4069080" cy="457200"/>
          </a:xfrm>
          <a:prstGeom prst="rect">
            <a:avLst/>
          </a:prstGeom>
          <a:noFill/>
          <a:ln/>
        </p:spPr>
        <p:txBody>
          <a:bodyPr wrap="square" lIns="0" tIns="0" rIns="0" bIns="0" rtlCol="0" anchor="ctr"/>
          <a:lstStyle/>
          <a:p>
            <a:pPr marL="0" indent="0" algn="ctr">
              <a:buNone/>
            </a:pPr>
            <a:r>
              <a:rPr lang="en-US" sz="1100" b="1" dirty="0">
                <a:solidFill>
                  <a:srgbClr val="FFFFFF"/>
                </a:solidFill>
              </a:rPr>
              <a:t>Stage 1 — Head Warm-up  (1 Epoch, lr = 1×10⁻⁴)</a:t>
            </a:r>
            <a:endParaRPr lang="en-US" sz="1100" dirty="0"/>
          </a:p>
        </p:txBody>
      </p:sp>
      <p:sp>
        <p:nvSpPr>
          <p:cNvPr id="8" name="Text 6"/>
          <p:cNvSpPr/>
          <p:nvPr/>
        </p:nvSpPr>
        <p:spPr>
          <a:xfrm>
            <a:off x="411480" y="1508760"/>
            <a:ext cx="379476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Both encoders FULLY FROZEN (RoBERTa + CLIP ViT)</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Trainable: Projection head, Cross-attention fusion, FFN, Classifier MLP</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Randomly initialized classification head converges to stable loss basin</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Prevents large early gradients from disrupting pretrained representations</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Duration: ~1–2 minutes on T4</a:t>
            </a:r>
            <a:endParaRPr lang="en-US" sz="1000" dirty="0"/>
          </a:p>
        </p:txBody>
      </p:sp>
      <p:sp>
        <p:nvSpPr>
          <p:cNvPr id="9" name="Shape 7"/>
          <p:cNvSpPr/>
          <p:nvPr/>
        </p:nvSpPr>
        <p:spPr>
          <a:xfrm>
            <a:off x="4617720" y="960120"/>
            <a:ext cx="4160520" cy="2926080"/>
          </a:xfrm>
          <a:prstGeom prst="roundRect">
            <a:avLst>
              <a:gd name="adj" fmla="val 25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Shape 8"/>
          <p:cNvSpPr/>
          <p:nvPr/>
        </p:nvSpPr>
        <p:spPr>
          <a:xfrm>
            <a:off x="4617720" y="960120"/>
            <a:ext cx="4160520" cy="457200"/>
          </a:xfrm>
          <a:prstGeom prst="roundRect">
            <a:avLst>
              <a:gd name="adj" fmla="val 16000"/>
            </a:avLst>
          </a:prstGeom>
          <a:solidFill>
            <a:srgbClr val="E8871A"/>
          </a:solidFill>
          <a:ln w="12700">
            <a:solidFill>
              <a:srgbClr val="E8871A"/>
            </a:solidFill>
            <a:prstDash val="solid"/>
          </a:ln>
        </p:spPr>
      </p:sp>
      <p:sp>
        <p:nvSpPr>
          <p:cNvPr id="11" name="Text 9"/>
          <p:cNvSpPr/>
          <p:nvPr/>
        </p:nvSpPr>
        <p:spPr>
          <a:xfrm>
            <a:off x="4617720" y="960120"/>
            <a:ext cx="4160520" cy="457200"/>
          </a:xfrm>
          <a:prstGeom prst="rect">
            <a:avLst/>
          </a:prstGeom>
          <a:noFill/>
          <a:ln/>
        </p:spPr>
        <p:txBody>
          <a:bodyPr wrap="square" lIns="0" tIns="0" rIns="0" bIns="0" rtlCol="0" anchor="ctr"/>
          <a:lstStyle/>
          <a:p>
            <a:pPr marL="0" indent="0" algn="ctr">
              <a:buNone/>
            </a:pPr>
            <a:r>
              <a:rPr lang="en-US" sz="1100" b="1" dirty="0">
                <a:solidFill>
                  <a:srgbClr val="FFFFFF"/>
                </a:solidFill>
              </a:rPr>
              <a:t>Stage 2 — Encoder Fine-tuning  (≤6 Epochs, lr = 2×10⁻⁵)</a:t>
            </a:r>
            <a:endParaRPr lang="en-US" sz="1100" dirty="0"/>
          </a:p>
        </p:txBody>
      </p:sp>
      <p:sp>
        <p:nvSpPr>
          <p:cNvPr id="12" name="Text 10"/>
          <p:cNvSpPr/>
          <p:nvPr/>
        </p:nvSpPr>
        <p:spPr>
          <a:xfrm>
            <a:off x="4754880" y="1508760"/>
            <a:ext cx="388620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Unfrozen: Last 4 RoBERTa layers (8–11) + Last 4 CLIP ViT blocks (8–11)</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Symmetric unfreezing: equal task adaptation for both encoders</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New optimizer + scheduler: linear warmup over 10% of steps</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Early stopping on validation F1 (patience = 3 epochs)</a:t>
            </a:r>
            <a:endParaRPr lang="en-US" sz="1000" dirty="0"/>
          </a:p>
          <a:p>
            <a:pPr marL="342900" indent="-342900">
              <a:spcAft>
                <a:spcPts val="400"/>
              </a:spcAft>
              <a:buSzPct val="100000"/>
              <a:buChar char="•"/>
            </a:pPr>
            <a:r>
              <a:rPr lang="en-US" sz="1000" dirty="0">
                <a:solidFill>
                  <a:srgbClr val="1C2B3A"/>
                </a:solidFill>
                <a:latin typeface="Calibri" pitchFamily="34" charset="0"/>
                <a:ea typeface="Calibri" pitchFamily="34" charset="-122"/>
                <a:cs typeface="Calibri" pitchFamily="34" charset="-120"/>
              </a:rPr>
              <a:t>Gradient clipping: max norm = 1.0</a:t>
            </a:r>
            <a:endParaRPr lang="en-US" sz="1000" dirty="0"/>
          </a:p>
        </p:txBody>
      </p:sp>
      <p:sp>
        <p:nvSpPr>
          <p:cNvPr id="13" name="Shape 11"/>
          <p:cNvSpPr/>
          <p:nvPr/>
        </p:nvSpPr>
        <p:spPr>
          <a:xfrm>
            <a:off x="274320" y="4005072"/>
            <a:ext cx="8503920" cy="804672"/>
          </a:xfrm>
          <a:prstGeom prst="roundRect">
            <a:avLst>
              <a:gd name="adj" fmla="val 9091"/>
            </a:avLst>
          </a:prstGeom>
          <a:solidFill>
            <a:srgbClr val="F0F8F8"/>
          </a:solidFill>
          <a:ln w="12700">
            <a:solidFill>
              <a:srgbClr val="DDEAEA"/>
            </a:solidFill>
            <a:prstDash val="solid"/>
          </a:ln>
          <a:effectLst>
            <a:outerShdw blurRad="101600" dist="38100" dir="2700000" algn="bl" rotWithShape="0">
              <a:srgbClr val="000000">
                <a:alpha val="13000"/>
              </a:srgbClr>
            </a:outerShdw>
          </a:effectLst>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4005072"/>
          <a:ext cx="8503920" cy="804672"/>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402336">
                <a:tc>
                  <a:txBody>
                    <a:bodyPr/>
                    <a:lstStyle/>
                    <a:p>
                      <a:pPr marL="0" indent="0" algn="ctr">
                        <a:buNone/>
                      </a:pPr>
                      <a:r>
                        <a:rPr lang="en-US" sz="1200" b="1" dirty="0">
                          <a:solidFill>
                            <a:srgbClr val="1C2B3A"/>
                          </a:solidFill>
                        </a:rPr>
                        <a:t>Optimizer</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b="1" dirty="0">
                          <a:solidFill>
                            <a:srgbClr val="1C2B3A"/>
                          </a:solidFill>
                        </a:rPr>
                        <a:t>Batch Size</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b="1" dirty="0">
                          <a:solidFill>
                            <a:srgbClr val="1C2B3A"/>
                          </a:solidFill>
                        </a:rPr>
                        <a:t>Eff. Batch</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b="1" dirty="0">
                          <a:solidFill>
                            <a:srgbClr val="1C2B3A"/>
                          </a:solidFill>
                        </a:rPr>
                        <a:t>Precision</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b="1" dirty="0">
                          <a:solidFill>
                            <a:srgbClr val="1C2B3A"/>
                          </a:solidFill>
                        </a:rPr>
                        <a:t>Weight Decay</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b="1" dirty="0">
                          <a:solidFill>
                            <a:srgbClr val="1C2B3A"/>
                          </a:solidFill>
                        </a:rPr>
                        <a:t>Fusion Dropout</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lgn="ctr">
                        <a:buNone/>
                      </a:pPr>
                      <a:r>
                        <a:rPr lang="en-US" sz="1200" dirty="0">
                          <a:solidFill>
                            <a:srgbClr val="000000"/>
                          </a:solidFill>
                        </a:rPr>
                        <a:t>AdamW</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16</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32 (grad accum×2)</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FP16</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0.01</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0.2</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Ablation Study: Model Variants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20 / 30</a:t>
            </a:r>
            <a:endParaRPr lang="en-US" sz="900" dirty="0"/>
          </a:p>
        </p:txBody>
      </p:sp>
      <p:sp>
        <p:nvSpPr>
          <p:cNvPr id="5" name="Shape 3"/>
          <p:cNvSpPr/>
          <p:nvPr/>
        </p:nvSpPr>
        <p:spPr>
          <a:xfrm>
            <a:off x="274320" y="960120"/>
            <a:ext cx="8595360" cy="713232"/>
          </a:xfrm>
          <a:prstGeom prst="roundRect">
            <a:avLst>
              <a:gd name="adj" fmla="val 1025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2606040" cy="713232"/>
          </a:xfrm>
          <a:prstGeom prst="roundRect">
            <a:avLst>
              <a:gd name="adj" fmla="val 7692"/>
            </a:avLst>
          </a:prstGeom>
          <a:solidFill>
            <a:srgbClr val="7A8FA6"/>
          </a:solidFill>
          <a:ln w="12700">
            <a:solidFill>
              <a:srgbClr val="7A8FA6"/>
            </a:solidFill>
            <a:prstDash val="solid"/>
          </a:ln>
        </p:spPr>
      </p:sp>
      <p:sp>
        <p:nvSpPr>
          <p:cNvPr id="7" name="Text 5"/>
          <p:cNvSpPr/>
          <p:nvPr/>
        </p:nvSpPr>
        <p:spPr>
          <a:xfrm>
            <a:off x="274320" y="960120"/>
            <a:ext cx="2606040" cy="713232"/>
          </a:xfrm>
          <a:prstGeom prst="rect">
            <a:avLst/>
          </a:prstGeom>
          <a:noFill/>
          <a:ln/>
        </p:spPr>
        <p:txBody>
          <a:bodyPr wrap="square" lIns="0" tIns="0" rIns="0" bIns="0" rtlCol="0" anchor="ctr"/>
          <a:lstStyle/>
          <a:p>
            <a:pPr marL="0" indent="0" algn="ctr">
              <a:buNone/>
            </a:pPr>
            <a:r>
              <a:rPr lang="en-US" sz="1000" b="1" dirty="0">
                <a:solidFill>
                  <a:srgbClr val="FFFFFF"/>
                </a:solidFill>
              </a:rPr>
              <a:t>Text-Only Baseline</a:t>
            </a:r>
            <a:endParaRPr lang="en-US" sz="1000" dirty="0"/>
          </a:p>
        </p:txBody>
      </p:sp>
      <p:sp>
        <p:nvSpPr>
          <p:cNvPr id="8" name="Text 6"/>
          <p:cNvSpPr/>
          <p:nvPr/>
        </p:nvSpPr>
        <p:spPr>
          <a:xfrm>
            <a:off x="2971800" y="1005840"/>
            <a:ext cx="502920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RoBERTa-base encoder → MLP classifier. Tests text-only discriminative power.</a:t>
            </a:r>
            <a:endParaRPr lang="en-US" sz="950" dirty="0"/>
          </a:p>
        </p:txBody>
      </p:sp>
      <p:sp>
        <p:nvSpPr>
          <p:cNvPr id="9" name="Text 7"/>
          <p:cNvSpPr/>
          <p:nvPr/>
        </p:nvSpPr>
        <p:spPr>
          <a:xfrm>
            <a:off x="8092440" y="1005840"/>
            <a:ext cx="822960" cy="640080"/>
          </a:xfrm>
          <a:prstGeom prst="rect">
            <a:avLst/>
          </a:prstGeom>
          <a:noFill/>
          <a:ln/>
        </p:spPr>
        <p:txBody>
          <a:bodyPr wrap="square" lIns="0" tIns="0" rIns="0" bIns="0" rtlCol="0" anchor="ctr"/>
          <a:lstStyle/>
          <a:p>
            <a:pPr marL="0" indent="0" algn="ctr">
              <a:buNone/>
            </a:pPr>
            <a:r>
              <a:rPr lang="en-US" sz="1000" b="1" dirty="0">
                <a:solidFill>
                  <a:srgbClr val="7A8FA6"/>
                </a:solidFill>
              </a:rPr>
              <a:t>14.70M</a:t>
            </a:r>
            <a:endParaRPr lang="en-US" sz="1000" dirty="0"/>
          </a:p>
        </p:txBody>
      </p:sp>
      <p:sp>
        <p:nvSpPr>
          <p:cNvPr id="10" name="Shape 8"/>
          <p:cNvSpPr/>
          <p:nvPr/>
        </p:nvSpPr>
        <p:spPr>
          <a:xfrm>
            <a:off x="274320" y="1746504"/>
            <a:ext cx="8595360" cy="713232"/>
          </a:xfrm>
          <a:prstGeom prst="roundRect">
            <a:avLst>
              <a:gd name="adj" fmla="val 1025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274320" y="1746504"/>
            <a:ext cx="2606040" cy="713232"/>
          </a:xfrm>
          <a:prstGeom prst="roundRect">
            <a:avLst>
              <a:gd name="adj" fmla="val 7692"/>
            </a:avLst>
          </a:prstGeom>
          <a:solidFill>
            <a:srgbClr val="1A7A4A"/>
          </a:solidFill>
          <a:ln w="12700">
            <a:solidFill>
              <a:srgbClr val="1A7A4A"/>
            </a:solidFill>
            <a:prstDash val="solid"/>
          </a:ln>
        </p:spPr>
      </p:sp>
      <p:sp>
        <p:nvSpPr>
          <p:cNvPr id="12" name="Text 10"/>
          <p:cNvSpPr/>
          <p:nvPr/>
        </p:nvSpPr>
        <p:spPr>
          <a:xfrm>
            <a:off x="274320" y="1746504"/>
            <a:ext cx="2606040" cy="713232"/>
          </a:xfrm>
          <a:prstGeom prst="rect">
            <a:avLst/>
          </a:prstGeom>
          <a:noFill/>
          <a:ln/>
        </p:spPr>
        <p:txBody>
          <a:bodyPr wrap="square" lIns="0" tIns="0" rIns="0" bIns="0" rtlCol="0" anchor="ctr"/>
          <a:lstStyle/>
          <a:p>
            <a:pPr marL="0" indent="0" algn="ctr">
              <a:buNone/>
            </a:pPr>
            <a:r>
              <a:rPr lang="en-US" sz="1000" b="1" dirty="0">
                <a:solidFill>
                  <a:srgbClr val="FFFFFF"/>
                </a:solidFill>
              </a:rPr>
              <a:t>Image-Only Baseline</a:t>
            </a:r>
            <a:endParaRPr lang="en-US" sz="1000" dirty="0"/>
          </a:p>
        </p:txBody>
      </p:sp>
      <p:sp>
        <p:nvSpPr>
          <p:cNvPr id="13" name="Text 11"/>
          <p:cNvSpPr/>
          <p:nvPr/>
        </p:nvSpPr>
        <p:spPr>
          <a:xfrm>
            <a:off x="2971800" y="1792224"/>
            <a:ext cx="502920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CLIP ViT-B/16 image encoder → MLP classifier. Tests visual-only signal.</a:t>
            </a:r>
            <a:endParaRPr lang="en-US" sz="950" dirty="0"/>
          </a:p>
        </p:txBody>
      </p:sp>
      <p:sp>
        <p:nvSpPr>
          <p:cNvPr id="14" name="Text 12"/>
          <p:cNvSpPr/>
          <p:nvPr/>
        </p:nvSpPr>
        <p:spPr>
          <a:xfrm>
            <a:off x="8092440" y="1792224"/>
            <a:ext cx="822960" cy="640080"/>
          </a:xfrm>
          <a:prstGeom prst="rect">
            <a:avLst/>
          </a:prstGeom>
          <a:noFill/>
          <a:ln/>
        </p:spPr>
        <p:txBody>
          <a:bodyPr wrap="square" lIns="0" tIns="0" rIns="0" bIns="0" rtlCol="0" anchor="ctr"/>
          <a:lstStyle/>
          <a:p>
            <a:pPr marL="0" indent="0" algn="ctr">
              <a:buNone/>
            </a:pPr>
            <a:r>
              <a:rPr lang="en-US" sz="1000" b="1" dirty="0">
                <a:solidFill>
                  <a:srgbClr val="1A7A4A"/>
                </a:solidFill>
              </a:rPr>
              <a:t>15.10M</a:t>
            </a:r>
            <a:endParaRPr lang="en-US" sz="1000" dirty="0"/>
          </a:p>
        </p:txBody>
      </p:sp>
      <p:sp>
        <p:nvSpPr>
          <p:cNvPr id="15" name="Shape 13"/>
          <p:cNvSpPr/>
          <p:nvPr/>
        </p:nvSpPr>
        <p:spPr>
          <a:xfrm>
            <a:off x="274320" y="2532888"/>
            <a:ext cx="8595360" cy="713232"/>
          </a:xfrm>
          <a:prstGeom prst="roundRect">
            <a:avLst>
              <a:gd name="adj" fmla="val 1025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274320" y="2532888"/>
            <a:ext cx="2606040" cy="713232"/>
          </a:xfrm>
          <a:prstGeom prst="roundRect">
            <a:avLst>
              <a:gd name="adj" fmla="val 7692"/>
            </a:avLst>
          </a:prstGeom>
          <a:solidFill>
            <a:srgbClr val="E8871A"/>
          </a:solidFill>
          <a:ln w="12700">
            <a:solidFill>
              <a:srgbClr val="E8871A"/>
            </a:solidFill>
            <a:prstDash val="solid"/>
          </a:ln>
        </p:spPr>
      </p:sp>
      <p:sp>
        <p:nvSpPr>
          <p:cNvPr id="17" name="Text 15"/>
          <p:cNvSpPr/>
          <p:nvPr/>
        </p:nvSpPr>
        <p:spPr>
          <a:xfrm>
            <a:off x="274320" y="2532888"/>
            <a:ext cx="2606040" cy="713232"/>
          </a:xfrm>
          <a:prstGeom prst="rect">
            <a:avLst/>
          </a:prstGeom>
          <a:noFill/>
          <a:ln/>
        </p:spPr>
        <p:txBody>
          <a:bodyPr wrap="square" lIns="0" tIns="0" rIns="0" bIns="0" rtlCol="0" anchor="ctr"/>
          <a:lstStyle/>
          <a:p>
            <a:pPr marL="0" indent="0" algn="ctr">
              <a:buNone/>
            </a:pPr>
            <a:r>
              <a:rPr lang="en-US" sz="1000" b="1" dirty="0">
                <a:solidFill>
                  <a:srgbClr val="FFFFFF"/>
                </a:solidFill>
              </a:rPr>
              <a:t>Concatenation Fusion</a:t>
            </a:r>
            <a:endParaRPr lang="en-US" sz="1000" dirty="0"/>
          </a:p>
        </p:txBody>
      </p:sp>
      <p:sp>
        <p:nvSpPr>
          <p:cNvPr id="18" name="Text 16"/>
          <p:cNvSpPr/>
          <p:nvPr/>
        </p:nvSpPr>
        <p:spPr>
          <a:xfrm>
            <a:off x="2971800" y="2578608"/>
            <a:ext cx="502920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Text features + Image CLS features concatenated → MLP. Multimodal baseline without cross-modal interaction.</a:t>
            </a:r>
            <a:endParaRPr lang="en-US" sz="950" dirty="0"/>
          </a:p>
        </p:txBody>
      </p:sp>
      <p:sp>
        <p:nvSpPr>
          <p:cNvPr id="19" name="Text 17"/>
          <p:cNvSpPr/>
          <p:nvPr/>
        </p:nvSpPr>
        <p:spPr>
          <a:xfrm>
            <a:off x="8092440" y="2578608"/>
            <a:ext cx="822960" cy="640080"/>
          </a:xfrm>
          <a:prstGeom prst="rect">
            <a:avLst/>
          </a:prstGeom>
          <a:noFill/>
          <a:ln/>
        </p:spPr>
        <p:txBody>
          <a:bodyPr wrap="square" lIns="0" tIns="0" rIns="0" bIns="0" rtlCol="0" anchor="ctr"/>
          <a:lstStyle/>
          <a:p>
            <a:pPr marL="0" indent="0" algn="ctr">
              <a:buNone/>
            </a:pPr>
            <a:r>
              <a:rPr lang="en-US" sz="1000" b="1" dirty="0">
                <a:solidFill>
                  <a:srgbClr val="E8871A"/>
                </a:solidFill>
              </a:rPr>
              <a:t>29.80M</a:t>
            </a:r>
            <a:endParaRPr lang="en-US" sz="1000" dirty="0"/>
          </a:p>
        </p:txBody>
      </p:sp>
      <p:sp>
        <p:nvSpPr>
          <p:cNvPr id="20" name="Shape 18"/>
          <p:cNvSpPr/>
          <p:nvPr/>
        </p:nvSpPr>
        <p:spPr>
          <a:xfrm>
            <a:off x="274320" y="3319272"/>
            <a:ext cx="8595360" cy="713232"/>
          </a:xfrm>
          <a:prstGeom prst="roundRect">
            <a:avLst>
              <a:gd name="adj" fmla="val 1025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274320" y="3319272"/>
            <a:ext cx="2606040" cy="713232"/>
          </a:xfrm>
          <a:prstGeom prst="roundRect">
            <a:avLst>
              <a:gd name="adj" fmla="val 7692"/>
            </a:avLst>
          </a:prstGeom>
          <a:solidFill>
            <a:srgbClr val="6D2E46"/>
          </a:solidFill>
          <a:ln w="12700">
            <a:solidFill>
              <a:srgbClr val="6D2E46"/>
            </a:solidFill>
            <a:prstDash val="solid"/>
          </a:ln>
        </p:spPr>
      </p:sp>
      <p:sp>
        <p:nvSpPr>
          <p:cNvPr id="22" name="Text 20"/>
          <p:cNvSpPr/>
          <p:nvPr/>
        </p:nvSpPr>
        <p:spPr>
          <a:xfrm>
            <a:off x="274320" y="3319272"/>
            <a:ext cx="2606040" cy="713232"/>
          </a:xfrm>
          <a:prstGeom prst="rect">
            <a:avLst/>
          </a:prstGeom>
          <a:noFill/>
          <a:ln/>
        </p:spPr>
        <p:txBody>
          <a:bodyPr wrap="square" lIns="0" tIns="0" rIns="0" bIns="0" rtlCol="0" anchor="ctr"/>
          <a:lstStyle/>
          <a:p>
            <a:pPr marL="0" indent="0" algn="ctr">
              <a:buNone/>
            </a:pPr>
            <a:r>
              <a:rPr lang="en-US" sz="1000" b="1" dirty="0">
                <a:solidFill>
                  <a:srgbClr val="FFFFFF"/>
                </a:solidFill>
              </a:rPr>
              <a:t>HEMT-CLIP α-feature</a:t>
            </a:r>
            <a:endParaRPr lang="en-US" sz="1000" dirty="0"/>
          </a:p>
        </p:txBody>
      </p:sp>
      <p:sp>
        <p:nvSpPr>
          <p:cNvPr id="23" name="Text 21"/>
          <p:cNvSpPr/>
          <p:nvPr/>
        </p:nvSpPr>
        <p:spPr>
          <a:xfrm>
            <a:off x="2971800" y="3364992"/>
            <a:ext cx="5029200" cy="640080"/>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Cross-attention (same as full model) + α concatenated as extra input feature to classifier. Tests if similarity-awareness without gating helps.</a:t>
            </a:r>
            <a:endParaRPr lang="en-US" sz="950" dirty="0"/>
          </a:p>
        </p:txBody>
      </p:sp>
      <p:sp>
        <p:nvSpPr>
          <p:cNvPr id="24" name="Text 22"/>
          <p:cNvSpPr/>
          <p:nvPr/>
        </p:nvSpPr>
        <p:spPr>
          <a:xfrm>
            <a:off x="8092440" y="3364992"/>
            <a:ext cx="822960" cy="640080"/>
          </a:xfrm>
          <a:prstGeom prst="rect">
            <a:avLst/>
          </a:prstGeom>
          <a:noFill/>
          <a:ln/>
        </p:spPr>
        <p:txBody>
          <a:bodyPr wrap="square" lIns="0" tIns="0" rIns="0" bIns="0" rtlCol="0" anchor="ctr"/>
          <a:lstStyle/>
          <a:p>
            <a:pPr marL="0" indent="0" algn="ctr">
              <a:buNone/>
            </a:pPr>
            <a:r>
              <a:rPr lang="en-US" sz="1000" b="1" dirty="0">
                <a:solidFill>
                  <a:srgbClr val="6D2E46"/>
                </a:solidFill>
              </a:rPr>
              <a:t>32.82M</a:t>
            </a:r>
            <a:endParaRPr lang="en-US" sz="1000" dirty="0"/>
          </a:p>
        </p:txBody>
      </p:sp>
      <p:sp>
        <p:nvSpPr>
          <p:cNvPr id="25" name="Shape 23"/>
          <p:cNvSpPr/>
          <p:nvPr/>
        </p:nvSpPr>
        <p:spPr>
          <a:xfrm>
            <a:off x="274320" y="4105656"/>
            <a:ext cx="8595360" cy="713232"/>
          </a:xfrm>
          <a:prstGeom prst="roundRect">
            <a:avLst>
              <a:gd name="adj" fmla="val 10256"/>
            </a:avLst>
          </a:prstGeom>
          <a:solidFill>
            <a:srgbClr val="0E7C7B"/>
          </a:solidFill>
          <a:ln w="12700">
            <a:solidFill>
              <a:srgbClr val="DDEAEA"/>
            </a:solidFill>
            <a:prstDash val="solid"/>
          </a:ln>
          <a:effectLst>
            <a:outerShdw blurRad="101600" dist="38100" dir="2700000" algn="bl" rotWithShape="0">
              <a:srgbClr val="000000">
                <a:alpha val="13000"/>
              </a:srgbClr>
            </a:outerShdw>
          </a:effectLst>
        </p:spPr>
      </p:sp>
      <p:sp>
        <p:nvSpPr>
          <p:cNvPr id="26" name="Shape 24"/>
          <p:cNvSpPr/>
          <p:nvPr/>
        </p:nvSpPr>
        <p:spPr>
          <a:xfrm>
            <a:off x="274320" y="4105656"/>
            <a:ext cx="2606040" cy="713232"/>
          </a:xfrm>
          <a:prstGeom prst="roundRect">
            <a:avLst>
              <a:gd name="adj" fmla="val 7692"/>
            </a:avLst>
          </a:prstGeom>
          <a:solidFill>
            <a:srgbClr val="0E7C7B"/>
          </a:solidFill>
          <a:ln w="12700">
            <a:solidFill>
              <a:srgbClr val="0E7C7B"/>
            </a:solidFill>
            <a:prstDash val="solid"/>
          </a:ln>
        </p:spPr>
      </p:sp>
      <p:sp>
        <p:nvSpPr>
          <p:cNvPr id="27" name="Text 25"/>
          <p:cNvSpPr/>
          <p:nvPr/>
        </p:nvSpPr>
        <p:spPr>
          <a:xfrm>
            <a:off x="274320" y="4105656"/>
            <a:ext cx="2606040" cy="713232"/>
          </a:xfrm>
          <a:prstGeom prst="rect">
            <a:avLst/>
          </a:prstGeom>
          <a:noFill/>
          <a:ln/>
        </p:spPr>
        <p:txBody>
          <a:bodyPr wrap="square" lIns="0" tIns="0" rIns="0" bIns="0" rtlCol="0" anchor="ctr"/>
          <a:lstStyle/>
          <a:p>
            <a:pPr marL="0" indent="0" algn="ctr">
              <a:buNone/>
            </a:pPr>
            <a:r>
              <a:rPr lang="en-US" sz="1000" b="1" dirty="0">
                <a:solidFill>
                  <a:srgbClr val="FFFFFF"/>
                </a:solidFill>
              </a:rPr>
              <a:t>HEMT-CLIP α-gate (Full)</a:t>
            </a:r>
            <a:endParaRPr lang="en-US" sz="1000" dirty="0"/>
          </a:p>
        </p:txBody>
      </p:sp>
      <p:sp>
        <p:nvSpPr>
          <p:cNvPr id="28" name="Text 26"/>
          <p:cNvSpPr/>
          <p:nvPr/>
        </p:nvSpPr>
        <p:spPr>
          <a:xfrm>
            <a:off x="2971800" y="4151376"/>
            <a:ext cx="502920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Cross-attention + α used as GATING COEFFICIENT. The proposed design. fused = α·attended + (1−α)·text.</a:t>
            </a:r>
            <a:endParaRPr lang="en-US" sz="950" dirty="0"/>
          </a:p>
        </p:txBody>
      </p:sp>
      <p:sp>
        <p:nvSpPr>
          <p:cNvPr id="29" name="Text 27"/>
          <p:cNvSpPr/>
          <p:nvPr/>
        </p:nvSpPr>
        <p:spPr>
          <a:xfrm>
            <a:off x="8092440" y="4151376"/>
            <a:ext cx="822960" cy="640080"/>
          </a:xfrm>
          <a:prstGeom prst="rect">
            <a:avLst/>
          </a:prstGeom>
          <a:noFill/>
          <a:ln/>
        </p:spPr>
        <p:txBody>
          <a:bodyPr wrap="square" lIns="0" tIns="0" rIns="0" bIns="0" rtlCol="0" anchor="ctr"/>
          <a:lstStyle/>
          <a:p>
            <a:pPr marL="0" indent="0" algn="ctr">
              <a:buNone/>
            </a:pPr>
            <a:r>
              <a:rPr lang="en-US" sz="1000" b="1" dirty="0">
                <a:solidFill>
                  <a:srgbClr val="FFFFFF"/>
                </a:solidFill>
              </a:rPr>
              <a:t>32.82M</a:t>
            </a:r>
            <a:endParaRPr lang="en-US" sz="1000" dirty="0"/>
          </a:p>
        </p:txBody>
      </p:sp>
      <p:sp>
        <p:nvSpPr>
          <p:cNvPr id="30" name="Text 28"/>
          <p:cNvSpPr/>
          <p:nvPr/>
        </p:nvSpPr>
        <p:spPr>
          <a:xfrm>
            <a:off x="8092440" y="859536"/>
            <a:ext cx="822960" cy="219456"/>
          </a:xfrm>
          <a:prstGeom prst="rect">
            <a:avLst/>
          </a:prstGeom>
          <a:noFill/>
          <a:ln/>
        </p:spPr>
        <p:txBody>
          <a:bodyPr wrap="square" lIns="0" tIns="0" rIns="0" bIns="0" rtlCol="0" anchor="ctr"/>
          <a:lstStyle/>
          <a:p>
            <a:pPr marL="0" indent="0" algn="ctr">
              <a:buNone/>
            </a:pPr>
            <a:r>
              <a:rPr lang="en-US" sz="800" b="1" dirty="0">
                <a:solidFill>
                  <a:srgbClr val="7A8FA6"/>
                </a:solidFill>
              </a:rPr>
              <a:t>Params →</a:t>
            </a:r>
            <a:endParaRPr lang="en-US" sz="800" dirty="0"/>
          </a:p>
        </p:txBody>
      </p:sp>
      <p:sp>
        <p:nvSpPr>
          <p:cNvPr id="31" name="Text 29"/>
          <p:cNvSpPr/>
          <p:nvPr/>
        </p:nvSpPr>
        <p:spPr>
          <a:xfrm>
            <a:off x="274320" y="4937760"/>
            <a:ext cx="8595360" cy="201168"/>
          </a:xfrm>
          <a:prstGeom prst="rect">
            <a:avLst/>
          </a:prstGeom>
          <a:noFill/>
          <a:ln/>
        </p:spPr>
        <p:txBody>
          <a:bodyPr wrap="square" lIns="0" tIns="0" rIns="0" bIns="0" rtlCol="0" anchor="ctr"/>
          <a:lstStyle/>
          <a:p>
            <a:pPr marL="0" indent="0" algn="ctr">
              <a:buNone/>
            </a:pPr>
            <a:r>
              <a:rPr lang="en-US" sz="900" i="1" dirty="0">
                <a:solidFill>
                  <a:srgbClr val="7A8FA6"/>
                </a:solidFill>
              </a:rPr>
              <a:t>All variants: same HDF5 dataset · same 70/15/15 split · same hyperparameters · same seed=42 · best checkpoint by max validation F1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Experimental Results: Test Set Performance (n = 2,573)</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21 / 30</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2331720"/>
        </p:xfrm>
        <a:graphic>
          <a:graphicData uri="http://schemas.openxmlformats.org/drawingml/2006/table">
            <a:tbl>
              <a:tblPr/>
              <a:tblGrid>
                <a:gridCol w="169164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13232">
                  <a:extLst>
                    <a:ext uri="{9D8B030D-6E8A-4147-A177-3AD203B41FA5}">
                      <a16:colId xmlns:a16="http://schemas.microsoft.com/office/drawing/2014/main" val="20005"/>
                    </a:ext>
                  </a:extLst>
                </a:gridCol>
                <a:gridCol w="749808">
                  <a:extLst>
                    <a:ext uri="{9D8B030D-6E8A-4147-A177-3AD203B41FA5}">
                      <a16:colId xmlns:a16="http://schemas.microsoft.com/office/drawing/2014/main" val="20006"/>
                    </a:ext>
                  </a:extLst>
                </a:gridCol>
                <a:gridCol w="749808">
                  <a:extLst>
                    <a:ext uri="{9D8B030D-6E8A-4147-A177-3AD203B41FA5}">
                      <a16:colId xmlns:a16="http://schemas.microsoft.com/office/drawing/2014/main" val="20007"/>
                    </a:ext>
                  </a:extLst>
                </a:gridCol>
              </a:tblGrid>
              <a:tr h="402336">
                <a:tc>
                  <a:txBody>
                    <a:bodyPr/>
                    <a:lstStyle/>
                    <a:p>
                      <a:pPr marL="0" indent="0">
                        <a:buNone/>
                      </a:pPr>
                      <a:r>
                        <a:rPr lang="en-US" sz="900" b="1" dirty="0">
                          <a:solidFill>
                            <a:srgbClr val="FFFFFF"/>
                          </a:solidFill>
                        </a:rPr>
                        <a:t>Variant</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Val F1</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Test F1</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Test Acc</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Test Prec</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Test Rec</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Test AUC</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Params</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402336">
                <a:tc>
                  <a:txBody>
                    <a:bodyPr/>
                    <a:lstStyle/>
                    <a:p>
                      <a:pPr marL="0" indent="0">
                        <a:buNone/>
                      </a:pPr>
                      <a:r>
                        <a:rPr lang="en-US" sz="900" dirty="0">
                          <a:solidFill>
                            <a:srgbClr val="1C2B3A"/>
                          </a:solidFill>
                        </a:rPr>
                        <a:t>Text-only</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0.7702</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0.7827</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0.7773</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0.7522</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0.8158</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0.8545</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14.70M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extLst>
                  <a:ext uri="{0D108BD9-81ED-4DB2-BD59-A6C34878D82A}">
                    <a16:rowId xmlns:a16="http://schemas.microsoft.com/office/drawing/2014/main" val="10001"/>
                  </a:ext>
                </a:extLst>
              </a:tr>
              <a:tr h="402336">
                <a:tc>
                  <a:txBody>
                    <a:bodyPr/>
                    <a:lstStyle/>
                    <a:p>
                      <a:pPr marL="0" indent="0">
                        <a:buNone/>
                      </a:pPr>
                      <a:r>
                        <a:rPr lang="en-US" sz="900" dirty="0">
                          <a:solidFill>
                            <a:srgbClr val="1C2B3A"/>
                          </a:solidFill>
                        </a:rPr>
                        <a:t>Image-only</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0.8012</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0.8135</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0.8061</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0.7716</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0.8601</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0.8824</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15.10M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900" dirty="0">
                          <a:solidFill>
                            <a:srgbClr val="1C2B3A"/>
                          </a:solidFill>
                        </a:rPr>
                        <a:t>Concat fusion</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0.8204</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0.8319</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0.8286</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0.8034</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0.8625</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0.9042</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tc>
                  <a:txBody>
                    <a:bodyPr/>
                    <a:lstStyle/>
                    <a:p>
                      <a:pPr marL="0" indent="0">
                        <a:buNone/>
                      </a:pPr>
                      <a:r>
                        <a:rPr lang="en-US" sz="900" dirty="0">
                          <a:solidFill>
                            <a:srgbClr val="1C2B3A"/>
                          </a:solidFill>
                        </a:rPr>
                        <a:t>29.80M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0F8F8"/>
                    </a:solidFill>
                  </a:tcPr>
                </a:tc>
                <a:extLst>
                  <a:ext uri="{0D108BD9-81ED-4DB2-BD59-A6C34878D82A}">
                    <a16:rowId xmlns:a16="http://schemas.microsoft.com/office/drawing/2014/main" val="10003"/>
                  </a:ext>
                </a:extLst>
              </a:tr>
              <a:tr h="402336">
                <a:tc>
                  <a:txBody>
                    <a:bodyPr/>
                    <a:lstStyle/>
                    <a:p>
                      <a:pPr marL="0" indent="0">
                        <a:buNone/>
                      </a:pPr>
                      <a:r>
                        <a:rPr lang="en-US" sz="900" dirty="0">
                          <a:solidFill>
                            <a:srgbClr val="1C2B3A"/>
                          </a:solidFill>
                        </a:rPr>
                        <a:t>HEMT-CLIP α-feat</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0.8229</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0.8277</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0.8189</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0.7776</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0.8846</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0.8919</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tc>
                  <a:txBody>
                    <a:bodyPr/>
                    <a:lstStyle/>
                    <a:p>
                      <a:pPr marL="0" indent="0">
                        <a:buNone/>
                      </a:pPr>
                      <a:r>
                        <a:rPr lang="en-US" sz="900" dirty="0">
                          <a:solidFill>
                            <a:srgbClr val="1C2B3A"/>
                          </a:solidFill>
                        </a:rPr>
                        <a:t>32.82M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900" b="1" dirty="0">
                          <a:solidFill>
                            <a:srgbClr val="FFFFFF"/>
                          </a:solidFill>
                        </a:rPr>
                        <a:t>HEMT-CLIP α-gate ★</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0.8464</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0.8393</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0.8313</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0.7895</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0.8957</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0.9122</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buNone/>
                      </a:pPr>
                      <a:r>
                        <a:rPr lang="en-US" sz="900" b="1" dirty="0">
                          <a:solidFill>
                            <a:srgbClr val="FFFFFF"/>
                          </a:solidFill>
                        </a:rPr>
                        <a:t>32.82M</a:t>
                      </a:r>
                      <a:endParaRPr lang="en-US" sz="9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5"/>
                  </a:ext>
                </a:extLst>
              </a:tr>
            </a:tbl>
          </a:graphicData>
        </a:graphic>
      </p:graphicFrame>
      <p:sp>
        <p:nvSpPr>
          <p:cNvPr id="6" name="Shape 3"/>
          <p:cNvSpPr/>
          <p:nvPr/>
        </p:nvSpPr>
        <p:spPr>
          <a:xfrm>
            <a:off x="274320" y="3474720"/>
            <a:ext cx="2011680" cy="1417320"/>
          </a:xfrm>
          <a:prstGeom prst="roundRect">
            <a:avLst>
              <a:gd name="adj" fmla="val 516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7" name="Text 4"/>
          <p:cNvSpPr/>
          <p:nvPr/>
        </p:nvSpPr>
        <p:spPr>
          <a:xfrm>
            <a:off x="274320" y="3566160"/>
            <a:ext cx="2011680" cy="594360"/>
          </a:xfrm>
          <a:prstGeom prst="rect">
            <a:avLst/>
          </a:prstGeom>
          <a:noFill/>
          <a:ln/>
        </p:spPr>
        <p:txBody>
          <a:bodyPr wrap="square" lIns="0" tIns="0" rIns="0" bIns="0" rtlCol="0" anchor="ctr"/>
          <a:lstStyle/>
          <a:p>
            <a:pPr marL="0" indent="0" algn="ctr">
              <a:buNone/>
            </a:pPr>
            <a:r>
              <a:rPr lang="en-US" sz="2600" b="1" dirty="0">
                <a:solidFill>
                  <a:srgbClr val="0E7C7B"/>
                </a:solidFill>
              </a:rPr>
              <a:t>+2.58 F1</a:t>
            </a:r>
            <a:endParaRPr lang="en-US" sz="2600" dirty="0"/>
          </a:p>
        </p:txBody>
      </p:sp>
      <p:sp>
        <p:nvSpPr>
          <p:cNvPr id="8" name="Text 5"/>
          <p:cNvSpPr/>
          <p:nvPr/>
        </p:nvSpPr>
        <p:spPr>
          <a:xfrm>
            <a:off x="274320" y="4187952"/>
            <a:ext cx="2011680" cy="594360"/>
          </a:xfrm>
          <a:prstGeom prst="rect">
            <a:avLst/>
          </a:prstGeom>
          <a:noFill/>
          <a:ln/>
        </p:spPr>
        <p:txBody>
          <a:bodyPr wrap="square" lIns="0" tIns="0" rIns="0" bIns="0" rtlCol="0" anchor="ctr"/>
          <a:lstStyle/>
          <a:p>
            <a:pPr marL="0" indent="0" algn="ctr">
              <a:buNone/>
            </a:pPr>
            <a:r>
              <a:rPr lang="en-US" sz="1000" dirty="0">
                <a:solidFill>
                  <a:srgbClr val="1C2B3A"/>
                </a:solidFill>
                <a:latin typeface="Calibri" pitchFamily="34" charset="0"/>
                <a:ea typeface="Calibri" pitchFamily="34" charset="-122"/>
                <a:cs typeface="Calibri" pitchFamily="34" charset="-120"/>
              </a:rPr>
              <a:t>Multimodal over image-only</a:t>
            </a:r>
            <a:endParaRPr lang="en-US" sz="1000" dirty="0"/>
          </a:p>
        </p:txBody>
      </p:sp>
      <p:sp>
        <p:nvSpPr>
          <p:cNvPr id="9" name="Shape 6"/>
          <p:cNvSpPr/>
          <p:nvPr/>
        </p:nvSpPr>
        <p:spPr>
          <a:xfrm>
            <a:off x="2450592" y="3474720"/>
            <a:ext cx="2011680" cy="1417320"/>
          </a:xfrm>
          <a:prstGeom prst="roundRect">
            <a:avLst>
              <a:gd name="adj" fmla="val 516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Text 7"/>
          <p:cNvSpPr/>
          <p:nvPr/>
        </p:nvSpPr>
        <p:spPr>
          <a:xfrm>
            <a:off x="2450592" y="3566160"/>
            <a:ext cx="2011680" cy="594360"/>
          </a:xfrm>
          <a:prstGeom prst="rect">
            <a:avLst/>
          </a:prstGeom>
          <a:noFill/>
          <a:ln/>
        </p:spPr>
        <p:txBody>
          <a:bodyPr wrap="square" lIns="0" tIns="0" rIns="0" bIns="0" rtlCol="0" anchor="ctr"/>
          <a:lstStyle/>
          <a:p>
            <a:pPr marL="0" indent="0" algn="ctr">
              <a:buNone/>
            </a:pPr>
            <a:r>
              <a:rPr lang="en-US" sz="2600" b="1" dirty="0">
                <a:solidFill>
                  <a:srgbClr val="E8871A"/>
                </a:solidFill>
              </a:rPr>
              <a:t>+0.74 F1</a:t>
            </a:r>
            <a:endParaRPr lang="en-US" sz="2600" dirty="0"/>
          </a:p>
        </p:txBody>
      </p:sp>
      <p:sp>
        <p:nvSpPr>
          <p:cNvPr id="11" name="Text 8"/>
          <p:cNvSpPr/>
          <p:nvPr/>
        </p:nvSpPr>
        <p:spPr>
          <a:xfrm>
            <a:off x="2450592" y="4187952"/>
            <a:ext cx="2011680" cy="594360"/>
          </a:xfrm>
          <a:prstGeom prst="rect">
            <a:avLst/>
          </a:prstGeom>
          <a:noFill/>
          <a:ln/>
        </p:spPr>
        <p:txBody>
          <a:bodyPr wrap="square" lIns="0" tIns="0" rIns="0" bIns="0" rtlCol="0" anchor="ctr"/>
          <a:lstStyle/>
          <a:p>
            <a:pPr marL="0" indent="0" algn="ctr">
              <a:buNone/>
            </a:pPr>
            <a:r>
              <a:rPr lang="en-US" sz="1000" dirty="0">
                <a:solidFill>
                  <a:srgbClr val="1C2B3A"/>
                </a:solidFill>
                <a:latin typeface="Calibri" pitchFamily="34" charset="0"/>
                <a:ea typeface="Calibri" pitchFamily="34" charset="-122"/>
                <a:cs typeface="Calibri" pitchFamily="34" charset="-120"/>
              </a:rPr>
              <a:t>α-gate over concat</a:t>
            </a:r>
            <a:endParaRPr lang="en-US" sz="1000" dirty="0"/>
          </a:p>
        </p:txBody>
      </p:sp>
      <p:sp>
        <p:nvSpPr>
          <p:cNvPr id="12" name="Shape 9"/>
          <p:cNvSpPr/>
          <p:nvPr/>
        </p:nvSpPr>
        <p:spPr>
          <a:xfrm>
            <a:off x="4626864" y="3474720"/>
            <a:ext cx="2011680" cy="1417320"/>
          </a:xfrm>
          <a:prstGeom prst="roundRect">
            <a:avLst>
              <a:gd name="adj" fmla="val 516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3" name="Text 10"/>
          <p:cNvSpPr/>
          <p:nvPr/>
        </p:nvSpPr>
        <p:spPr>
          <a:xfrm>
            <a:off x="4626864" y="3566160"/>
            <a:ext cx="2011680" cy="594360"/>
          </a:xfrm>
          <a:prstGeom prst="rect">
            <a:avLst/>
          </a:prstGeom>
          <a:noFill/>
          <a:ln/>
        </p:spPr>
        <p:txBody>
          <a:bodyPr wrap="square" lIns="0" tIns="0" rIns="0" bIns="0" rtlCol="0" anchor="ctr"/>
          <a:lstStyle/>
          <a:p>
            <a:pPr marL="0" indent="0" algn="ctr">
              <a:buNone/>
            </a:pPr>
            <a:r>
              <a:rPr lang="en-US" sz="2600" b="1" dirty="0">
                <a:solidFill>
                  <a:srgbClr val="6D2E46"/>
                </a:solidFill>
              </a:rPr>
              <a:t>+1.16 F1</a:t>
            </a:r>
            <a:endParaRPr lang="en-US" sz="2600" dirty="0"/>
          </a:p>
        </p:txBody>
      </p:sp>
      <p:sp>
        <p:nvSpPr>
          <p:cNvPr id="14" name="Text 11"/>
          <p:cNvSpPr/>
          <p:nvPr/>
        </p:nvSpPr>
        <p:spPr>
          <a:xfrm>
            <a:off x="4626864" y="4187952"/>
            <a:ext cx="2011680" cy="594360"/>
          </a:xfrm>
          <a:prstGeom prst="rect">
            <a:avLst/>
          </a:prstGeom>
          <a:noFill/>
          <a:ln/>
        </p:spPr>
        <p:txBody>
          <a:bodyPr wrap="square" lIns="0" tIns="0" rIns="0" bIns="0" rtlCol="0" anchor="ctr"/>
          <a:lstStyle/>
          <a:p>
            <a:pPr marL="0" indent="0" algn="ctr">
              <a:buNone/>
            </a:pPr>
            <a:r>
              <a:rPr lang="en-US" sz="1000" dirty="0">
                <a:solidFill>
                  <a:srgbClr val="1C2B3A"/>
                </a:solidFill>
                <a:latin typeface="Calibri" pitchFamily="34" charset="0"/>
                <a:ea typeface="Calibri" pitchFamily="34" charset="-122"/>
                <a:cs typeface="Calibri" pitchFamily="34" charset="-120"/>
              </a:rPr>
              <a:t>Gate over α-feature</a:t>
            </a:r>
            <a:endParaRPr lang="en-US" sz="1000" dirty="0"/>
          </a:p>
        </p:txBody>
      </p:sp>
      <p:sp>
        <p:nvSpPr>
          <p:cNvPr id="15" name="Shape 12"/>
          <p:cNvSpPr/>
          <p:nvPr/>
        </p:nvSpPr>
        <p:spPr>
          <a:xfrm>
            <a:off x="6803136" y="3474720"/>
            <a:ext cx="2011680" cy="1417320"/>
          </a:xfrm>
          <a:prstGeom prst="roundRect">
            <a:avLst>
              <a:gd name="adj" fmla="val 516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Text 13"/>
          <p:cNvSpPr/>
          <p:nvPr/>
        </p:nvSpPr>
        <p:spPr>
          <a:xfrm>
            <a:off x="6803136" y="3566160"/>
            <a:ext cx="2011680" cy="594360"/>
          </a:xfrm>
          <a:prstGeom prst="rect">
            <a:avLst/>
          </a:prstGeom>
          <a:noFill/>
          <a:ln/>
        </p:spPr>
        <p:txBody>
          <a:bodyPr wrap="square" lIns="0" tIns="0" rIns="0" bIns="0" rtlCol="0" anchor="ctr"/>
          <a:lstStyle/>
          <a:p>
            <a:pPr marL="0" indent="0" algn="ctr">
              <a:buNone/>
            </a:pPr>
            <a:r>
              <a:rPr lang="en-US" sz="2600" b="1" dirty="0">
                <a:solidFill>
                  <a:srgbClr val="C0392B"/>
                </a:solidFill>
              </a:rPr>
              <a:t>+2.03 AUC</a:t>
            </a:r>
            <a:endParaRPr lang="en-US" sz="2600" dirty="0"/>
          </a:p>
        </p:txBody>
      </p:sp>
      <p:sp>
        <p:nvSpPr>
          <p:cNvPr id="17" name="Text 14"/>
          <p:cNvSpPr/>
          <p:nvPr/>
        </p:nvSpPr>
        <p:spPr>
          <a:xfrm>
            <a:off x="6803136" y="4187952"/>
            <a:ext cx="2011680" cy="594360"/>
          </a:xfrm>
          <a:prstGeom prst="rect">
            <a:avLst/>
          </a:prstGeom>
          <a:noFill/>
          <a:ln/>
        </p:spPr>
        <p:txBody>
          <a:bodyPr wrap="square" lIns="0" tIns="0" rIns="0" bIns="0" rtlCol="0" anchor="ctr"/>
          <a:lstStyle/>
          <a:p>
            <a:pPr marL="0" indent="0" algn="ctr">
              <a:buNone/>
            </a:pPr>
            <a:r>
              <a:rPr lang="en-US" sz="1000" dirty="0">
                <a:solidFill>
                  <a:srgbClr val="1C2B3A"/>
                </a:solidFill>
                <a:latin typeface="Calibri" pitchFamily="34" charset="0"/>
                <a:ea typeface="Calibri" pitchFamily="34" charset="-122"/>
                <a:cs typeface="Calibri" pitchFamily="34" charset="-120"/>
              </a:rPr>
              <a:t>Gate over α-feature</a:t>
            </a:r>
            <a:endParaRPr lang="en-US" sz="1000" dirty="0"/>
          </a:p>
        </p:txBody>
      </p:sp>
      <p:sp>
        <p:nvSpPr>
          <p:cNvPr id="18" name="Text 15"/>
          <p:cNvSpPr/>
          <p:nvPr/>
        </p:nvSpPr>
        <p:spPr>
          <a:xfrm>
            <a:off x="274320" y="4956048"/>
            <a:ext cx="8595360" cy="201168"/>
          </a:xfrm>
          <a:prstGeom prst="rect">
            <a:avLst/>
          </a:prstGeom>
          <a:noFill/>
          <a:ln/>
        </p:spPr>
        <p:txBody>
          <a:bodyPr wrap="square" lIns="0" tIns="0" rIns="0" bIns="0" rtlCol="0" anchor="ctr"/>
          <a:lstStyle/>
          <a:p>
            <a:pPr marL="0" indent="0" algn="ctr">
              <a:buNone/>
            </a:pPr>
            <a:r>
              <a:rPr lang="en-US" sz="900" i="1" dirty="0">
                <a:solidFill>
                  <a:srgbClr val="7A8FA6"/>
                </a:solidFill>
              </a:rPr>
              <a:t>★ Best model  ·  AUC advantage is threshold-independent, ruling out decision-boundary artifacts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Results Analysis: Deep Dive</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22 / 30</a:t>
            </a:r>
            <a:endParaRPr lang="en-US" sz="900" dirty="0"/>
          </a:p>
        </p:txBody>
      </p:sp>
      <p:graphicFrame>
        <p:nvGraphicFramePr>
          <p:cNvPr id="5" name="Chart 0"/>
          <p:cNvGraphicFramePr/>
          <p:nvPr/>
        </p:nvGraphicFramePr>
        <p:xfrm>
          <a:off x="274320" y="914400"/>
          <a:ext cx="50292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440680" y="914400"/>
            <a:ext cx="3474720" cy="3108960"/>
          </a:xfrm>
          <a:prstGeom prst="roundRect">
            <a:avLst>
              <a:gd name="adj" fmla="val 2353"/>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7" name="Text 4"/>
          <p:cNvSpPr/>
          <p:nvPr/>
        </p:nvSpPr>
        <p:spPr>
          <a:xfrm>
            <a:off x="5532120" y="969264"/>
            <a:ext cx="3291840" cy="320040"/>
          </a:xfrm>
          <a:prstGeom prst="rect">
            <a:avLst/>
          </a:prstGeom>
          <a:noFill/>
          <a:ln/>
        </p:spPr>
        <p:txBody>
          <a:bodyPr wrap="square" lIns="0" tIns="0" rIns="0" bIns="0" rtlCol="0" anchor="ctr"/>
          <a:lstStyle/>
          <a:p>
            <a:pPr marL="0" indent="0">
              <a:buNone/>
            </a:pPr>
            <a:r>
              <a:rPr lang="en-US" sz="1200" b="1" dirty="0">
                <a:solidFill>
                  <a:srgbClr val="0E7C7B"/>
                </a:solidFill>
              </a:rPr>
              <a:t>Error Rate Decomposition</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40680" y="1325880"/>
          <a:ext cx="3474720" cy="2606040"/>
        </p:xfrm>
        <a:graphic>
          <a:graphicData uri="http://schemas.openxmlformats.org/drawingml/2006/table">
            <a:tbl>
              <a:tblPr/>
              <a:tblGrid>
                <a:gridCol w="13716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rPr>
                        <a:t>Variant</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FP Rate</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FN Rate</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000000"/>
                          </a:solidFill>
                        </a:rPr>
                        <a:t>Text-only</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26.2%</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18.4%</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000000"/>
                          </a:solidFill>
                        </a:rPr>
                        <a:t>Image-only</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25.1%</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14.1%</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000000"/>
                          </a:solidFill>
                        </a:rPr>
                        <a:t>Concat</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20.7%</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13.8%</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dirty="0">
                          <a:solidFill>
                            <a:srgbClr val="000000"/>
                          </a:solidFill>
                        </a:rPr>
                        <a:t>α-feature</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24.9%</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tc>
                  <a:txBody>
                    <a:bodyPr/>
                    <a:lstStyle/>
                    <a:p>
                      <a:pPr marL="0" indent="0" algn="ctr">
                        <a:buNone/>
                      </a:pPr>
                      <a:r>
                        <a:rPr lang="en-US" sz="1200" dirty="0">
                          <a:solidFill>
                            <a:srgbClr val="000000"/>
                          </a:solidFill>
                        </a:rPr>
                        <a:t>11.6%</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b="1" dirty="0">
                          <a:solidFill>
                            <a:srgbClr val="FFFFFF"/>
                          </a:solidFill>
                        </a:rPr>
                        <a:t>α-gate ★</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23.7%</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10.5% ↓</a:t>
                      </a:r>
                      <a:endParaRPr lang="en-US" sz="1200" dirty="0"/>
                    </a:p>
                  </a:txBody>
                  <a:tcPr>
                    <a:lnL w="6350" cap="flat" cmpd="sng" algn="ctr">
                      <a:solidFill>
                        <a:srgbClr val="DDEAEA"/>
                      </a:solidFill>
                      <a:prstDash val="solid"/>
                      <a:round/>
                      <a:headEnd type="none" w="med" len="med"/>
                      <a:tailEnd type="none" w="med" len="med"/>
                    </a:lnL>
                    <a:lnR w="6350" cap="flat" cmpd="sng" algn="ctr">
                      <a:solidFill>
                        <a:srgbClr val="DDEAEA"/>
                      </a:solidFill>
                      <a:prstDash val="solid"/>
                      <a:round/>
                      <a:headEnd type="none" w="med" len="med"/>
                      <a:tailEnd type="none" w="med" len="med"/>
                    </a:lnR>
                    <a:lnT w="6350" cap="flat" cmpd="sng" algn="ctr">
                      <a:solidFill>
                        <a:srgbClr val="DDEAEA"/>
                      </a:solidFill>
                      <a:prstDash val="solid"/>
                      <a:round/>
                      <a:headEnd type="none" w="med" len="med"/>
                      <a:tailEnd type="none" w="med" len="med"/>
                    </a:lnT>
                    <a:lnB w="6350" cap="flat" cmpd="sng" algn="ctr">
                      <a:solidFill>
                        <a:srgbClr val="DDEAEA"/>
                      </a:solidFill>
                      <a:prstDash val="solid"/>
                      <a:round/>
                      <a:headEnd type="none" w="med" len="med"/>
                      <a:tailEnd type="none" w="med" len="med"/>
                    </a:lnB>
                    <a:solidFill>
                      <a:srgbClr val="0E7C7B"/>
                    </a:solidFill>
                  </a:tcPr>
                </a:tc>
                <a:extLst>
                  <a:ext uri="{0D108BD9-81ED-4DB2-BD59-A6C34878D82A}">
                    <a16:rowId xmlns:a16="http://schemas.microsoft.com/office/drawing/2014/main" val="10005"/>
                  </a:ext>
                </a:extLst>
              </a:tr>
            </a:tbl>
          </a:graphicData>
        </a:graphic>
      </p:graphicFrame>
      <p:sp>
        <p:nvSpPr>
          <p:cNvPr id="9" name="Shape 5"/>
          <p:cNvSpPr/>
          <p:nvPr/>
        </p:nvSpPr>
        <p:spPr>
          <a:xfrm>
            <a:off x="274320" y="4160520"/>
            <a:ext cx="2743200" cy="804672"/>
          </a:xfrm>
          <a:prstGeom prst="roundRect">
            <a:avLst>
              <a:gd name="adj" fmla="val 909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Text 6"/>
          <p:cNvSpPr/>
          <p:nvPr/>
        </p:nvSpPr>
        <p:spPr>
          <a:xfrm>
            <a:off x="411480" y="4206240"/>
            <a:ext cx="2468880" cy="256032"/>
          </a:xfrm>
          <a:prstGeom prst="rect">
            <a:avLst/>
          </a:prstGeom>
          <a:noFill/>
          <a:ln/>
        </p:spPr>
        <p:txBody>
          <a:bodyPr wrap="square" lIns="0" tIns="0" rIns="0" bIns="0" rtlCol="0" anchor="ctr"/>
          <a:lstStyle/>
          <a:p>
            <a:pPr marL="0" indent="0">
              <a:buNone/>
            </a:pPr>
            <a:r>
              <a:rPr lang="en-US" sz="950" b="1" dirty="0">
                <a:solidFill>
                  <a:srgbClr val="E8871A"/>
                </a:solidFill>
              </a:rPr>
              <a:t>All variants FP-leaning:</a:t>
            </a:r>
            <a:endParaRPr lang="en-US" sz="950" dirty="0"/>
          </a:p>
        </p:txBody>
      </p:sp>
      <p:sp>
        <p:nvSpPr>
          <p:cNvPr id="11" name="Text 7"/>
          <p:cNvSpPr/>
          <p:nvPr/>
        </p:nvSpPr>
        <p:spPr>
          <a:xfrm>
            <a:off x="411480" y="4480560"/>
            <a:ext cx="2468880" cy="411480"/>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More real posts misclassified as fake than fake posts missed — consistent with counter-intuitive α direction.</a:t>
            </a:r>
            <a:endParaRPr lang="en-US" sz="900" dirty="0"/>
          </a:p>
        </p:txBody>
      </p:sp>
      <p:sp>
        <p:nvSpPr>
          <p:cNvPr id="12" name="Shape 8"/>
          <p:cNvSpPr/>
          <p:nvPr/>
        </p:nvSpPr>
        <p:spPr>
          <a:xfrm>
            <a:off x="3246120" y="4160520"/>
            <a:ext cx="2743200" cy="804672"/>
          </a:xfrm>
          <a:prstGeom prst="roundRect">
            <a:avLst>
              <a:gd name="adj" fmla="val 909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3" name="Text 9"/>
          <p:cNvSpPr/>
          <p:nvPr/>
        </p:nvSpPr>
        <p:spPr>
          <a:xfrm>
            <a:off x="3383280" y="4206240"/>
            <a:ext cx="2468880" cy="256032"/>
          </a:xfrm>
          <a:prstGeom prst="rect">
            <a:avLst/>
          </a:prstGeom>
          <a:noFill/>
          <a:ln/>
        </p:spPr>
        <p:txBody>
          <a:bodyPr wrap="square" lIns="0" tIns="0" rIns="0" bIns="0" rtlCol="0" anchor="ctr"/>
          <a:lstStyle/>
          <a:p>
            <a:pPr marL="0" indent="0">
              <a:buNone/>
            </a:pPr>
            <a:r>
              <a:rPr lang="en-US" sz="950" b="1" dirty="0">
                <a:solidFill>
                  <a:srgbClr val="0E7C7B"/>
                </a:solidFill>
              </a:rPr>
              <a:t>Lowest FN rate (10.5%):</a:t>
            </a:r>
            <a:endParaRPr lang="en-US" sz="950" dirty="0"/>
          </a:p>
        </p:txBody>
      </p:sp>
      <p:sp>
        <p:nvSpPr>
          <p:cNvPr id="14" name="Text 10"/>
          <p:cNvSpPr/>
          <p:nvPr/>
        </p:nvSpPr>
        <p:spPr>
          <a:xfrm>
            <a:off x="3383280" y="4480560"/>
            <a:ext cx="2468880" cy="411480"/>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α-gate best for moderation — fewest missed fake posts — the most critical error type.</a:t>
            </a:r>
            <a:endParaRPr lang="en-US" sz="900" dirty="0"/>
          </a:p>
        </p:txBody>
      </p:sp>
      <p:sp>
        <p:nvSpPr>
          <p:cNvPr id="15" name="Shape 11"/>
          <p:cNvSpPr/>
          <p:nvPr/>
        </p:nvSpPr>
        <p:spPr>
          <a:xfrm>
            <a:off x="6217920" y="4160520"/>
            <a:ext cx="2743200" cy="804672"/>
          </a:xfrm>
          <a:prstGeom prst="roundRect">
            <a:avLst>
              <a:gd name="adj" fmla="val 9091"/>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Text 12"/>
          <p:cNvSpPr/>
          <p:nvPr/>
        </p:nvSpPr>
        <p:spPr>
          <a:xfrm>
            <a:off x="6355080" y="4206240"/>
            <a:ext cx="2468880" cy="256032"/>
          </a:xfrm>
          <a:prstGeom prst="rect">
            <a:avLst/>
          </a:prstGeom>
          <a:noFill/>
          <a:ln/>
        </p:spPr>
        <p:txBody>
          <a:bodyPr wrap="square" lIns="0" tIns="0" rIns="0" bIns="0" rtlCol="0" anchor="ctr"/>
          <a:lstStyle/>
          <a:p>
            <a:pPr marL="0" indent="0">
              <a:buNone/>
            </a:pPr>
            <a:r>
              <a:rPr lang="en-US" sz="950" b="1" dirty="0">
                <a:solidFill>
                  <a:srgbClr val="C0392B"/>
                </a:solidFill>
              </a:rPr>
              <a:t>Cross-attn alone HURTS:</a:t>
            </a:r>
            <a:endParaRPr lang="en-US" sz="950" dirty="0"/>
          </a:p>
        </p:txBody>
      </p:sp>
      <p:sp>
        <p:nvSpPr>
          <p:cNvPr id="17" name="Text 13"/>
          <p:cNvSpPr/>
          <p:nvPr/>
        </p:nvSpPr>
        <p:spPr>
          <a:xfrm>
            <a:off x="6355080" y="4480560"/>
            <a:ext cx="2468880" cy="411480"/>
          </a:xfrm>
          <a:prstGeom prst="rect">
            <a:avLst/>
          </a:prstGeom>
          <a:noFill/>
          <a:ln/>
        </p:spPr>
        <p:txBody>
          <a:bodyPr wrap="square" lIns="0" tIns="0" rIns="0" bIns="0" rtlCol="0" anchor="ctr"/>
          <a:lstStyle/>
          <a:p>
            <a:pPr marL="0" indent="0">
              <a:buNone/>
            </a:pPr>
            <a:r>
              <a:rPr lang="en-US" sz="900" dirty="0">
                <a:solidFill>
                  <a:srgbClr val="1C2B3A"/>
                </a:solidFill>
                <a:latin typeface="Calibri" pitchFamily="34" charset="0"/>
                <a:ea typeface="Calibri" pitchFamily="34" charset="-122"/>
                <a:cs typeface="Calibri" pitchFamily="34" charset="-120"/>
              </a:rPr>
              <a:t>α-feature degrades below concat on F1 (0.8277 vs 0.8319) — the gate is essential, not decorative.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Explainability Results: Cross-Method Analysis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23 / 30</a:t>
            </a:r>
            <a:endParaRPr lang="en-US" sz="900" dirty="0"/>
          </a:p>
        </p:txBody>
      </p:sp>
      <p:sp>
        <p:nvSpPr>
          <p:cNvPr id="5" name="Shape 3"/>
          <p:cNvSpPr/>
          <p:nvPr/>
        </p:nvSpPr>
        <p:spPr>
          <a:xfrm>
            <a:off x="274320" y="960120"/>
            <a:ext cx="4160520" cy="1874520"/>
          </a:xfrm>
          <a:prstGeom prst="roundRect">
            <a:avLst>
              <a:gd name="adj" fmla="val 3902"/>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384048" y="1069848"/>
            <a:ext cx="384048" cy="384048"/>
          </a:xfrm>
          <a:prstGeom prst="ellipse">
            <a:avLst/>
          </a:prstGeom>
          <a:solidFill>
            <a:srgbClr val="0E7C7B"/>
          </a:solidFill>
          <a:ln w="12700">
            <a:solidFill>
              <a:srgbClr val="0E7C7B"/>
            </a:solidFill>
            <a:prstDash val="solid"/>
          </a:ln>
        </p:spPr>
      </p:sp>
      <p:sp>
        <p:nvSpPr>
          <p:cNvPr id="7" name="Text 5"/>
          <p:cNvSpPr/>
          <p:nvPr/>
        </p:nvSpPr>
        <p:spPr>
          <a:xfrm>
            <a:off x="384048" y="106984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868680" y="1088136"/>
            <a:ext cx="3520440" cy="365760"/>
          </a:xfrm>
          <a:prstGeom prst="rect">
            <a:avLst/>
          </a:prstGeom>
          <a:noFill/>
          <a:ln/>
        </p:spPr>
        <p:txBody>
          <a:bodyPr wrap="square" lIns="0" tIns="0" rIns="0" bIns="0" rtlCol="0" anchor="ctr"/>
          <a:lstStyle/>
          <a:p>
            <a:pPr marL="0" indent="0">
              <a:buNone/>
            </a:pPr>
            <a:r>
              <a:rPr lang="en-US" sz="1100" b="1" dirty="0">
                <a:solidFill>
                  <a:srgbClr val="1C2B3A"/>
                </a:solidFill>
              </a:rPr>
              <a:t>Structured Non-Uniform Heatmaps</a:t>
            </a:r>
            <a:endParaRPr lang="en-US" sz="1100" dirty="0"/>
          </a:p>
        </p:txBody>
      </p:sp>
      <p:sp>
        <p:nvSpPr>
          <p:cNvPr id="9" name="Text 7"/>
          <p:cNvSpPr/>
          <p:nvPr/>
        </p:nvSpPr>
        <p:spPr>
          <a:xfrm>
            <a:off x="411480" y="1508760"/>
            <a:ext cx="3886200" cy="12618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Across 12 examined attention examples, cross-attention produces spatially non-uniform distributions — attention localizes over interpretable subregions: human figures, text overlays, salient objects, faces. Diffuseness tracks image information content (cluttered/ambiguous backgrounds), not method failure.</a:t>
            </a:r>
            <a:endParaRPr lang="en-US" sz="950" dirty="0"/>
          </a:p>
        </p:txBody>
      </p:sp>
      <p:sp>
        <p:nvSpPr>
          <p:cNvPr id="10" name="Shape 8"/>
          <p:cNvSpPr/>
          <p:nvPr/>
        </p:nvSpPr>
        <p:spPr>
          <a:xfrm>
            <a:off x="4663440" y="960120"/>
            <a:ext cx="4160520" cy="1874520"/>
          </a:xfrm>
          <a:prstGeom prst="roundRect">
            <a:avLst>
              <a:gd name="adj" fmla="val 3902"/>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4773168" y="1069848"/>
            <a:ext cx="384048" cy="384048"/>
          </a:xfrm>
          <a:prstGeom prst="ellipse">
            <a:avLst/>
          </a:prstGeom>
          <a:solidFill>
            <a:srgbClr val="C0392B"/>
          </a:solidFill>
          <a:ln w="12700">
            <a:solidFill>
              <a:srgbClr val="C0392B"/>
            </a:solidFill>
            <a:prstDash val="solid"/>
          </a:ln>
        </p:spPr>
      </p:sp>
      <p:sp>
        <p:nvSpPr>
          <p:cNvPr id="12" name="Text 10"/>
          <p:cNvSpPr/>
          <p:nvPr/>
        </p:nvSpPr>
        <p:spPr>
          <a:xfrm>
            <a:off x="4773168" y="106984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3" name="Text 11"/>
          <p:cNvSpPr/>
          <p:nvPr/>
        </p:nvSpPr>
        <p:spPr>
          <a:xfrm>
            <a:off x="5257800" y="1088136"/>
            <a:ext cx="3520440" cy="365760"/>
          </a:xfrm>
          <a:prstGeom prst="rect">
            <a:avLst/>
          </a:prstGeom>
          <a:noFill/>
          <a:ln/>
        </p:spPr>
        <p:txBody>
          <a:bodyPr wrap="square" lIns="0" tIns="0" rIns="0" bIns="0" rtlCol="0" anchor="ctr"/>
          <a:lstStyle/>
          <a:p>
            <a:pPr marL="0" indent="0">
              <a:buNone/>
            </a:pPr>
            <a:r>
              <a:rPr lang="en-US" sz="1100" b="1" dirty="0">
                <a:solidFill>
                  <a:srgbClr val="1C2B3A"/>
                </a:solidFill>
              </a:rPr>
              <a:t>Error Case: 'Kristallnacht' (Sample 2221)</a:t>
            </a:r>
            <a:endParaRPr lang="en-US" sz="1100" dirty="0"/>
          </a:p>
        </p:txBody>
      </p:sp>
      <p:sp>
        <p:nvSpPr>
          <p:cNvPr id="14" name="Text 12"/>
          <p:cNvSpPr/>
          <p:nvPr/>
        </p:nvSpPr>
        <p:spPr>
          <a:xfrm>
            <a:off x="4800600" y="1508760"/>
            <a:ext cx="3886200" cy="12618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Predicted FAKE (conf. ~0.715) but ground truth is REAL. Both SHAP &amp; LIME agree: 'property', 'attacks', 'german' push toward fake — model learned sensational vocabulary → fake heuristic. SHAP splits 'Kristallnacht' into sub-tokens (weakened signal); LIME preserves the whole word (retains impact). Complementarity revealed.</a:t>
            </a:r>
            <a:endParaRPr lang="en-US" sz="950" dirty="0"/>
          </a:p>
        </p:txBody>
      </p:sp>
      <p:sp>
        <p:nvSpPr>
          <p:cNvPr id="15" name="Shape 13"/>
          <p:cNvSpPr/>
          <p:nvPr/>
        </p:nvSpPr>
        <p:spPr>
          <a:xfrm>
            <a:off x="274320" y="3063240"/>
            <a:ext cx="4160520" cy="1874520"/>
          </a:xfrm>
          <a:prstGeom prst="roundRect">
            <a:avLst>
              <a:gd name="adj" fmla="val 3902"/>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384048" y="3172968"/>
            <a:ext cx="384048" cy="384048"/>
          </a:xfrm>
          <a:prstGeom prst="ellipse">
            <a:avLst/>
          </a:prstGeom>
          <a:solidFill>
            <a:srgbClr val="1A7A4A"/>
          </a:solidFill>
          <a:ln w="12700">
            <a:solidFill>
              <a:srgbClr val="1A7A4A"/>
            </a:solidFill>
            <a:prstDash val="solid"/>
          </a:ln>
        </p:spPr>
      </p:sp>
      <p:sp>
        <p:nvSpPr>
          <p:cNvPr id="17" name="Text 15"/>
          <p:cNvSpPr/>
          <p:nvPr/>
        </p:nvSpPr>
        <p:spPr>
          <a:xfrm>
            <a:off x="384048" y="31729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8" name="Text 16"/>
          <p:cNvSpPr/>
          <p:nvPr/>
        </p:nvSpPr>
        <p:spPr>
          <a:xfrm>
            <a:off x="868680" y="3191256"/>
            <a:ext cx="3520440" cy="365760"/>
          </a:xfrm>
          <a:prstGeom prst="rect">
            <a:avLst/>
          </a:prstGeom>
          <a:noFill/>
          <a:ln/>
        </p:spPr>
        <p:txBody>
          <a:bodyPr wrap="square" lIns="0" tIns="0" rIns="0" bIns="0" rtlCol="0" anchor="ctr"/>
          <a:lstStyle/>
          <a:p>
            <a:pPr marL="0" indent="0">
              <a:buNone/>
            </a:pPr>
            <a:r>
              <a:rPr lang="en-US" sz="1100" b="1" dirty="0">
                <a:solidFill>
                  <a:srgbClr val="1C2B3A"/>
                </a:solidFill>
              </a:rPr>
              <a:t>Success Case: 'Tree on Rock' (Sample 1007)</a:t>
            </a:r>
            <a:endParaRPr lang="en-US" sz="1100" dirty="0"/>
          </a:p>
        </p:txBody>
      </p:sp>
      <p:sp>
        <p:nvSpPr>
          <p:cNvPr id="19" name="Text 17"/>
          <p:cNvSpPr/>
          <p:nvPr/>
        </p:nvSpPr>
        <p:spPr>
          <a:xfrm>
            <a:off x="411480" y="3611880"/>
            <a:ext cx="3886200" cy="12618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Correctly predicted FAKE (conf. 0.784). Both SHAP &amp; LIME independently assign highest fake-class importance to the compositional phrase structure (object + preposition + object). Two independent perturbation methods with different theoretical foundations converge on the same signal — strong cross-method agreement.</a:t>
            </a:r>
            <a:endParaRPr lang="en-US" sz="950" dirty="0"/>
          </a:p>
        </p:txBody>
      </p:sp>
      <p:sp>
        <p:nvSpPr>
          <p:cNvPr id="20" name="Shape 18"/>
          <p:cNvSpPr/>
          <p:nvPr/>
        </p:nvSpPr>
        <p:spPr>
          <a:xfrm>
            <a:off x="4663440" y="3063240"/>
            <a:ext cx="4160520" cy="1874520"/>
          </a:xfrm>
          <a:prstGeom prst="roundRect">
            <a:avLst>
              <a:gd name="adj" fmla="val 3902"/>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4773168" y="3172968"/>
            <a:ext cx="384048" cy="384048"/>
          </a:xfrm>
          <a:prstGeom prst="ellipse">
            <a:avLst/>
          </a:prstGeom>
          <a:solidFill>
            <a:srgbClr val="E8871A"/>
          </a:solidFill>
          <a:ln w="12700">
            <a:solidFill>
              <a:srgbClr val="E8871A"/>
            </a:solidFill>
            <a:prstDash val="solid"/>
          </a:ln>
        </p:spPr>
      </p:sp>
      <p:sp>
        <p:nvSpPr>
          <p:cNvPr id="22" name="Text 20"/>
          <p:cNvSpPr/>
          <p:nvPr/>
        </p:nvSpPr>
        <p:spPr>
          <a:xfrm>
            <a:off x="4773168" y="31729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3" name="Text 21"/>
          <p:cNvSpPr/>
          <p:nvPr/>
        </p:nvSpPr>
        <p:spPr>
          <a:xfrm>
            <a:off x="5257800" y="3191256"/>
            <a:ext cx="3520440" cy="365760"/>
          </a:xfrm>
          <a:prstGeom prst="rect">
            <a:avLst/>
          </a:prstGeom>
          <a:noFill/>
          <a:ln/>
        </p:spPr>
        <p:txBody>
          <a:bodyPr wrap="square" lIns="0" tIns="0" rIns="0" bIns="0" rtlCol="0" anchor="ctr"/>
          <a:lstStyle/>
          <a:p>
            <a:pPr marL="0" indent="0">
              <a:buNone/>
            </a:pPr>
            <a:r>
              <a:rPr lang="en-US" sz="1100" b="1" dirty="0">
                <a:solidFill>
                  <a:srgbClr val="1C2B3A"/>
                </a:solidFill>
              </a:rPr>
              <a:t>Conditional Disagreement: 'Mad Max' (Sample 2115)</a:t>
            </a:r>
            <a:endParaRPr lang="en-US" sz="1100" dirty="0"/>
          </a:p>
        </p:txBody>
      </p:sp>
      <p:sp>
        <p:nvSpPr>
          <p:cNvPr id="24" name="Text 22"/>
          <p:cNvSpPr/>
          <p:nvPr/>
        </p:nvSpPr>
        <p:spPr>
          <a:xfrm>
            <a:off x="4800600" y="3611880"/>
            <a:ext cx="3886200" cy="126187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Correctly predicted REAL (conf. 0.791). 2-word title only. SHAP &amp; LIME provide opposite attribution signs. Not a bug — both methods revert to theoretical defaults on sparse inputs where linearity/independence assumptions are weakly satisfied. Agreement depends on title length and information richness.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Case Study: Sample-Level Predictions &amp; Explanations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24 / 30</a:t>
            </a:r>
            <a:endParaRPr lang="en-US" sz="900" dirty="0"/>
          </a:p>
        </p:txBody>
      </p:sp>
      <p:sp>
        <p:nvSpPr>
          <p:cNvPr id="5" name="Shape 3"/>
          <p:cNvSpPr/>
          <p:nvPr/>
        </p:nvSpPr>
        <p:spPr>
          <a:xfrm>
            <a:off x="274320" y="960120"/>
            <a:ext cx="8595360" cy="1234440"/>
          </a:xfrm>
          <a:prstGeom prst="roundRect">
            <a:avLst>
              <a:gd name="adj" fmla="val 592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1371600" cy="1234440"/>
          </a:xfrm>
          <a:prstGeom prst="roundRect">
            <a:avLst>
              <a:gd name="adj" fmla="val 4444"/>
            </a:avLst>
          </a:prstGeom>
          <a:solidFill>
            <a:srgbClr val="C0392B"/>
          </a:solidFill>
          <a:ln w="12700">
            <a:solidFill>
              <a:srgbClr val="C0392B"/>
            </a:solidFill>
            <a:prstDash val="solid"/>
          </a:ln>
        </p:spPr>
      </p:sp>
      <p:sp>
        <p:nvSpPr>
          <p:cNvPr id="7" name="Text 5"/>
          <p:cNvSpPr/>
          <p:nvPr/>
        </p:nvSpPr>
        <p:spPr>
          <a:xfrm>
            <a:off x="274320" y="960120"/>
            <a:ext cx="1371600" cy="1234440"/>
          </a:xfrm>
          <a:prstGeom prst="rect">
            <a:avLst/>
          </a:prstGeom>
          <a:noFill/>
          <a:ln/>
        </p:spPr>
        <p:txBody>
          <a:bodyPr wrap="square" lIns="0" tIns="0" rIns="0" bIns="0" rtlCol="0" anchor="ctr"/>
          <a:lstStyle/>
          <a:p>
            <a:pPr marL="0" indent="0" algn="ctr">
              <a:buNone/>
            </a:pPr>
            <a:r>
              <a:rPr lang="en-US" sz="800" b="1" dirty="0">
                <a:solidFill>
                  <a:srgbClr val="FFFFFF"/>
                </a:solidFill>
              </a:rPr>
              <a:t>Sample 2221</a:t>
            </a:r>
            <a:endParaRPr lang="en-US" sz="800" dirty="0"/>
          </a:p>
          <a:p>
            <a:pPr marL="0" indent="0" algn="ctr">
              <a:buNone/>
            </a:pPr>
            <a:r>
              <a:rPr lang="en-US" sz="800" b="1" dirty="0">
                <a:solidFill>
                  <a:srgbClr val="FFFFFF"/>
                </a:solidFill>
              </a:rPr>
              <a:t>❌ WRONG PREDICTION</a:t>
            </a:r>
            <a:endParaRPr lang="en-US" sz="800" dirty="0"/>
          </a:p>
          <a:p>
            <a:pPr marL="0" indent="0" algn="ctr">
              <a:buNone/>
            </a:pPr>
            <a:r>
              <a:rPr lang="en-US" sz="800" b="1" dirty="0">
                <a:solidFill>
                  <a:srgbClr val="FFFFFF"/>
                </a:solidFill>
              </a:rPr>
              <a:t>Conf. ~0.715</a:t>
            </a:r>
            <a:endParaRPr lang="en-US" sz="800" dirty="0"/>
          </a:p>
        </p:txBody>
      </p:sp>
      <p:sp>
        <p:nvSpPr>
          <p:cNvPr id="8" name="Text 6"/>
          <p:cNvSpPr/>
          <p:nvPr/>
        </p:nvSpPr>
        <p:spPr>
          <a:xfrm>
            <a:off x="1783080" y="1005840"/>
            <a:ext cx="6903720" cy="274320"/>
          </a:xfrm>
          <a:prstGeom prst="rect">
            <a:avLst/>
          </a:prstGeom>
          <a:noFill/>
          <a:ln/>
        </p:spPr>
        <p:txBody>
          <a:bodyPr wrap="square" lIns="0" tIns="0" rIns="0" bIns="0" rtlCol="0" anchor="ctr"/>
          <a:lstStyle/>
          <a:p>
            <a:pPr marL="0" indent="0">
              <a:buNone/>
            </a:pPr>
            <a:r>
              <a:rPr lang="en-US" sz="950" i="1" dirty="0">
                <a:solidFill>
                  <a:srgbClr val="1C2B3A"/>
                </a:solidFill>
              </a:rPr>
              <a:t>"a german attacks jewishowned property during the kristallnacht colourized"</a:t>
            </a:r>
            <a:endParaRPr lang="en-US" sz="950" dirty="0"/>
          </a:p>
        </p:txBody>
      </p:sp>
      <p:sp>
        <p:nvSpPr>
          <p:cNvPr id="9" name="Text 7"/>
          <p:cNvSpPr/>
          <p:nvPr/>
        </p:nvSpPr>
        <p:spPr>
          <a:xfrm>
            <a:off x="1783080" y="1298448"/>
            <a:ext cx="6903720" cy="228600"/>
          </a:xfrm>
          <a:prstGeom prst="rect">
            <a:avLst/>
          </a:prstGeom>
          <a:noFill/>
          <a:ln/>
        </p:spPr>
        <p:txBody>
          <a:bodyPr wrap="square" lIns="0" tIns="0" rIns="0" bIns="0" rtlCol="0" anchor="ctr"/>
          <a:lstStyle/>
          <a:p>
            <a:pPr marL="0" indent="0">
              <a:buNone/>
            </a:pPr>
            <a:r>
              <a:rPr lang="en-US" sz="900" b="1" dirty="0">
                <a:solidFill>
                  <a:srgbClr val="C0392B"/>
                </a:solidFill>
              </a:rPr>
              <a:t>Truth: REAL (historical post)  ·  Predicted: FAKE</a:t>
            </a:r>
            <a:endParaRPr lang="en-US" sz="900" dirty="0"/>
          </a:p>
        </p:txBody>
      </p:sp>
      <p:sp>
        <p:nvSpPr>
          <p:cNvPr id="10" name="Text 8"/>
          <p:cNvSpPr/>
          <p:nvPr/>
        </p:nvSpPr>
        <p:spPr>
          <a:xfrm>
            <a:off x="1783080" y="1536192"/>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SHAP: SHAP splits 'kristallnacht' → 'k','rist','all','nacht' — fragmented signal, impact diluted</a:t>
            </a:r>
            <a:endParaRPr lang="en-US" sz="850" dirty="0"/>
          </a:p>
        </p:txBody>
      </p:sp>
      <p:sp>
        <p:nvSpPr>
          <p:cNvPr id="11" name="Text 9"/>
          <p:cNvSpPr/>
          <p:nvPr/>
        </p:nvSpPr>
        <p:spPr>
          <a:xfrm>
            <a:off x="1783080" y="1792224"/>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LIME: LIME keeps 'kristallnacht' intact — correct attribution; both methods agree on mechanism: sensational vocab triggers fake heuristic</a:t>
            </a:r>
            <a:endParaRPr lang="en-US" sz="850" dirty="0"/>
          </a:p>
        </p:txBody>
      </p:sp>
      <p:sp>
        <p:nvSpPr>
          <p:cNvPr id="12" name="Shape 10"/>
          <p:cNvSpPr/>
          <p:nvPr/>
        </p:nvSpPr>
        <p:spPr>
          <a:xfrm>
            <a:off x="274320" y="2313432"/>
            <a:ext cx="8595360" cy="1234440"/>
          </a:xfrm>
          <a:prstGeom prst="roundRect">
            <a:avLst>
              <a:gd name="adj" fmla="val 592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3" name="Shape 11"/>
          <p:cNvSpPr/>
          <p:nvPr/>
        </p:nvSpPr>
        <p:spPr>
          <a:xfrm>
            <a:off x="274320" y="2313432"/>
            <a:ext cx="1371600" cy="1234440"/>
          </a:xfrm>
          <a:prstGeom prst="roundRect">
            <a:avLst>
              <a:gd name="adj" fmla="val 4444"/>
            </a:avLst>
          </a:prstGeom>
          <a:solidFill>
            <a:srgbClr val="1A7A4A"/>
          </a:solidFill>
          <a:ln w="12700">
            <a:solidFill>
              <a:srgbClr val="1A7A4A"/>
            </a:solidFill>
            <a:prstDash val="solid"/>
          </a:ln>
        </p:spPr>
      </p:sp>
      <p:sp>
        <p:nvSpPr>
          <p:cNvPr id="14" name="Text 12"/>
          <p:cNvSpPr/>
          <p:nvPr/>
        </p:nvSpPr>
        <p:spPr>
          <a:xfrm>
            <a:off x="274320" y="2313432"/>
            <a:ext cx="1371600" cy="1234440"/>
          </a:xfrm>
          <a:prstGeom prst="rect">
            <a:avLst/>
          </a:prstGeom>
          <a:noFill/>
          <a:ln/>
        </p:spPr>
        <p:txBody>
          <a:bodyPr wrap="square" lIns="0" tIns="0" rIns="0" bIns="0" rtlCol="0" anchor="ctr"/>
          <a:lstStyle/>
          <a:p>
            <a:pPr marL="0" indent="0" algn="ctr">
              <a:buNone/>
            </a:pPr>
            <a:r>
              <a:rPr lang="en-US" sz="800" b="1" dirty="0">
                <a:solidFill>
                  <a:srgbClr val="FFFFFF"/>
                </a:solidFill>
              </a:rPr>
              <a:t>Sample 1007</a:t>
            </a:r>
            <a:endParaRPr lang="en-US" sz="800" dirty="0"/>
          </a:p>
          <a:p>
            <a:pPr marL="0" indent="0" algn="ctr">
              <a:buNone/>
            </a:pPr>
            <a:r>
              <a:rPr lang="en-US" sz="800" b="1" dirty="0">
                <a:solidFill>
                  <a:srgbClr val="FFFFFF"/>
                </a:solidFill>
              </a:rPr>
              <a:t>✓ CORRECT PREDICTION</a:t>
            </a:r>
            <a:endParaRPr lang="en-US" sz="800" dirty="0"/>
          </a:p>
          <a:p>
            <a:pPr marL="0" indent="0" algn="ctr">
              <a:buNone/>
            </a:pPr>
            <a:r>
              <a:rPr lang="en-US" sz="800" b="1" dirty="0">
                <a:solidFill>
                  <a:srgbClr val="FFFFFF"/>
                </a:solidFill>
              </a:rPr>
              <a:t>Conf. 0.784</a:t>
            </a:r>
            <a:endParaRPr lang="en-US" sz="800" dirty="0"/>
          </a:p>
        </p:txBody>
      </p:sp>
      <p:sp>
        <p:nvSpPr>
          <p:cNvPr id="15" name="Text 13"/>
          <p:cNvSpPr/>
          <p:nvPr/>
        </p:nvSpPr>
        <p:spPr>
          <a:xfrm>
            <a:off x="1783080" y="2359152"/>
            <a:ext cx="6903720" cy="274320"/>
          </a:xfrm>
          <a:prstGeom prst="rect">
            <a:avLst/>
          </a:prstGeom>
          <a:noFill/>
          <a:ln/>
        </p:spPr>
        <p:txBody>
          <a:bodyPr wrap="square" lIns="0" tIns="0" rIns="0" bIns="0" rtlCol="0" anchor="ctr"/>
          <a:lstStyle/>
          <a:p>
            <a:pPr marL="0" indent="0">
              <a:buNone/>
            </a:pPr>
            <a:r>
              <a:rPr lang="en-US" sz="950" i="1" dirty="0">
                <a:solidFill>
                  <a:srgbClr val="1C2B3A"/>
                </a:solidFill>
              </a:rPr>
              <a:t>"the way this tree grew on top of a rock"</a:t>
            </a:r>
            <a:endParaRPr lang="en-US" sz="950" dirty="0"/>
          </a:p>
        </p:txBody>
      </p:sp>
      <p:sp>
        <p:nvSpPr>
          <p:cNvPr id="16" name="Text 14"/>
          <p:cNvSpPr/>
          <p:nvPr/>
        </p:nvSpPr>
        <p:spPr>
          <a:xfrm>
            <a:off x="1783080" y="2651760"/>
            <a:ext cx="6903720" cy="228600"/>
          </a:xfrm>
          <a:prstGeom prst="rect">
            <a:avLst/>
          </a:prstGeom>
          <a:noFill/>
          <a:ln/>
        </p:spPr>
        <p:txBody>
          <a:bodyPr wrap="square" lIns="0" tIns="0" rIns="0" bIns="0" rtlCol="0" anchor="ctr"/>
          <a:lstStyle/>
          <a:p>
            <a:pPr marL="0" indent="0">
              <a:buNone/>
            </a:pPr>
            <a:r>
              <a:rPr lang="en-US" sz="900" b="1" dirty="0">
                <a:solidFill>
                  <a:srgbClr val="1A7A4A"/>
                </a:solidFill>
              </a:rPr>
              <a:t>Truth: FAKE  ·  Predicted: FAKE</a:t>
            </a:r>
            <a:endParaRPr lang="en-US" sz="900" dirty="0"/>
          </a:p>
        </p:txBody>
      </p:sp>
      <p:sp>
        <p:nvSpPr>
          <p:cNvPr id="17" name="Text 15"/>
          <p:cNvSpPr/>
          <p:nvPr/>
        </p:nvSpPr>
        <p:spPr>
          <a:xfrm>
            <a:off x="1783080" y="2889504"/>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SHAP: SHAP: highest FAKE-class importance on 'tree', 'rock', 'grew' — compositional phrase structure signals viral/sensational content</a:t>
            </a:r>
            <a:endParaRPr lang="en-US" sz="850" dirty="0"/>
          </a:p>
        </p:txBody>
      </p:sp>
      <p:sp>
        <p:nvSpPr>
          <p:cNvPr id="18" name="Text 16"/>
          <p:cNvSpPr/>
          <p:nvPr/>
        </p:nvSpPr>
        <p:spPr>
          <a:xfrm>
            <a:off x="1783080" y="3145536"/>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LIME: LIME: same top tokens, same direction. Strong cross-method agreement on a success case — robust attributional signal confirmed.</a:t>
            </a:r>
            <a:endParaRPr lang="en-US" sz="850" dirty="0"/>
          </a:p>
        </p:txBody>
      </p:sp>
      <p:sp>
        <p:nvSpPr>
          <p:cNvPr id="19" name="Shape 17"/>
          <p:cNvSpPr/>
          <p:nvPr/>
        </p:nvSpPr>
        <p:spPr>
          <a:xfrm>
            <a:off x="274320" y="3666744"/>
            <a:ext cx="8595360" cy="1234440"/>
          </a:xfrm>
          <a:prstGeom prst="roundRect">
            <a:avLst>
              <a:gd name="adj" fmla="val 5926"/>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0" name="Shape 18"/>
          <p:cNvSpPr/>
          <p:nvPr/>
        </p:nvSpPr>
        <p:spPr>
          <a:xfrm>
            <a:off x="274320" y="3666744"/>
            <a:ext cx="1371600" cy="1234440"/>
          </a:xfrm>
          <a:prstGeom prst="roundRect">
            <a:avLst>
              <a:gd name="adj" fmla="val 4444"/>
            </a:avLst>
          </a:prstGeom>
          <a:solidFill>
            <a:srgbClr val="E8871A"/>
          </a:solidFill>
          <a:ln w="12700">
            <a:solidFill>
              <a:srgbClr val="E8871A"/>
            </a:solidFill>
            <a:prstDash val="solid"/>
          </a:ln>
        </p:spPr>
      </p:sp>
      <p:sp>
        <p:nvSpPr>
          <p:cNvPr id="21" name="Text 19"/>
          <p:cNvSpPr/>
          <p:nvPr/>
        </p:nvSpPr>
        <p:spPr>
          <a:xfrm>
            <a:off x="274320" y="3666744"/>
            <a:ext cx="1371600" cy="1234440"/>
          </a:xfrm>
          <a:prstGeom prst="rect">
            <a:avLst/>
          </a:prstGeom>
          <a:noFill/>
          <a:ln/>
        </p:spPr>
        <p:txBody>
          <a:bodyPr wrap="square" lIns="0" tIns="0" rIns="0" bIns="0" rtlCol="0" anchor="ctr"/>
          <a:lstStyle/>
          <a:p>
            <a:pPr marL="0" indent="0" algn="ctr">
              <a:buNone/>
            </a:pPr>
            <a:r>
              <a:rPr lang="en-US" sz="800" b="1" dirty="0">
                <a:solidFill>
                  <a:srgbClr val="FFFFFF"/>
                </a:solidFill>
              </a:rPr>
              <a:t>Sample 2115</a:t>
            </a:r>
            <a:endParaRPr lang="en-US" sz="800" dirty="0"/>
          </a:p>
          <a:p>
            <a:pPr marL="0" indent="0" algn="ctr">
              <a:buNone/>
            </a:pPr>
            <a:r>
              <a:rPr lang="en-US" sz="800" b="1" dirty="0">
                <a:solidFill>
                  <a:srgbClr val="FFFFFF"/>
                </a:solidFill>
              </a:rPr>
              <a:t>✓ CORRECT PREDICTION</a:t>
            </a:r>
            <a:endParaRPr lang="en-US" sz="800" dirty="0"/>
          </a:p>
          <a:p>
            <a:pPr marL="0" indent="0" algn="ctr">
              <a:buNone/>
            </a:pPr>
            <a:r>
              <a:rPr lang="en-US" sz="800" b="1" dirty="0">
                <a:solidFill>
                  <a:srgbClr val="FFFFFF"/>
                </a:solidFill>
              </a:rPr>
              <a:t>Conf. 0.791</a:t>
            </a:r>
            <a:endParaRPr lang="en-US" sz="800" dirty="0"/>
          </a:p>
        </p:txBody>
      </p:sp>
      <p:sp>
        <p:nvSpPr>
          <p:cNvPr id="22" name="Text 20"/>
          <p:cNvSpPr/>
          <p:nvPr/>
        </p:nvSpPr>
        <p:spPr>
          <a:xfrm>
            <a:off x="1783080" y="3712464"/>
            <a:ext cx="6903720" cy="274320"/>
          </a:xfrm>
          <a:prstGeom prst="rect">
            <a:avLst/>
          </a:prstGeom>
          <a:noFill/>
          <a:ln/>
        </p:spPr>
        <p:txBody>
          <a:bodyPr wrap="square" lIns="0" tIns="0" rIns="0" bIns="0" rtlCol="0" anchor="ctr"/>
          <a:lstStyle/>
          <a:p>
            <a:pPr marL="0" indent="0">
              <a:buNone/>
            </a:pPr>
            <a:r>
              <a:rPr lang="en-US" sz="950" i="1" dirty="0">
                <a:solidFill>
                  <a:srgbClr val="1C2B3A"/>
                </a:solidFill>
              </a:rPr>
              <a:t>"mad max"</a:t>
            </a:r>
            <a:endParaRPr lang="en-US" sz="950" dirty="0"/>
          </a:p>
        </p:txBody>
      </p:sp>
      <p:sp>
        <p:nvSpPr>
          <p:cNvPr id="23" name="Text 21"/>
          <p:cNvSpPr/>
          <p:nvPr/>
        </p:nvSpPr>
        <p:spPr>
          <a:xfrm>
            <a:off x="1783080" y="4005072"/>
            <a:ext cx="6903720" cy="228600"/>
          </a:xfrm>
          <a:prstGeom prst="rect">
            <a:avLst/>
          </a:prstGeom>
          <a:noFill/>
          <a:ln/>
        </p:spPr>
        <p:txBody>
          <a:bodyPr wrap="square" lIns="0" tIns="0" rIns="0" bIns="0" rtlCol="0" anchor="ctr"/>
          <a:lstStyle/>
          <a:p>
            <a:pPr marL="0" indent="0">
              <a:buNone/>
            </a:pPr>
            <a:r>
              <a:rPr lang="en-US" sz="900" b="1" dirty="0">
                <a:solidFill>
                  <a:srgbClr val="E8871A"/>
                </a:solidFill>
              </a:rPr>
              <a:t>Truth: REAL  ·  Predicted: REAL</a:t>
            </a:r>
            <a:endParaRPr lang="en-US" sz="900" dirty="0"/>
          </a:p>
        </p:txBody>
      </p:sp>
      <p:sp>
        <p:nvSpPr>
          <p:cNvPr id="24" name="Text 22"/>
          <p:cNvSpPr/>
          <p:nvPr/>
        </p:nvSpPr>
        <p:spPr>
          <a:xfrm>
            <a:off x="1783080" y="4242816"/>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SHAP: SHAP: both tokens 'mad' and 'max' push TOWARD real class (negative SHAP values)</a:t>
            </a:r>
            <a:endParaRPr lang="en-US" sz="850" dirty="0"/>
          </a:p>
        </p:txBody>
      </p:sp>
      <p:sp>
        <p:nvSpPr>
          <p:cNvPr id="25" name="Text 23"/>
          <p:cNvSpPr/>
          <p:nvPr/>
        </p:nvSpPr>
        <p:spPr>
          <a:xfrm>
            <a:off x="1783080" y="4498848"/>
            <a:ext cx="6903720" cy="256032"/>
          </a:xfrm>
          <a:prstGeom prst="rect">
            <a:avLst/>
          </a:prstGeom>
          <a:noFill/>
          <a:ln/>
        </p:spPr>
        <p:txBody>
          <a:bodyPr wrap="square" lIns="0" tIns="0" rIns="0" bIns="0" rtlCol="0" anchor="ctr"/>
          <a:lstStyle/>
          <a:p>
            <a:pPr marL="0" indent="0">
              <a:buNone/>
            </a:pPr>
            <a:r>
              <a:rPr lang="en-US" sz="850" dirty="0">
                <a:solidFill>
                  <a:srgbClr val="1C2B3A"/>
                </a:solidFill>
                <a:latin typeface="Calibri" pitchFamily="34" charset="0"/>
                <a:ea typeface="Calibri" pitchFamily="34" charset="-122"/>
                <a:cs typeface="Calibri" pitchFamily="34" charset="-120"/>
              </a:rPr>
              <a:t>LIME: LIME: both tokens push TOWARD fake class — opposite direction. 2-word title too sparse; methods diverge at theoretical defaults. Informative disagreement.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Discussion</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25 / 30</a:t>
            </a:r>
            <a:endParaRPr lang="en-US" sz="900" dirty="0"/>
          </a:p>
        </p:txBody>
      </p:sp>
      <p:sp>
        <p:nvSpPr>
          <p:cNvPr id="5" name="Shape 3"/>
          <p:cNvSpPr/>
          <p:nvPr/>
        </p:nvSpPr>
        <p:spPr>
          <a:xfrm>
            <a:off x="274320" y="960120"/>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2743200" cy="731520"/>
          </a:xfrm>
          <a:prstGeom prst="roundRect">
            <a:avLst>
              <a:gd name="adj" fmla="val 7500"/>
            </a:avLst>
          </a:prstGeom>
          <a:solidFill>
            <a:srgbClr val="0E7C7B"/>
          </a:solidFill>
          <a:ln w="12700">
            <a:solidFill>
              <a:srgbClr val="0E7C7B"/>
            </a:solidFill>
            <a:prstDash val="solid"/>
          </a:ln>
        </p:spPr>
      </p:sp>
      <p:sp>
        <p:nvSpPr>
          <p:cNvPr id="7" name="Text 5"/>
          <p:cNvSpPr/>
          <p:nvPr/>
        </p:nvSpPr>
        <p:spPr>
          <a:xfrm>
            <a:off x="274320" y="960120"/>
            <a:ext cx="2743200" cy="731520"/>
          </a:xfrm>
          <a:prstGeom prst="rect">
            <a:avLst/>
          </a:prstGeom>
          <a:noFill/>
          <a:ln/>
        </p:spPr>
        <p:txBody>
          <a:bodyPr wrap="square" lIns="0" tIns="0" rIns="0" bIns="0" rtlCol="0" anchor="ctr"/>
          <a:lstStyle/>
          <a:p>
            <a:pPr marL="0" indent="0" algn="ctr">
              <a:buNone/>
            </a:pPr>
            <a:r>
              <a:rPr lang="en-US" sz="1000" b="1" dirty="0">
                <a:solidFill>
                  <a:srgbClr val="FFFFFF"/>
                </a:solidFill>
              </a:rPr>
              <a:t>Multimodal Fusion is Essential</a:t>
            </a:r>
            <a:endParaRPr lang="en-US" sz="1000" dirty="0"/>
          </a:p>
        </p:txBody>
      </p:sp>
      <p:sp>
        <p:nvSpPr>
          <p:cNvPr id="8" name="Text 6"/>
          <p:cNvSpPr/>
          <p:nvPr/>
        </p:nvSpPr>
        <p:spPr>
          <a:xfrm>
            <a:off x="3127248" y="1005840"/>
            <a:ext cx="5596128" cy="658368"/>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Stable +2.58 F1 gain over the best unimodal baseline. Image channel carries 3× more signal than text on Fakeddit (short-title corpus). Unimodal text detector misses a critical portion of the discriminative signal.</a:t>
            </a:r>
            <a:endParaRPr lang="en-US" sz="1000" dirty="0"/>
          </a:p>
        </p:txBody>
      </p:sp>
      <p:sp>
        <p:nvSpPr>
          <p:cNvPr id="9" name="Shape 7"/>
          <p:cNvSpPr/>
          <p:nvPr/>
        </p:nvSpPr>
        <p:spPr>
          <a:xfrm>
            <a:off x="274320" y="1764792"/>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Shape 8"/>
          <p:cNvSpPr/>
          <p:nvPr/>
        </p:nvSpPr>
        <p:spPr>
          <a:xfrm>
            <a:off x="274320" y="1764792"/>
            <a:ext cx="2743200" cy="731520"/>
          </a:xfrm>
          <a:prstGeom prst="roundRect">
            <a:avLst>
              <a:gd name="adj" fmla="val 7500"/>
            </a:avLst>
          </a:prstGeom>
          <a:solidFill>
            <a:srgbClr val="E8871A"/>
          </a:solidFill>
          <a:ln w="12700">
            <a:solidFill>
              <a:srgbClr val="E8871A"/>
            </a:solidFill>
            <a:prstDash val="solid"/>
          </a:ln>
        </p:spPr>
      </p:sp>
      <p:sp>
        <p:nvSpPr>
          <p:cNvPr id="11" name="Text 9"/>
          <p:cNvSpPr/>
          <p:nvPr/>
        </p:nvSpPr>
        <p:spPr>
          <a:xfrm>
            <a:off x="274320" y="1764792"/>
            <a:ext cx="2743200" cy="731520"/>
          </a:xfrm>
          <a:prstGeom prst="rect">
            <a:avLst/>
          </a:prstGeom>
          <a:noFill/>
          <a:ln/>
        </p:spPr>
        <p:txBody>
          <a:bodyPr wrap="square" lIns="0" tIns="0" rIns="0" bIns="0" rtlCol="0" anchor="ctr"/>
          <a:lstStyle/>
          <a:p>
            <a:pPr marL="0" indent="0" algn="ctr">
              <a:buNone/>
            </a:pPr>
            <a:r>
              <a:rPr lang="en-US" sz="1000" b="1" dirty="0">
                <a:solidFill>
                  <a:srgbClr val="FFFFFF"/>
                </a:solidFill>
              </a:rPr>
              <a:t>The α-Gate is Load-Bearing, Not Decorative</a:t>
            </a:r>
            <a:endParaRPr lang="en-US" sz="1000" dirty="0"/>
          </a:p>
        </p:txBody>
      </p:sp>
      <p:sp>
        <p:nvSpPr>
          <p:cNvPr id="12" name="Text 10"/>
          <p:cNvSpPr/>
          <p:nvPr/>
        </p:nvSpPr>
        <p:spPr>
          <a:xfrm>
            <a:off x="3127248" y="1810512"/>
            <a:ext cx="5596128" cy="658368"/>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Cross-attention WITHOUT the gate degrades below concatenation (−0.42 F1). The gate is what converts a noisy attention mechanism into a calibrated fusion. This is the decisive design insight — and proven by the ablation.</a:t>
            </a:r>
            <a:endParaRPr lang="en-US" sz="1000" dirty="0"/>
          </a:p>
        </p:txBody>
      </p:sp>
      <p:sp>
        <p:nvSpPr>
          <p:cNvPr id="13" name="Shape 11"/>
          <p:cNvSpPr/>
          <p:nvPr/>
        </p:nvSpPr>
        <p:spPr>
          <a:xfrm>
            <a:off x="274320" y="2569464"/>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4" name="Shape 12"/>
          <p:cNvSpPr/>
          <p:nvPr/>
        </p:nvSpPr>
        <p:spPr>
          <a:xfrm>
            <a:off x="274320" y="2569464"/>
            <a:ext cx="2743200" cy="731520"/>
          </a:xfrm>
          <a:prstGeom prst="roundRect">
            <a:avLst>
              <a:gd name="adj" fmla="val 7500"/>
            </a:avLst>
          </a:prstGeom>
          <a:solidFill>
            <a:srgbClr val="C0392B"/>
          </a:solidFill>
          <a:ln w="12700">
            <a:solidFill>
              <a:srgbClr val="C0392B"/>
            </a:solidFill>
            <a:prstDash val="solid"/>
          </a:ln>
        </p:spPr>
      </p:sp>
      <p:sp>
        <p:nvSpPr>
          <p:cNvPr id="15" name="Text 13"/>
          <p:cNvSpPr/>
          <p:nvPr/>
        </p:nvSpPr>
        <p:spPr>
          <a:xfrm>
            <a:off x="274320" y="2569464"/>
            <a:ext cx="2743200" cy="731520"/>
          </a:xfrm>
          <a:prstGeom prst="rect">
            <a:avLst/>
          </a:prstGeom>
          <a:noFill/>
          <a:ln/>
        </p:spPr>
        <p:txBody>
          <a:bodyPr wrap="square" lIns="0" tIns="0" rIns="0" bIns="0" rtlCol="0" anchor="ctr"/>
          <a:lstStyle/>
          <a:p>
            <a:pPr marL="0" indent="0" algn="ctr">
              <a:buNone/>
            </a:pPr>
            <a:r>
              <a:rPr lang="en-US" sz="1000" b="1" dirty="0">
                <a:solidFill>
                  <a:srgbClr val="FFFFFF"/>
                </a:solidFill>
              </a:rPr>
              <a:t>Counter-Intuitive α Direction: Fakeddit-Specific</a:t>
            </a:r>
            <a:endParaRPr lang="en-US" sz="1000" dirty="0"/>
          </a:p>
        </p:txBody>
      </p:sp>
      <p:sp>
        <p:nvSpPr>
          <p:cNvPr id="16" name="Text 14"/>
          <p:cNvSpPr/>
          <p:nvPr/>
        </p:nvSpPr>
        <p:spPr>
          <a:xfrm>
            <a:off x="3127248" y="2615184"/>
            <a:ext cx="5596128" cy="658368"/>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Fake posts show HIGHER mean CLIP similarity (0.300 vs 0.253). Explains FP-leaning error profile across all variants. Implies CLIP-based detectors that use low α as manipulation proxy are miscalibrated on Reddit-sourced data.</a:t>
            </a:r>
            <a:endParaRPr lang="en-US" sz="1000" dirty="0"/>
          </a:p>
        </p:txBody>
      </p:sp>
      <p:sp>
        <p:nvSpPr>
          <p:cNvPr id="17" name="Shape 15"/>
          <p:cNvSpPr/>
          <p:nvPr/>
        </p:nvSpPr>
        <p:spPr>
          <a:xfrm>
            <a:off x="274320" y="3374136"/>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8" name="Shape 16"/>
          <p:cNvSpPr/>
          <p:nvPr/>
        </p:nvSpPr>
        <p:spPr>
          <a:xfrm>
            <a:off x="274320" y="3374136"/>
            <a:ext cx="2743200" cy="731520"/>
          </a:xfrm>
          <a:prstGeom prst="roundRect">
            <a:avLst>
              <a:gd name="adj" fmla="val 7500"/>
            </a:avLst>
          </a:prstGeom>
          <a:solidFill>
            <a:srgbClr val="1A7A4A"/>
          </a:solidFill>
          <a:ln w="12700">
            <a:solidFill>
              <a:srgbClr val="1A7A4A"/>
            </a:solidFill>
            <a:prstDash val="solid"/>
          </a:ln>
        </p:spPr>
      </p:sp>
      <p:sp>
        <p:nvSpPr>
          <p:cNvPr id="19" name="Text 17"/>
          <p:cNvSpPr/>
          <p:nvPr/>
        </p:nvSpPr>
        <p:spPr>
          <a:xfrm>
            <a:off x="274320" y="3374136"/>
            <a:ext cx="2743200" cy="731520"/>
          </a:xfrm>
          <a:prstGeom prst="rect">
            <a:avLst/>
          </a:prstGeom>
          <a:noFill/>
          <a:ln/>
        </p:spPr>
        <p:txBody>
          <a:bodyPr wrap="square" lIns="0" tIns="0" rIns="0" bIns="0" rtlCol="0" anchor="ctr"/>
          <a:lstStyle/>
          <a:p>
            <a:pPr marL="0" indent="0" algn="ctr">
              <a:buNone/>
            </a:pPr>
            <a:r>
              <a:rPr lang="en-US" sz="1000" b="1" dirty="0">
                <a:solidFill>
                  <a:srgbClr val="FFFFFF"/>
                </a:solidFill>
              </a:rPr>
              <a:t>Accuracy and Explainability are NOT Competing</a:t>
            </a:r>
            <a:endParaRPr lang="en-US" sz="1000" dirty="0"/>
          </a:p>
        </p:txBody>
      </p:sp>
      <p:sp>
        <p:nvSpPr>
          <p:cNvPr id="20" name="Text 18"/>
          <p:cNvSpPr/>
          <p:nvPr/>
        </p:nvSpPr>
        <p:spPr>
          <a:xfrm>
            <a:off x="3127248" y="3419856"/>
            <a:ext cx="5596128" cy="658368"/>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HEMT-CLIP achieves both: best F1 and AUC in the ablation AND provides intrinsic cross-attention heatmaps, SHAP, and LIME. The gated cross-attention architecture simultaneously enables competitive classification AND Level 1 intrinsic explanations.</a:t>
            </a:r>
            <a:endParaRPr lang="en-US" sz="1000" dirty="0"/>
          </a:p>
        </p:txBody>
      </p:sp>
      <p:sp>
        <p:nvSpPr>
          <p:cNvPr id="21" name="Shape 19"/>
          <p:cNvSpPr/>
          <p:nvPr/>
        </p:nvSpPr>
        <p:spPr>
          <a:xfrm>
            <a:off x="274320" y="4178808"/>
            <a:ext cx="8595360" cy="731520"/>
          </a:xfrm>
          <a:prstGeom prst="roundRect">
            <a:avLst>
              <a:gd name="adj" fmla="val 1000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2" name="Shape 20"/>
          <p:cNvSpPr/>
          <p:nvPr/>
        </p:nvSpPr>
        <p:spPr>
          <a:xfrm>
            <a:off x="274320" y="4178808"/>
            <a:ext cx="2743200" cy="731520"/>
          </a:xfrm>
          <a:prstGeom prst="roundRect">
            <a:avLst>
              <a:gd name="adj" fmla="val 7500"/>
            </a:avLst>
          </a:prstGeom>
          <a:solidFill>
            <a:srgbClr val="6D2E46"/>
          </a:solidFill>
          <a:ln w="12700">
            <a:solidFill>
              <a:srgbClr val="6D2E46"/>
            </a:solidFill>
            <a:prstDash val="solid"/>
          </a:ln>
        </p:spPr>
      </p:sp>
      <p:sp>
        <p:nvSpPr>
          <p:cNvPr id="23" name="Text 21"/>
          <p:cNvSpPr/>
          <p:nvPr/>
        </p:nvSpPr>
        <p:spPr>
          <a:xfrm>
            <a:off x="274320" y="4178808"/>
            <a:ext cx="2743200" cy="731520"/>
          </a:xfrm>
          <a:prstGeom prst="rect">
            <a:avLst/>
          </a:prstGeom>
          <a:noFill/>
          <a:ln/>
        </p:spPr>
        <p:txBody>
          <a:bodyPr wrap="square" lIns="0" tIns="0" rIns="0" bIns="0" rtlCol="0" anchor="ctr"/>
          <a:lstStyle/>
          <a:p>
            <a:pPr marL="0" indent="0" algn="ctr">
              <a:buNone/>
            </a:pPr>
            <a:r>
              <a:rPr lang="en-US" sz="1000" b="1" dirty="0">
                <a:solidFill>
                  <a:srgbClr val="FFFFFF"/>
                </a:solidFill>
              </a:rPr>
              <a:t>Vocabulary Bias as Primary Error Mechanism</a:t>
            </a:r>
            <a:endParaRPr lang="en-US" sz="1000" dirty="0"/>
          </a:p>
        </p:txBody>
      </p:sp>
      <p:sp>
        <p:nvSpPr>
          <p:cNvPr id="24" name="Text 22"/>
          <p:cNvSpPr/>
          <p:nvPr/>
        </p:nvSpPr>
        <p:spPr>
          <a:xfrm>
            <a:off x="3127248" y="4224528"/>
            <a:ext cx="5596128" cy="658368"/>
          </a:xfrm>
          <a:prstGeom prst="rect">
            <a:avLst/>
          </a:prstGeom>
          <a:noFill/>
          <a:ln/>
        </p:spPr>
        <p:txBody>
          <a:bodyPr wrap="square" lIns="0" tIns="0" rIns="0" bIns="0" rtlCol="0" anchor="ctr"/>
          <a:lstStyle/>
          <a:p>
            <a:pPr marL="0" indent="0">
              <a:buNone/>
            </a:pPr>
            <a:r>
              <a:rPr lang="en-US" sz="1000" dirty="0">
                <a:solidFill>
                  <a:srgbClr val="1C2B3A"/>
                </a:solidFill>
                <a:latin typeface="Calibri" pitchFamily="34" charset="0"/>
                <a:ea typeface="Calibri" pitchFamily="34" charset="-122"/>
                <a:cs typeface="Calibri" pitchFamily="34" charset="-120"/>
              </a:rPr>
              <a:t>Text encoder conflates historical/sensational language with fake news (Kristallnacht error case). Partially corrected by image channel (+2.58 F1 premium). Attention maps show the model directing attention to documentary/archive images in such cases.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Research Contributions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26 / 30</a:t>
            </a:r>
            <a:endParaRPr lang="en-US" sz="900" dirty="0"/>
          </a:p>
        </p:txBody>
      </p:sp>
      <p:sp>
        <p:nvSpPr>
          <p:cNvPr id="5" name="Shape 3"/>
          <p:cNvSpPr/>
          <p:nvPr/>
        </p:nvSpPr>
        <p:spPr>
          <a:xfrm>
            <a:off x="365760" y="960120"/>
            <a:ext cx="4069080" cy="1828800"/>
          </a:xfrm>
          <a:prstGeom prst="roundRect">
            <a:avLst>
              <a:gd name="adj" fmla="val 4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502920" y="1097280"/>
            <a:ext cx="457200" cy="457200"/>
          </a:xfrm>
          <a:prstGeom prst="ellipse">
            <a:avLst/>
          </a:prstGeom>
          <a:solidFill>
            <a:srgbClr val="0E7C7B"/>
          </a:solidFill>
          <a:ln w="12700">
            <a:solidFill>
              <a:srgbClr val="0E7C7B"/>
            </a:solidFill>
            <a:prstDash val="solid"/>
          </a:ln>
        </p:spPr>
      </p:sp>
      <p:sp>
        <p:nvSpPr>
          <p:cNvPr id="7" name="Text 5"/>
          <p:cNvSpPr/>
          <p:nvPr/>
        </p:nvSpPr>
        <p:spPr>
          <a:xfrm>
            <a:off x="502920" y="109728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C1</a:t>
            </a:r>
            <a:endParaRPr lang="en-US" sz="1000" dirty="0"/>
          </a:p>
        </p:txBody>
      </p:sp>
      <p:sp>
        <p:nvSpPr>
          <p:cNvPr id="8" name="Text 6"/>
          <p:cNvSpPr/>
          <p:nvPr/>
        </p:nvSpPr>
        <p:spPr>
          <a:xfrm>
            <a:off x="1051560" y="1124712"/>
            <a:ext cx="3246120" cy="411480"/>
          </a:xfrm>
          <a:prstGeom prst="rect">
            <a:avLst/>
          </a:prstGeom>
          <a:noFill/>
          <a:ln/>
        </p:spPr>
        <p:txBody>
          <a:bodyPr wrap="square" lIns="0" tIns="0" rIns="0" bIns="0" rtlCol="0" anchor="ctr"/>
          <a:lstStyle/>
          <a:p>
            <a:pPr marL="0" indent="0">
              <a:buNone/>
            </a:pPr>
            <a:r>
              <a:rPr lang="en-US" sz="1100" b="1" dirty="0">
                <a:solidFill>
                  <a:srgbClr val="0E7C7B"/>
                </a:solidFill>
              </a:rPr>
              <a:t>Novel CLIP-Similarity-Gated Cross-Attention Fusion</a:t>
            </a:r>
            <a:endParaRPr lang="en-US" sz="1100" dirty="0"/>
          </a:p>
        </p:txBody>
      </p:sp>
      <p:sp>
        <p:nvSpPr>
          <p:cNvPr id="9" name="Text 7"/>
          <p:cNvSpPr/>
          <p:nvPr/>
        </p:nvSpPr>
        <p:spPr>
          <a:xfrm>
            <a:off x="530352" y="1600200"/>
            <a:ext cx="3749040" cy="111556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First use of pre-computed CLIP cosine similarity α as a parameter-free dynamic gating coefficient in cross-attention fusion. fused = α·attended + (1−α)·text. Zero additional trainable weights. Proven superior to both concatenation and α-as-feature by controlled ablation.</a:t>
            </a:r>
            <a:endParaRPr lang="en-US" sz="950" dirty="0"/>
          </a:p>
        </p:txBody>
      </p:sp>
      <p:sp>
        <p:nvSpPr>
          <p:cNvPr id="10" name="Shape 8"/>
          <p:cNvSpPr/>
          <p:nvPr/>
        </p:nvSpPr>
        <p:spPr>
          <a:xfrm>
            <a:off x="4663440" y="960120"/>
            <a:ext cx="4069080" cy="1828800"/>
          </a:xfrm>
          <a:prstGeom prst="roundRect">
            <a:avLst>
              <a:gd name="adj" fmla="val 4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1" name="Shape 9"/>
          <p:cNvSpPr/>
          <p:nvPr/>
        </p:nvSpPr>
        <p:spPr>
          <a:xfrm>
            <a:off x="4800600" y="1097280"/>
            <a:ext cx="457200" cy="457200"/>
          </a:xfrm>
          <a:prstGeom prst="ellipse">
            <a:avLst/>
          </a:prstGeom>
          <a:solidFill>
            <a:srgbClr val="E8871A"/>
          </a:solidFill>
          <a:ln w="12700">
            <a:solidFill>
              <a:srgbClr val="E8871A"/>
            </a:solidFill>
            <a:prstDash val="solid"/>
          </a:ln>
        </p:spPr>
      </p:sp>
      <p:sp>
        <p:nvSpPr>
          <p:cNvPr id="12" name="Text 10"/>
          <p:cNvSpPr/>
          <p:nvPr/>
        </p:nvSpPr>
        <p:spPr>
          <a:xfrm>
            <a:off x="4800600" y="109728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C2</a:t>
            </a:r>
            <a:endParaRPr lang="en-US" sz="1000" dirty="0"/>
          </a:p>
        </p:txBody>
      </p:sp>
      <p:sp>
        <p:nvSpPr>
          <p:cNvPr id="13" name="Text 11"/>
          <p:cNvSpPr/>
          <p:nvPr/>
        </p:nvSpPr>
        <p:spPr>
          <a:xfrm>
            <a:off x="5349240" y="1124712"/>
            <a:ext cx="3246120" cy="411480"/>
          </a:xfrm>
          <a:prstGeom prst="rect">
            <a:avLst/>
          </a:prstGeom>
          <a:noFill/>
          <a:ln/>
        </p:spPr>
        <p:txBody>
          <a:bodyPr wrap="square" lIns="0" tIns="0" rIns="0" bIns="0" rtlCol="0" anchor="ctr"/>
          <a:lstStyle/>
          <a:p>
            <a:pPr marL="0" indent="0">
              <a:buNone/>
            </a:pPr>
            <a:r>
              <a:rPr lang="en-US" sz="1100" b="1" dirty="0">
                <a:solidFill>
                  <a:srgbClr val="E8871A"/>
                </a:solidFill>
              </a:rPr>
              <a:t>Integrated Three-Level XAI Framework</a:t>
            </a:r>
            <a:endParaRPr lang="en-US" sz="1100" dirty="0"/>
          </a:p>
        </p:txBody>
      </p:sp>
      <p:sp>
        <p:nvSpPr>
          <p:cNvPr id="14" name="Text 12"/>
          <p:cNvSpPr/>
          <p:nvPr/>
        </p:nvSpPr>
        <p:spPr>
          <a:xfrm>
            <a:off x="4828032" y="1600200"/>
            <a:ext cx="3749040" cy="111556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Unified pipeline combining intrinsic cross-attention heatmaps (image-side, unique to this architecture), SHAP partition/Owen-value explainer (BPE sub-word), and LIME text explainer (whole-word). Conditional cross-method agreement analysis formally characterizes when methods agree vs. diverge.</a:t>
            </a:r>
            <a:endParaRPr lang="en-US" sz="950" dirty="0"/>
          </a:p>
        </p:txBody>
      </p:sp>
      <p:sp>
        <p:nvSpPr>
          <p:cNvPr id="15" name="Shape 13"/>
          <p:cNvSpPr/>
          <p:nvPr/>
        </p:nvSpPr>
        <p:spPr>
          <a:xfrm>
            <a:off x="365760" y="3017520"/>
            <a:ext cx="4069080" cy="1828800"/>
          </a:xfrm>
          <a:prstGeom prst="roundRect">
            <a:avLst>
              <a:gd name="adj" fmla="val 4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502920" y="3154680"/>
            <a:ext cx="457200" cy="457200"/>
          </a:xfrm>
          <a:prstGeom prst="ellipse">
            <a:avLst/>
          </a:prstGeom>
          <a:solidFill>
            <a:srgbClr val="1A7A4A"/>
          </a:solidFill>
          <a:ln w="12700">
            <a:solidFill>
              <a:srgbClr val="1A7A4A"/>
            </a:solidFill>
            <a:prstDash val="solid"/>
          </a:ln>
        </p:spPr>
      </p:sp>
      <p:sp>
        <p:nvSpPr>
          <p:cNvPr id="17" name="Text 15"/>
          <p:cNvSpPr/>
          <p:nvPr/>
        </p:nvSpPr>
        <p:spPr>
          <a:xfrm>
            <a:off x="502920" y="315468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C3</a:t>
            </a:r>
            <a:endParaRPr lang="en-US" sz="1000" dirty="0"/>
          </a:p>
        </p:txBody>
      </p:sp>
      <p:sp>
        <p:nvSpPr>
          <p:cNvPr id="18" name="Text 16"/>
          <p:cNvSpPr/>
          <p:nvPr/>
        </p:nvSpPr>
        <p:spPr>
          <a:xfrm>
            <a:off x="1051560" y="3182112"/>
            <a:ext cx="3246120" cy="411480"/>
          </a:xfrm>
          <a:prstGeom prst="rect">
            <a:avLst/>
          </a:prstGeom>
          <a:noFill/>
          <a:ln/>
        </p:spPr>
        <p:txBody>
          <a:bodyPr wrap="square" lIns="0" tIns="0" rIns="0" bIns="0" rtlCol="0" anchor="ctr"/>
          <a:lstStyle/>
          <a:p>
            <a:pPr marL="0" indent="0">
              <a:buNone/>
            </a:pPr>
            <a:r>
              <a:rPr lang="en-US" sz="1100" b="1" dirty="0">
                <a:solidFill>
                  <a:srgbClr val="1A7A4A"/>
                </a:solidFill>
              </a:rPr>
              <a:t>Empirical Discovery: α Direction Inversion on Fakeddit</a:t>
            </a:r>
            <a:endParaRPr lang="en-US" sz="1100" dirty="0"/>
          </a:p>
        </p:txBody>
      </p:sp>
      <p:sp>
        <p:nvSpPr>
          <p:cNvPr id="19" name="Text 17"/>
          <p:cNvSpPr/>
          <p:nvPr/>
        </p:nvSpPr>
        <p:spPr>
          <a:xfrm>
            <a:off x="530352" y="3657600"/>
            <a:ext cx="3749040" cy="111556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Fake posts exhibit HIGHER mean CLIP similarity (0.300) than real posts (0.253), Δ = +0.048 ≈ 1 std dev. Counter-intuitive finding that challenges the prevailing low-α-implies-manipulation assumption used by prior CLIP-based detectors on Reddit-sourced data.</a:t>
            </a:r>
            <a:endParaRPr lang="en-US" sz="950" dirty="0"/>
          </a:p>
        </p:txBody>
      </p:sp>
      <p:sp>
        <p:nvSpPr>
          <p:cNvPr id="20" name="Shape 18"/>
          <p:cNvSpPr/>
          <p:nvPr/>
        </p:nvSpPr>
        <p:spPr>
          <a:xfrm>
            <a:off x="4663440" y="3017520"/>
            <a:ext cx="4069080" cy="1828800"/>
          </a:xfrm>
          <a:prstGeom prst="roundRect">
            <a:avLst>
              <a:gd name="adj" fmla="val 4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21" name="Shape 19"/>
          <p:cNvSpPr/>
          <p:nvPr/>
        </p:nvSpPr>
        <p:spPr>
          <a:xfrm>
            <a:off x="4800600" y="3154680"/>
            <a:ext cx="457200" cy="457200"/>
          </a:xfrm>
          <a:prstGeom prst="ellipse">
            <a:avLst/>
          </a:prstGeom>
          <a:solidFill>
            <a:srgbClr val="6D2E46"/>
          </a:solidFill>
          <a:ln w="12700">
            <a:solidFill>
              <a:srgbClr val="6D2E46"/>
            </a:solidFill>
            <a:prstDash val="solid"/>
          </a:ln>
        </p:spPr>
      </p:sp>
      <p:sp>
        <p:nvSpPr>
          <p:cNvPr id="22" name="Text 20"/>
          <p:cNvSpPr/>
          <p:nvPr/>
        </p:nvSpPr>
        <p:spPr>
          <a:xfrm>
            <a:off x="4800600" y="3154680"/>
            <a:ext cx="457200" cy="457200"/>
          </a:xfrm>
          <a:prstGeom prst="rect">
            <a:avLst/>
          </a:prstGeom>
          <a:noFill/>
          <a:ln/>
        </p:spPr>
        <p:txBody>
          <a:bodyPr wrap="square" lIns="0" tIns="0" rIns="0" bIns="0" rtlCol="0" anchor="ctr"/>
          <a:lstStyle/>
          <a:p>
            <a:pPr marL="0" indent="0" algn="ctr">
              <a:buNone/>
            </a:pPr>
            <a:r>
              <a:rPr lang="en-US" sz="1000" b="1" dirty="0">
                <a:solidFill>
                  <a:srgbClr val="FFFFFF"/>
                </a:solidFill>
              </a:rPr>
              <a:t>C4</a:t>
            </a:r>
            <a:endParaRPr lang="en-US" sz="1000" dirty="0"/>
          </a:p>
        </p:txBody>
      </p:sp>
      <p:sp>
        <p:nvSpPr>
          <p:cNvPr id="23" name="Text 21"/>
          <p:cNvSpPr/>
          <p:nvPr/>
        </p:nvSpPr>
        <p:spPr>
          <a:xfrm>
            <a:off x="5349240" y="3182112"/>
            <a:ext cx="3246120" cy="411480"/>
          </a:xfrm>
          <a:prstGeom prst="rect">
            <a:avLst/>
          </a:prstGeom>
          <a:noFill/>
          <a:ln/>
        </p:spPr>
        <p:txBody>
          <a:bodyPr wrap="square" lIns="0" tIns="0" rIns="0" bIns="0" rtlCol="0" anchor="ctr"/>
          <a:lstStyle/>
          <a:p>
            <a:pPr marL="0" indent="0">
              <a:buNone/>
            </a:pPr>
            <a:r>
              <a:rPr lang="en-US" sz="1100" b="1" dirty="0">
                <a:solidFill>
                  <a:srgbClr val="6D2E46"/>
                </a:solidFill>
              </a:rPr>
              <a:t>Resource-Constrained Academic Reproducibility</a:t>
            </a:r>
            <a:endParaRPr lang="en-US" sz="1100" dirty="0"/>
          </a:p>
        </p:txBody>
      </p:sp>
      <p:sp>
        <p:nvSpPr>
          <p:cNvPr id="24" name="Text 22"/>
          <p:cNvSpPr/>
          <p:nvPr/>
        </p:nvSpPr>
        <p:spPr>
          <a:xfrm>
            <a:off x="4828032" y="3657600"/>
            <a:ext cx="3749040" cy="111556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Complete two-stage fine-tuning, 5-variant ablation, and three-level XAI framework on a single NVIDIA T4 16GB GPU in ~23 minutes total. HDF5 packing reduces epoch I/O from 20 min to &lt;30 sec. Fully reproducible: seed=42 across Python/NumPy/PyTorch/CUDA.</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Limitations</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27 / 30</a:t>
            </a:r>
            <a:endParaRPr lang="en-US" sz="900" dirty="0"/>
          </a:p>
        </p:txBody>
      </p:sp>
      <p:sp>
        <p:nvSpPr>
          <p:cNvPr id="5" name="Shape 3"/>
          <p:cNvSpPr/>
          <p:nvPr/>
        </p:nvSpPr>
        <p:spPr>
          <a:xfrm>
            <a:off x="274320" y="960120"/>
            <a:ext cx="4114800" cy="1755648"/>
          </a:xfrm>
          <a:prstGeom prst="roundRect">
            <a:avLst>
              <a:gd name="adj" fmla="val 41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Shape 4"/>
          <p:cNvSpPr/>
          <p:nvPr/>
        </p:nvSpPr>
        <p:spPr>
          <a:xfrm>
            <a:off x="274320" y="960120"/>
            <a:ext cx="1188720" cy="1755648"/>
          </a:xfrm>
          <a:prstGeom prst="roundRect">
            <a:avLst>
              <a:gd name="adj" fmla="val 4615"/>
            </a:avLst>
          </a:prstGeom>
          <a:solidFill>
            <a:srgbClr val="0E7C7B"/>
          </a:solidFill>
          <a:ln w="12700">
            <a:solidFill>
              <a:srgbClr val="0E7C7B"/>
            </a:solidFill>
            <a:prstDash val="solid"/>
          </a:ln>
        </p:spPr>
      </p:sp>
      <p:sp>
        <p:nvSpPr>
          <p:cNvPr id="7" name="Text 5"/>
          <p:cNvSpPr/>
          <p:nvPr/>
        </p:nvSpPr>
        <p:spPr>
          <a:xfrm>
            <a:off x="274320" y="960120"/>
            <a:ext cx="1188720" cy="1755648"/>
          </a:xfrm>
          <a:prstGeom prst="rect">
            <a:avLst/>
          </a:prstGeom>
          <a:noFill/>
          <a:ln/>
        </p:spPr>
        <p:txBody>
          <a:bodyPr wrap="square" lIns="0" tIns="0" rIns="0" bIns="0" rtlCol="0" anchor="ctr"/>
          <a:lstStyle/>
          <a:p>
            <a:pPr marL="0" indent="0" algn="ctr">
              <a:buNone/>
            </a:pPr>
            <a:r>
              <a:rPr lang="en-US" sz="1100" b="1" dirty="0">
                <a:solidFill>
                  <a:srgbClr val="FFFFFF"/>
                </a:solidFill>
              </a:rPr>
              <a:t>Computational</a:t>
            </a:r>
            <a:endParaRPr lang="en-US" sz="1100" dirty="0"/>
          </a:p>
        </p:txBody>
      </p:sp>
      <p:sp>
        <p:nvSpPr>
          <p:cNvPr id="8" name="Text 6"/>
          <p:cNvSpPr/>
          <p:nvPr/>
        </p:nvSpPr>
        <p:spPr>
          <a:xfrm>
            <a:off x="1554480" y="1069848"/>
            <a:ext cx="2743200" cy="1554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Trained on 17,149 samples — not the originally planned 100,000 due to broken URL filtering</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Single-seed evaluation (seed=42) — multi-seed variance not fully quantified</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Batch size limited to 16 (effective 32) due to T4 16GB constraint</a:t>
            </a:r>
            <a:endParaRPr lang="en-US" sz="950" dirty="0"/>
          </a:p>
        </p:txBody>
      </p:sp>
      <p:sp>
        <p:nvSpPr>
          <p:cNvPr id="9" name="Shape 7"/>
          <p:cNvSpPr/>
          <p:nvPr/>
        </p:nvSpPr>
        <p:spPr>
          <a:xfrm>
            <a:off x="4663440" y="960120"/>
            <a:ext cx="4114800" cy="1755648"/>
          </a:xfrm>
          <a:prstGeom prst="roundRect">
            <a:avLst>
              <a:gd name="adj" fmla="val 41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0" name="Shape 8"/>
          <p:cNvSpPr/>
          <p:nvPr/>
        </p:nvSpPr>
        <p:spPr>
          <a:xfrm>
            <a:off x="4663440" y="960120"/>
            <a:ext cx="1188720" cy="1755648"/>
          </a:xfrm>
          <a:prstGeom prst="roundRect">
            <a:avLst>
              <a:gd name="adj" fmla="val 4615"/>
            </a:avLst>
          </a:prstGeom>
          <a:solidFill>
            <a:srgbClr val="E8871A"/>
          </a:solidFill>
          <a:ln w="12700">
            <a:solidFill>
              <a:srgbClr val="E8871A"/>
            </a:solidFill>
            <a:prstDash val="solid"/>
          </a:ln>
        </p:spPr>
      </p:sp>
      <p:sp>
        <p:nvSpPr>
          <p:cNvPr id="11" name="Text 9"/>
          <p:cNvSpPr/>
          <p:nvPr/>
        </p:nvSpPr>
        <p:spPr>
          <a:xfrm>
            <a:off x="4663440" y="960120"/>
            <a:ext cx="1188720" cy="1755648"/>
          </a:xfrm>
          <a:prstGeom prst="rect">
            <a:avLst/>
          </a:prstGeom>
          <a:noFill/>
          <a:ln/>
        </p:spPr>
        <p:txBody>
          <a:bodyPr wrap="square" lIns="0" tIns="0" rIns="0" bIns="0" rtlCol="0" anchor="ctr"/>
          <a:lstStyle/>
          <a:p>
            <a:pPr marL="0" indent="0" algn="ctr">
              <a:buNone/>
            </a:pPr>
            <a:r>
              <a:rPr lang="en-US" sz="1100" b="1" dirty="0">
                <a:solidFill>
                  <a:srgbClr val="FFFFFF"/>
                </a:solidFill>
              </a:rPr>
              <a:t>Dataset</a:t>
            </a:r>
            <a:endParaRPr lang="en-US" sz="1100" dirty="0"/>
          </a:p>
        </p:txBody>
      </p:sp>
      <p:sp>
        <p:nvSpPr>
          <p:cNvPr id="12" name="Text 10"/>
          <p:cNvSpPr/>
          <p:nvPr/>
        </p:nvSpPr>
        <p:spPr>
          <a:xfrm>
            <a:off x="5943600" y="1069848"/>
            <a:ext cx="2743200" cy="1554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Reddit-only corpus — platform-specific biases; not directly generalizable to Facebook/Twitter</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Subreddit-level labels (not per-post human annotation) — some label noise is inherent</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English-only — system cannot process multilingual content directly</a:t>
            </a:r>
            <a:endParaRPr lang="en-US" sz="950" dirty="0"/>
          </a:p>
        </p:txBody>
      </p:sp>
      <p:sp>
        <p:nvSpPr>
          <p:cNvPr id="13" name="Shape 11"/>
          <p:cNvSpPr/>
          <p:nvPr/>
        </p:nvSpPr>
        <p:spPr>
          <a:xfrm>
            <a:off x="274320" y="2971800"/>
            <a:ext cx="4114800" cy="1755648"/>
          </a:xfrm>
          <a:prstGeom prst="roundRect">
            <a:avLst>
              <a:gd name="adj" fmla="val 41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4" name="Shape 12"/>
          <p:cNvSpPr/>
          <p:nvPr/>
        </p:nvSpPr>
        <p:spPr>
          <a:xfrm>
            <a:off x="274320" y="2971800"/>
            <a:ext cx="1188720" cy="1755648"/>
          </a:xfrm>
          <a:prstGeom prst="roundRect">
            <a:avLst>
              <a:gd name="adj" fmla="val 4615"/>
            </a:avLst>
          </a:prstGeom>
          <a:solidFill>
            <a:srgbClr val="1A7A4A"/>
          </a:solidFill>
          <a:ln w="12700">
            <a:solidFill>
              <a:srgbClr val="1A7A4A"/>
            </a:solidFill>
            <a:prstDash val="solid"/>
          </a:ln>
        </p:spPr>
      </p:sp>
      <p:sp>
        <p:nvSpPr>
          <p:cNvPr id="15" name="Text 13"/>
          <p:cNvSpPr/>
          <p:nvPr/>
        </p:nvSpPr>
        <p:spPr>
          <a:xfrm>
            <a:off x="274320" y="2971800"/>
            <a:ext cx="1188720" cy="1755648"/>
          </a:xfrm>
          <a:prstGeom prst="rect">
            <a:avLst/>
          </a:prstGeom>
          <a:noFill/>
          <a:ln/>
        </p:spPr>
        <p:txBody>
          <a:bodyPr wrap="square" lIns="0" tIns="0" rIns="0" bIns="0" rtlCol="0" anchor="ctr"/>
          <a:lstStyle/>
          <a:p>
            <a:pPr marL="0" indent="0" algn="ctr">
              <a:buNone/>
            </a:pPr>
            <a:r>
              <a:rPr lang="en-US" sz="1100" b="1" dirty="0">
                <a:solidFill>
                  <a:srgbClr val="FFFFFF"/>
                </a:solidFill>
              </a:rPr>
              <a:t>Scope</a:t>
            </a:r>
            <a:endParaRPr lang="en-US" sz="1100" dirty="0"/>
          </a:p>
        </p:txBody>
      </p:sp>
      <p:sp>
        <p:nvSpPr>
          <p:cNvPr id="16" name="Text 14"/>
          <p:cNvSpPr/>
          <p:nvPr/>
        </p:nvSpPr>
        <p:spPr>
          <a:xfrm>
            <a:off x="1554480" y="3081528"/>
            <a:ext cx="2743200" cy="1554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Fixed image-text pairs only — no video, audio, or multi-image posts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Binary classification (real/fake) — excludes nuanced categories: satire, misleading context, partial truth</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No external knowledge base or fact-checking API integration</a:t>
            </a:r>
            <a:endParaRPr lang="en-US" sz="950" dirty="0"/>
          </a:p>
        </p:txBody>
      </p:sp>
      <p:sp>
        <p:nvSpPr>
          <p:cNvPr id="17" name="Shape 15"/>
          <p:cNvSpPr/>
          <p:nvPr/>
        </p:nvSpPr>
        <p:spPr>
          <a:xfrm>
            <a:off x="4663440" y="2971800"/>
            <a:ext cx="4114800" cy="1755648"/>
          </a:xfrm>
          <a:prstGeom prst="roundRect">
            <a:avLst>
              <a:gd name="adj" fmla="val 4167"/>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8" name="Shape 16"/>
          <p:cNvSpPr/>
          <p:nvPr/>
        </p:nvSpPr>
        <p:spPr>
          <a:xfrm>
            <a:off x="4663440" y="2971800"/>
            <a:ext cx="1188720" cy="1755648"/>
          </a:xfrm>
          <a:prstGeom prst="roundRect">
            <a:avLst>
              <a:gd name="adj" fmla="val 4615"/>
            </a:avLst>
          </a:prstGeom>
          <a:solidFill>
            <a:srgbClr val="6D2E46"/>
          </a:solidFill>
          <a:ln w="12700">
            <a:solidFill>
              <a:srgbClr val="6D2E46"/>
            </a:solidFill>
            <a:prstDash val="solid"/>
          </a:ln>
        </p:spPr>
      </p:sp>
      <p:sp>
        <p:nvSpPr>
          <p:cNvPr id="19" name="Text 17"/>
          <p:cNvSpPr/>
          <p:nvPr/>
        </p:nvSpPr>
        <p:spPr>
          <a:xfrm>
            <a:off x="4663440" y="2971800"/>
            <a:ext cx="1188720" cy="1755648"/>
          </a:xfrm>
          <a:prstGeom prst="rect">
            <a:avLst/>
          </a:prstGeom>
          <a:noFill/>
          <a:ln/>
        </p:spPr>
        <p:txBody>
          <a:bodyPr wrap="square" lIns="0" tIns="0" rIns="0" bIns="0" rtlCol="0" anchor="ctr"/>
          <a:lstStyle/>
          <a:p>
            <a:pPr marL="0" indent="0" algn="ctr">
              <a:buNone/>
            </a:pPr>
            <a:r>
              <a:rPr lang="en-US" sz="1100" b="1" dirty="0">
                <a:solidFill>
                  <a:srgbClr val="FFFFFF"/>
                </a:solidFill>
              </a:rPr>
              <a:t>Explainability</a:t>
            </a:r>
            <a:endParaRPr lang="en-US" sz="1100" dirty="0"/>
          </a:p>
        </p:txBody>
      </p:sp>
      <p:sp>
        <p:nvSpPr>
          <p:cNvPr id="20" name="Text 18"/>
          <p:cNvSpPr/>
          <p:nvPr/>
        </p:nvSpPr>
        <p:spPr>
          <a:xfrm>
            <a:off x="5943600" y="3081528"/>
            <a:ext cx="2743200" cy="15544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Attention weights reveal focus but do not guarantee causal factors in decision-making</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SHAP/LIME n=30 sample set: robust per-sample, but not population-stable for aggregate stats</a:t>
            </a:r>
            <a:endParaRPr lang="en-US" sz="950" dirty="0"/>
          </a:p>
          <a:p>
            <a:pPr marL="342900" indent="-342900">
              <a:spcAft>
                <a:spcPts val="300"/>
              </a:spcAft>
              <a:buSzPct val="100000"/>
              <a:buChar char="•"/>
            </a:pPr>
            <a:r>
              <a:rPr lang="en-US" sz="950" dirty="0">
                <a:solidFill>
                  <a:srgbClr val="1C2B3A"/>
                </a:solidFill>
                <a:latin typeface="Calibri" pitchFamily="34" charset="0"/>
                <a:ea typeface="Calibri" pitchFamily="34" charset="-122"/>
                <a:cs typeface="Calibri" pitchFamily="34" charset="-120"/>
              </a:rPr>
              <a:t>SHAP/LIME applied to TEXT-ONLY model — not the full multimodal model — for clean semantics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0D1B2A"/>
                </a:solidFill>
                <a:latin typeface="Cambria" pitchFamily="34" charset="0"/>
                <a:ea typeface="Cambria" pitchFamily="34" charset="-122"/>
                <a:cs typeface="Cambria" pitchFamily="34" charset="-120"/>
              </a:rPr>
              <a:t>Future Work</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28 / 30</a:t>
            </a:r>
            <a:endParaRPr lang="en-US" sz="900" dirty="0"/>
          </a:p>
        </p:txBody>
      </p:sp>
      <p:sp>
        <p:nvSpPr>
          <p:cNvPr id="5" name="Shape 3"/>
          <p:cNvSpPr/>
          <p:nvPr/>
        </p:nvSpPr>
        <p:spPr>
          <a:xfrm>
            <a:off x="274320" y="960120"/>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411480" y="1051560"/>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Multi-Seed Evaluation</a:t>
            </a:r>
            <a:endParaRPr lang="en-US" sz="1200" dirty="0"/>
          </a:p>
        </p:txBody>
      </p:sp>
      <p:sp>
        <p:nvSpPr>
          <p:cNvPr id="7" name="Shape 5"/>
          <p:cNvSpPr/>
          <p:nvPr/>
        </p:nvSpPr>
        <p:spPr>
          <a:xfrm>
            <a:off x="3675888" y="1069848"/>
            <a:ext cx="594360" cy="237744"/>
          </a:xfrm>
          <a:prstGeom prst="roundRect">
            <a:avLst>
              <a:gd name="adj" fmla="val 19231"/>
            </a:avLst>
          </a:prstGeom>
          <a:solidFill>
            <a:srgbClr val="C0392B"/>
          </a:solidFill>
          <a:ln w="12700">
            <a:solidFill>
              <a:srgbClr val="C0392B"/>
            </a:solidFill>
            <a:prstDash val="solid"/>
          </a:ln>
        </p:spPr>
      </p:sp>
      <p:sp>
        <p:nvSpPr>
          <p:cNvPr id="8" name="Text 6"/>
          <p:cNvSpPr/>
          <p:nvPr/>
        </p:nvSpPr>
        <p:spPr>
          <a:xfrm>
            <a:off x="3675888" y="1069848"/>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Immediate</a:t>
            </a:r>
            <a:endParaRPr lang="en-US" sz="750" dirty="0"/>
          </a:p>
        </p:txBody>
      </p:sp>
      <p:sp>
        <p:nvSpPr>
          <p:cNvPr id="9" name="Text 7"/>
          <p:cNvSpPr/>
          <p:nvPr/>
        </p:nvSpPr>
        <p:spPr>
          <a:xfrm>
            <a:off x="411480" y="1435608"/>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Run full HEMT-CLIP at seeds 7 and 123 (est. +12 min on T4) to quantify variance and strengthen statistical claims. Straightforward near-term extension.</a:t>
            </a:r>
            <a:endParaRPr lang="en-US" sz="950" dirty="0"/>
          </a:p>
        </p:txBody>
      </p:sp>
      <p:sp>
        <p:nvSpPr>
          <p:cNvPr id="10" name="Shape 8"/>
          <p:cNvSpPr/>
          <p:nvPr/>
        </p:nvSpPr>
        <p:spPr>
          <a:xfrm>
            <a:off x="4663440" y="960120"/>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1" name="Text 9"/>
          <p:cNvSpPr/>
          <p:nvPr/>
        </p:nvSpPr>
        <p:spPr>
          <a:xfrm>
            <a:off x="4800600" y="1051560"/>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Scale to 100k+ Samples</a:t>
            </a:r>
            <a:endParaRPr lang="en-US" sz="1200" dirty="0"/>
          </a:p>
        </p:txBody>
      </p:sp>
      <p:sp>
        <p:nvSpPr>
          <p:cNvPr id="12" name="Shape 10"/>
          <p:cNvSpPr/>
          <p:nvPr/>
        </p:nvSpPr>
        <p:spPr>
          <a:xfrm>
            <a:off x="8065008" y="1069848"/>
            <a:ext cx="594360" cy="237744"/>
          </a:xfrm>
          <a:prstGeom prst="roundRect">
            <a:avLst>
              <a:gd name="adj" fmla="val 19231"/>
            </a:avLst>
          </a:prstGeom>
          <a:solidFill>
            <a:srgbClr val="E8871A"/>
          </a:solidFill>
          <a:ln w="12700">
            <a:solidFill>
              <a:srgbClr val="E8871A"/>
            </a:solidFill>
            <a:prstDash val="solid"/>
          </a:ln>
        </p:spPr>
      </p:sp>
      <p:sp>
        <p:nvSpPr>
          <p:cNvPr id="13" name="Text 11"/>
          <p:cNvSpPr/>
          <p:nvPr/>
        </p:nvSpPr>
        <p:spPr>
          <a:xfrm>
            <a:off x="8065008" y="1069848"/>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Near-term</a:t>
            </a:r>
            <a:endParaRPr lang="en-US" sz="750" dirty="0"/>
          </a:p>
        </p:txBody>
      </p:sp>
      <p:sp>
        <p:nvSpPr>
          <p:cNvPr id="14" name="Text 12"/>
          <p:cNvSpPr/>
          <p:nvPr/>
        </p:nvSpPr>
        <p:spPr>
          <a:xfrm>
            <a:off x="4800600" y="1435608"/>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Test whether α-gate advantage persists at larger data scales. Verify counter-intuitive α direction is maintained beyond 17k subset.</a:t>
            </a:r>
            <a:endParaRPr lang="en-US" sz="950" dirty="0"/>
          </a:p>
        </p:txBody>
      </p:sp>
      <p:sp>
        <p:nvSpPr>
          <p:cNvPr id="15" name="Shape 13"/>
          <p:cNvSpPr/>
          <p:nvPr/>
        </p:nvSpPr>
        <p:spPr>
          <a:xfrm>
            <a:off x="274320" y="2258568"/>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16" name="Text 14"/>
          <p:cNvSpPr/>
          <p:nvPr/>
        </p:nvSpPr>
        <p:spPr>
          <a:xfrm>
            <a:off x="411480" y="2350008"/>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Social Context Integration</a:t>
            </a:r>
            <a:endParaRPr lang="en-US" sz="1200" dirty="0"/>
          </a:p>
        </p:txBody>
      </p:sp>
      <p:sp>
        <p:nvSpPr>
          <p:cNvPr id="17" name="Shape 15"/>
          <p:cNvSpPr/>
          <p:nvPr/>
        </p:nvSpPr>
        <p:spPr>
          <a:xfrm>
            <a:off x="3675888" y="2368296"/>
            <a:ext cx="594360" cy="237744"/>
          </a:xfrm>
          <a:prstGeom prst="roundRect">
            <a:avLst>
              <a:gd name="adj" fmla="val 19231"/>
            </a:avLst>
          </a:prstGeom>
          <a:solidFill>
            <a:srgbClr val="E8871A"/>
          </a:solidFill>
          <a:ln w="12700">
            <a:solidFill>
              <a:srgbClr val="E8871A"/>
            </a:solidFill>
            <a:prstDash val="solid"/>
          </a:ln>
        </p:spPr>
      </p:sp>
      <p:sp>
        <p:nvSpPr>
          <p:cNvPr id="18" name="Text 16"/>
          <p:cNvSpPr/>
          <p:nvPr/>
        </p:nvSpPr>
        <p:spPr>
          <a:xfrm>
            <a:off x="3675888" y="2368296"/>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Near-term</a:t>
            </a:r>
            <a:endParaRPr lang="en-US" sz="750" dirty="0"/>
          </a:p>
        </p:txBody>
      </p:sp>
      <p:sp>
        <p:nvSpPr>
          <p:cNvPr id="19" name="Text 17"/>
          <p:cNvSpPr/>
          <p:nvPr/>
        </p:nvSpPr>
        <p:spPr>
          <a:xfrm>
            <a:off x="411480" y="2734056"/>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Add subreddit metadata, vote scores, and user comment features as auxiliary inputs — as demonstrated by Tri-FusionDet and dEFEND.</a:t>
            </a:r>
            <a:endParaRPr lang="en-US" sz="950" dirty="0"/>
          </a:p>
        </p:txBody>
      </p:sp>
      <p:sp>
        <p:nvSpPr>
          <p:cNvPr id="20" name="Shape 18"/>
          <p:cNvSpPr/>
          <p:nvPr/>
        </p:nvSpPr>
        <p:spPr>
          <a:xfrm>
            <a:off x="4663440" y="2258568"/>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1" name="Text 19"/>
          <p:cNvSpPr/>
          <p:nvPr/>
        </p:nvSpPr>
        <p:spPr>
          <a:xfrm>
            <a:off x="4800600" y="2350008"/>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Multilingual Extension</a:t>
            </a:r>
            <a:endParaRPr lang="en-US" sz="1200" dirty="0"/>
          </a:p>
        </p:txBody>
      </p:sp>
      <p:sp>
        <p:nvSpPr>
          <p:cNvPr id="22" name="Shape 20"/>
          <p:cNvSpPr/>
          <p:nvPr/>
        </p:nvSpPr>
        <p:spPr>
          <a:xfrm>
            <a:off x="8065008" y="2368296"/>
            <a:ext cx="594360" cy="237744"/>
          </a:xfrm>
          <a:prstGeom prst="roundRect">
            <a:avLst>
              <a:gd name="adj" fmla="val 19231"/>
            </a:avLst>
          </a:prstGeom>
          <a:solidFill>
            <a:srgbClr val="7A8FA6"/>
          </a:solidFill>
          <a:ln w="12700">
            <a:solidFill>
              <a:srgbClr val="7A8FA6"/>
            </a:solidFill>
            <a:prstDash val="solid"/>
          </a:ln>
        </p:spPr>
      </p:sp>
      <p:sp>
        <p:nvSpPr>
          <p:cNvPr id="23" name="Text 21"/>
          <p:cNvSpPr/>
          <p:nvPr/>
        </p:nvSpPr>
        <p:spPr>
          <a:xfrm>
            <a:off x="8065008" y="2368296"/>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Medium-term</a:t>
            </a:r>
            <a:endParaRPr lang="en-US" sz="750" dirty="0"/>
          </a:p>
        </p:txBody>
      </p:sp>
      <p:sp>
        <p:nvSpPr>
          <p:cNvPr id="24" name="Text 22"/>
          <p:cNvSpPr/>
          <p:nvPr/>
        </p:nvSpPr>
        <p:spPr>
          <a:xfrm>
            <a:off x="4800600" y="2734056"/>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Extend to multilingual content following HEMT-Fake approach — broaden beyond English Reddit posts. Use multilingual CLIP and mBERT variants.</a:t>
            </a:r>
            <a:endParaRPr lang="en-US" sz="950" dirty="0"/>
          </a:p>
        </p:txBody>
      </p:sp>
      <p:sp>
        <p:nvSpPr>
          <p:cNvPr id="25" name="Shape 23"/>
          <p:cNvSpPr/>
          <p:nvPr/>
        </p:nvSpPr>
        <p:spPr>
          <a:xfrm>
            <a:off x="274320" y="3557016"/>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26" name="Text 24"/>
          <p:cNvSpPr/>
          <p:nvPr/>
        </p:nvSpPr>
        <p:spPr>
          <a:xfrm>
            <a:off x="411480" y="3648456"/>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Full Multimodal XAI</a:t>
            </a:r>
            <a:endParaRPr lang="en-US" sz="1200" dirty="0"/>
          </a:p>
        </p:txBody>
      </p:sp>
      <p:sp>
        <p:nvSpPr>
          <p:cNvPr id="27" name="Shape 25"/>
          <p:cNvSpPr/>
          <p:nvPr/>
        </p:nvSpPr>
        <p:spPr>
          <a:xfrm>
            <a:off x="3675888" y="3666744"/>
            <a:ext cx="594360" cy="237744"/>
          </a:xfrm>
          <a:prstGeom prst="roundRect">
            <a:avLst>
              <a:gd name="adj" fmla="val 19231"/>
            </a:avLst>
          </a:prstGeom>
          <a:solidFill>
            <a:srgbClr val="7A8FA6"/>
          </a:solidFill>
          <a:ln w="12700">
            <a:solidFill>
              <a:srgbClr val="7A8FA6"/>
            </a:solidFill>
            <a:prstDash val="solid"/>
          </a:ln>
        </p:spPr>
      </p:sp>
      <p:sp>
        <p:nvSpPr>
          <p:cNvPr id="28" name="Text 26"/>
          <p:cNvSpPr/>
          <p:nvPr/>
        </p:nvSpPr>
        <p:spPr>
          <a:xfrm>
            <a:off x="3675888" y="3666744"/>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Medium-term</a:t>
            </a:r>
            <a:endParaRPr lang="en-US" sz="750" dirty="0"/>
          </a:p>
        </p:txBody>
      </p:sp>
      <p:sp>
        <p:nvSpPr>
          <p:cNvPr id="29" name="Text 27"/>
          <p:cNvSpPr/>
          <p:nvPr/>
        </p:nvSpPr>
        <p:spPr>
          <a:xfrm>
            <a:off x="411480" y="4032504"/>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Replace text-only surrogate for SHAP/LIME with full multimodal attribution method — richer explanations reflecting joint text-image decision.</a:t>
            </a:r>
            <a:endParaRPr lang="en-US" sz="950" dirty="0"/>
          </a:p>
        </p:txBody>
      </p:sp>
      <p:sp>
        <p:nvSpPr>
          <p:cNvPr id="30" name="Shape 28"/>
          <p:cNvSpPr/>
          <p:nvPr/>
        </p:nvSpPr>
        <p:spPr>
          <a:xfrm>
            <a:off x="4663440" y="3557016"/>
            <a:ext cx="4114800" cy="1170432"/>
          </a:xfrm>
          <a:prstGeom prst="roundRect">
            <a:avLst>
              <a:gd name="adj" fmla="val 6250"/>
            </a:avLst>
          </a:prstGeom>
          <a:solidFill>
            <a:srgbClr val="FFFFFF"/>
          </a:solidFill>
          <a:ln w="12700">
            <a:solidFill>
              <a:srgbClr val="DDEAEA"/>
            </a:solidFill>
            <a:prstDash val="solid"/>
          </a:ln>
          <a:effectLst>
            <a:outerShdw blurRad="101600" dist="38100" dir="2700000" algn="bl" rotWithShape="0">
              <a:srgbClr val="000000">
                <a:alpha val="13000"/>
              </a:srgbClr>
            </a:outerShdw>
          </a:effectLst>
        </p:spPr>
      </p:sp>
      <p:sp>
        <p:nvSpPr>
          <p:cNvPr id="31" name="Text 29"/>
          <p:cNvSpPr/>
          <p:nvPr/>
        </p:nvSpPr>
        <p:spPr>
          <a:xfrm>
            <a:off x="4800600" y="3648456"/>
            <a:ext cx="3200400" cy="347472"/>
          </a:xfrm>
          <a:prstGeom prst="rect">
            <a:avLst/>
          </a:prstGeom>
          <a:noFill/>
          <a:ln/>
        </p:spPr>
        <p:txBody>
          <a:bodyPr wrap="square" lIns="0" tIns="0" rIns="0" bIns="0" rtlCol="0" anchor="ctr"/>
          <a:lstStyle/>
          <a:p>
            <a:pPr marL="0" indent="0">
              <a:buNone/>
            </a:pPr>
            <a:r>
              <a:rPr lang="en-US" sz="1200" b="1" dirty="0">
                <a:solidFill>
                  <a:srgbClr val="0E7C7B"/>
                </a:solidFill>
              </a:rPr>
              <a:t>🔗  External Knowledge Integration</a:t>
            </a:r>
            <a:endParaRPr lang="en-US" sz="1200" dirty="0"/>
          </a:p>
        </p:txBody>
      </p:sp>
      <p:sp>
        <p:nvSpPr>
          <p:cNvPr id="32" name="Shape 30"/>
          <p:cNvSpPr/>
          <p:nvPr/>
        </p:nvSpPr>
        <p:spPr>
          <a:xfrm>
            <a:off x="8065008" y="3666744"/>
            <a:ext cx="594360" cy="237744"/>
          </a:xfrm>
          <a:prstGeom prst="roundRect">
            <a:avLst>
              <a:gd name="adj" fmla="val 19231"/>
            </a:avLst>
          </a:prstGeom>
          <a:solidFill>
            <a:srgbClr val="7A8FA6"/>
          </a:solidFill>
          <a:ln w="12700">
            <a:solidFill>
              <a:srgbClr val="7A8FA6"/>
            </a:solidFill>
            <a:prstDash val="solid"/>
          </a:ln>
        </p:spPr>
      </p:sp>
      <p:sp>
        <p:nvSpPr>
          <p:cNvPr id="33" name="Text 31"/>
          <p:cNvSpPr/>
          <p:nvPr/>
        </p:nvSpPr>
        <p:spPr>
          <a:xfrm>
            <a:off x="8065008" y="3666744"/>
            <a:ext cx="594360" cy="237744"/>
          </a:xfrm>
          <a:prstGeom prst="rect">
            <a:avLst/>
          </a:prstGeom>
          <a:noFill/>
          <a:ln/>
        </p:spPr>
        <p:txBody>
          <a:bodyPr wrap="square" lIns="0" tIns="0" rIns="0" bIns="0" rtlCol="0" anchor="ctr"/>
          <a:lstStyle/>
          <a:p>
            <a:pPr marL="0" indent="0" algn="ctr">
              <a:buNone/>
            </a:pPr>
            <a:r>
              <a:rPr lang="en-US" sz="750" b="1" dirty="0">
                <a:solidFill>
                  <a:srgbClr val="FFFFFF"/>
                </a:solidFill>
              </a:rPr>
              <a:t>Long-term</a:t>
            </a:r>
            <a:endParaRPr lang="en-US" sz="750" dirty="0"/>
          </a:p>
        </p:txBody>
      </p:sp>
      <p:sp>
        <p:nvSpPr>
          <p:cNvPr id="34" name="Text 32"/>
          <p:cNvSpPr/>
          <p:nvPr/>
        </p:nvSpPr>
        <p:spPr>
          <a:xfrm>
            <a:off x="4800600" y="4032504"/>
            <a:ext cx="3840480" cy="658368"/>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Integrate fact-checking APIs (as in ExFake, TELLER) to verify factual claims independently — reduce vocabulary-bias errors on historically grounded content.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3" name="Shape 1"/>
          <p:cNvSpPr/>
          <p:nvPr/>
        </p:nvSpPr>
        <p:spPr>
          <a:xfrm>
            <a:off x="365760" y="804672"/>
            <a:ext cx="8412480" cy="36576"/>
          </a:xfrm>
          <a:prstGeom prst="rect">
            <a:avLst/>
          </a:prstGeom>
          <a:solidFill>
            <a:srgbClr val="0E7C7B"/>
          </a:solidFill>
          <a:ln w="12700">
            <a:solidFill>
              <a:srgbClr val="0E7C7B"/>
            </a:solidFill>
            <a:prstDash val="solid"/>
          </a:ln>
        </p:spPr>
      </p:sp>
      <p:sp>
        <p:nvSpPr>
          <p:cNvPr id="4" name="Text 2"/>
          <p:cNvSpPr/>
          <p:nvPr/>
        </p:nvSpPr>
        <p:spPr>
          <a:xfrm>
            <a:off x="8046720" y="4892040"/>
            <a:ext cx="822960" cy="201168"/>
          </a:xfrm>
          <a:prstGeom prst="rect">
            <a:avLst/>
          </a:prstGeom>
          <a:noFill/>
          <a:ln/>
        </p:spPr>
        <p:txBody>
          <a:bodyPr wrap="square" lIns="0" tIns="0" rIns="0" bIns="0" rtlCol="0" anchor="ctr"/>
          <a:lstStyle/>
          <a:p>
            <a:pPr marL="0" indent="0" algn="r">
              <a:buNone/>
            </a:pPr>
            <a:r>
              <a:rPr lang="en-US" sz="900" dirty="0">
                <a:solidFill>
                  <a:srgbClr val="7A8FA6"/>
                </a:solidFill>
              </a:rPr>
              <a:t>29 / 30</a:t>
            </a:r>
            <a:endParaRPr lang="en-US" sz="900" dirty="0"/>
          </a:p>
        </p:txBody>
      </p:sp>
      <p:sp>
        <p:nvSpPr>
          <p:cNvPr id="5" name="Shape 3"/>
          <p:cNvSpPr/>
          <p:nvPr/>
        </p:nvSpPr>
        <p:spPr>
          <a:xfrm>
            <a:off x="365760" y="960120"/>
            <a:ext cx="8412480" cy="1143000"/>
          </a:xfrm>
          <a:prstGeom prst="roundRect">
            <a:avLst>
              <a:gd name="adj" fmla="val 64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6" name="Text 4"/>
          <p:cNvSpPr/>
          <p:nvPr/>
        </p:nvSpPr>
        <p:spPr>
          <a:xfrm>
            <a:off x="502920" y="1005840"/>
            <a:ext cx="8046720" cy="1051560"/>
          </a:xfrm>
          <a:prstGeom prst="rect">
            <a:avLst/>
          </a:prstGeom>
          <a:noFill/>
          <a:ln/>
        </p:spPr>
        <p:txBody>
          <a:bodyPr wrap="square" lIns="0" tIns="0" rIns="0" bIns="0" rtlCol="0" anchor="ctr"/>
          <a:lstStyle/>
          <a:p>
            <a:pPr marL="0" indent="0" algn="ctr">
              <a:buNone/>
            </a:pPr>
            <a:r>
              <a:rPr lang="en-US" sz="1300" dirty="0">
                <a:solidFill>
                  <a:srgbClr val="17BEBB"/>
                </a:solidFill>
                <a:latin typeface="Cambria" pitchFamily="34" charset="0"/>
                <a:ea typeface="Cambria" pitchFamily="34" charset="-122"/>
                <a:cs typeface="Cambria" pitchFamily="34" charset="-120"/>
              </a:rPr>
              <a:t>HEMT-CLIP demonstrates that competitive multimodal fake news detection accuracy and intrinsic, multi-granular explainability are jointly attainable under constrained academic computing resources.</a:t>
            </a:r>
            <a:endParaRPr lang="en-US" sz="1300" dirty="0"/>
          </a:p>
        </p:txBody>
      </p:sp>
      <p:sp>
        <p:nvSpPr>
          <p:cNvPr id="7" name="Shape 5"/>
          <p:cNvSpPr/>
          <p:nvPr/>
        </p:nvSpPr>
        <p:spPr>
          <a:xfrm>
            <a:off x="365760" y="2267712"/>
            <a:ext cx="8412480" cy="457200"/>
          </a:xfrm>
          <a:prstGeom prst="roundRect">
            <a:avLst>
              <a:gd name="adj" fmla="val 16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8" name="Shape 6"/>
          <p:cNvSpPr/>
          <p:nvPr/>
        </p:nvSpPr>
        <p:spPr>
          <a:xfrm>
            <a:off x="365760" y="2267712"/>
            <a:ext cx="1188720" cy="457200"/>
          </a:xfrm>
          <a:prstGeom prst="roundRect">
            <a:avLst>
              <a:gd name="adj" fmla="val 10000"/>
            </a:avLst>
          </a:prstGeom>
          <a:solidFill>
            <a:srgbClr val="0E7C7B"/>
          </a:solidFill>
          <a:ln w="12700">
            <a:solidFill>
              <a:srgbClr val="0E7C7B"/>
            </a:solidFill>
            <a:prstDash val="solid"/>
          </a:ln>
        </p:spPr>
      </p:sp>
      <p:sp>
        <p:nvSpPr>
          <p:cNvPr id="9" name="Text 7"/>
          <p:cNvSpPr/>
          <p:nvPr/>
        </p:nvSpPr>
        <p:spPr>
          <a:xfrm>
            <a:off x="365760" y="2267712"/>
            <a:ext cx="1188720" cy="457200"/>
          </a:xfrm>
          <a:prstGeom prst="rect">
            <a:avLst/>
          </a:prstGeom>
          <a:noFill/>
          <a:ln/>
        </p:spPr>
        <p:txBody>
          <a:bodyPr wrap="square" lIns="0" tIns="0" rIns="0" bIns="0" rtlCol="0" anchor="ctr"/>
          <a:lstStyle/>
          <a:p>
            <a:pPr marL="0" indent="0" algn="ctr">
              <a:buNone/>
            </a:pPr>
            <a:r>
              <a:rPr lang="en-US" sz="1000" b="1" dirty="0">
                <a:solidFill>
                  <a:srgbClr val="FFFFFF"/>
                </a:solidFill>
              </a:rPr>
              <a:t>Architectural</a:t>
            </a:r>
            <a:endParaRPr lang="en-US" sz="1000" dirty="0"/>
          </a:p>
        </p:txBody>
      </p:sp>
      <p:sp>
        <p:nvSpPr>
          <p:cNvPr id="10" name="Text 8"/>
          <p:cNvSpPr/>
          <p:nvPr/>
        </p:nvSpPr>
        <p:spPr>
          <a:xfrm>
            <a:off x="1664208" y="2304288"/>
            <a:ext cx="6967728" cy="38404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α-similarity-gated cross-attention is the load-bearing component — parameter-free, but decisive (+1.16 F1, +2.03 AUC over α-as-feature)</a:t>
            </a:r>
            <a:endParaRPr lang="en-US" sz="1000" dirty="0"/>
          </a:p>
        </p:txBody>
      </p:sp>
      <p:sp>
        <p:nvSpPr>
          <p:cNvPr id="11" name="Shape 9"/>
          <p:cNvSpPr/>
          <p:nvPr/>
        </p:nvSpPr>
        <p:spPr>
          <a:xfrm>
            <a:off x="365760" y="2798064"/>
            <a:ext cx="8412480" cy="457200"/>
          </a:xfrm>
          <a:prstGeom prst="roundRect">
            <a:avLst>
              <a:gd name="adj" fmla="val 16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2" name="Shape 10"/>
          <p:cNvSpPr/>
          <p:nvPr/>
        </p:nvSpPr>
        <p:spPr>
          <a:xfrm>
            <a:off x="365760" y="2798064"/>
            <a:ext cx="1188720" cy="457200"/>
          </a:xfrm>
          <a:prstGeom prst="roundRect">
            <a:avLst>
              <a:gd name="adj" fmla="val 10000"/>
            </a:avLst>
          </a:prstGeom>
          <a:solidFill>
            <a:srgbClr val="E8871A"/>
          </a:solidFill>
          <a:ln w="12700">
            <a:solidFill>
              <a:srgbClr val="E8871A"/>
            </a:solidFill>
            <a:prstDash val="solid"/>
          </a:ln>
        </p:spPr>
      </p:sp>
      <p:sp>
        <p:nvSpPr>
          <p:cNvPr id="13" name="Text 11"/>
          <p:cNvSpPr/>
          <p:nvPr/>
        </p:nvSpPr>
        <p:spPr>
          <a:xfrm>
            <a:off x="365760" y="2798064"/>
            <a:ext cx="1188720" cy="457200"/>
          </a:xfrm>
          <a:prstGeom prst="rect">
            <a:avLst/>
          </a:prstGeom>
          <a:noFill/>
          <a:ln/>
        </p:spPr>
        <p:txBody>
          <a:bodyPr wrap="square" lIns="0" tIns="0" rIns="0" bIns="0" rtlCol="0" anchor="ctr"/>
          <a:lstStyle/>
          <a:p>
            <a:pPr marL="0" indent="0" algn="ctr">
              <a:buNone/>
            </a:pPr>
            <a:r>
              <a:rPr lang="en-US" sz="1000" b="1" dirty="0">
                <a:solidFill>
                  <a:srgbClr val="FFFFFF"/>
                </a:solidFill>
              </a:rPr>
              <a:t>Performance</a:t>
            </a:r>
            <a:endParaRPr lang="en-US" sz="1000" dirty="0"/>
          </a:p>
        </p:txBody>
      </p:sp>
      <p:sp>
        <p:nvSpPr>
          <p:cNvPr id="14" name="Text 12"/>
          <p:cNvSpPr/>
          <p:nvPr/>
        </p:nvSpPr>
        <p:spPr>
          <a:xfrm>
            <a:off x="1664208" y="2834640"/>
            <a:ext cx="6967728" cy="38404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F1 0.8393 · AUC 0.9122 · Acc 83.1% — best across 4 of 6 metrics, surpassing all unimodal and concatenation baselines</a:t>
            </a:r>
            <a:endParaRPr lang="en-US" sz="1000" dirty="0"/>
          </a:p>
        </p:txBody>
      </p:sp>
      <p:sp>
        <p:nvSpPr>
          <p:cNvPr id="15" name="Shape 13"/>
          <p:cNvSpPr/>
          <p:nvPr/>
        </p:nvSpPr>
        <p:spPr>
          <a:xfrm>
            <a:off x="365760" y="3328416"/>
            <a:ext cx="8412480" cy="457200"/>
          </a:xfrm>
          <a:prstGeom prst="roundRect">
            <a:avLst>
              <a:gd name="adj" fmla="val 16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16" name="Shape 14"/>
          <p:cNvSpPr/>
          <p:nvPr/>
        </p:nvSpPr>
        <p:spPr>
          <a:xfrm>
            <a:off x="365760" y="3328416"/>
            <a:ext cx="1188720" cy="457200"/>
          </a:xfrm>
          <a:prstGeom prst="roundRect">
            <a:avLst>
              <a:gd name="adj" fmla="val 10000"/>
            </a:avLst>
          </a:prstGeom>
          <a:solidFill>
            <a:srgbClr val="1A7A4A"/>
          </a:solidFill>
          <a:ln w="12700">
            <a:solidFill>
              <a:srgbClr val="1A7A4A"/>
            </a:solidFill>
            <a:prstDash val="solid"/>
          </a:ln>
        </p:spPr>
      </p:sp>
      <p:sp>
        <p:nvSpPr>
          <p:cNvPr id="17" name="Text 15"/>
          <p:cNvSpPr/>
          <p:nvPr/>
        </p:nvSpPr>
        <p:spPr>
          <a:xfrm>
            <a:off x="365760" y="3328416"/>
            <a:ext cx="1188720" cy="457200"/>
          </a:xfrm>
          <a:prstGeom prst="rect">
            <a:avLst/>
          </a:prstGeom>
          <a:noFill/>
          <a:ln/>
        </p:spPr>
        <p:txBody>
          <a:bodyPr wrap="square" lIns="0" tIns="0" rIns="0" bIns="0" rtlCol="0" anchor="ctr"/>
          <a:lstStyle/>
          <a:p>
            <a:pPr marL="0" indent="0" algn="ctr">
              <a:buNone/>
            </a:pPr>
            <a:r>
              <a:rPr lang="en-US" sz="1000" b="1" dirty="0">
                <a:solidFill>
                  <a:srgbClr val="FFFFFF"/>
                </a:solidFill>
              </a:rPr>
              <a:t>Explainability</a:t>
            </a:r>
            <a:endParaRPr lang="en-US" sz="1000" dirty="0"/>
          </a:p>
        </p:txBody>
      </p:sp>
      <p:sp>
        <p:nvSpPr>
          <p:cNvPr id="18" name="Text 16"/>
          <p:cNvSpPr/>
          <p:nvPr/>
        </p:nvSpPr>
        <p:spPr>
          <a:xfrm>
            <a:off x="1664208" y="3364992"/>
            <a:ext cx="6967728" cy="38404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Three-level XAI framework provides methodologically independent convergent evidence; conditional agreement analysis is more rigorous than single-method description</a:t>
            </a:r>
            <a:endParaRPr lang="en-US" sz="1000" dirty="0"/>
          </a:p>
        </p:txBody>
      </p:sp>
      <p:sp>
        <p:nvSpPr>
          <p:cNvPr id="19" name="Shape 17"/>
          <p:cNvSpPr/>
          <p:nvPr/>
        </p:nvSpPr>
        <p:spPr>
          <a:xfrm>
            <a:off x="365760" y="3858768"/>
            <a:ext cx="8412480" cy="457200"/>
          </a:xfrm>
          <a:prstGeom prst="roundRect">
            <a:avLst>
              <a:gd name="adj" fmla="val 16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20" name="Shape 18"/>
          <p:cNvSpPr/>
          <p:nvPr/>
        </p:nvSpPr>
        <p:spPr>
          <a:xfrm>
            <a:off x="365760" y="3858768"/>
            <a:ext cx="1188720" cy="457200"/>
          </a:xfrm>
          <a:prstGeom prst="roundRect">
            <a:avLst>
              <a:gd name="adj" fmla="val 10000"/>
            </a:avLst>
          </a:prstGeom>
          <a:solidFill>
            <a:srgbClr val="6D2E46"/>
          </a:solidFill>
          <a:ln w="12700">
            <a:solidFill>
              <a:srgbClr val="6D2E46"/>
            </a:solidFill>
            <a:prstDash val="solid"/>
          </a:ln>
        </p:spPr>
      </p:sp>
      <p:sp>
        <p:nvSpPr>
          <p:cNvPr id="21" name="Text 19"/>
          <p:cNvSpPr/>
          <p:nvPr/>
        </p:nvSpPr>
        <p:spPr>
          <a:xfrm>
            <a:off x="365760" y="3858768"/>
            <a:ext cx="1188720" cy="457200"/>
          </a:xfrm>
          <a:prstGeom prst="rect">
            <a:avLst/>
          </a:prstGeom>
          <a:noFill/>
          <a:ln/>
        </p:spPr>
        <p:txBody>
          <a:bodyPr wrap="square" lIns="0" tIns="0" rIns="0" bIns="0" rtlCol="0" anchor="ctr"/>
          <a:lstStyle/>
          <a:p>
            <a:pPr marL="0" indent="0" algn="ctr">
              <a:buNone/>
            </a:pPr>
            <a:r>
              <a:rPr lang="en-US" sz="1000" b="1" dirty="0">
                <a:solidFill>
                  <a:srgbClr val="FFFFFF"/>
                </a:solidFill>
              </a:rPr>
              <a:t>Empirical</a:t>
            </a:r>
            <a:endParaRPr lang="en-US" sz="1000" dirty="0"/>
          </a:p>
        </p:txBody>
      </p:sp>
      <p:sp>
        <p:nvSpPr>
          <p:cNvPr id="22" name="Text 20"/>
          <p:cNvSpPr/>
          <p:nvPr/>
        </p:nvSpPr>
        <p:spPr>
          <a:xfrm>
            <a:off x="1664208" y="3895344"/>
            <a:ext cx="6967728" cy="38404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Counter-intuitive α-inversion (fake α = 0.300 &gt; real α = 0.253) challenges prevailing CLIP-based manipulation assumption on Reddit-sourced data</a:t>
            </a:r>
            <a:endParaRPr lang="en-US" sz="1000" dirty="0"/>
          </a:p>
        </p:txBody>
      </p:sp>
      <p:sp>
        <p:nvSpPr>
          <p:cNvPr id="23" name="Shape 21"/>
          <p:cNvSpPr/>
          <p:nvPr/>
        </p:nvSpPr>
        <p:spPr>
          <a:xfrm>
            <a:off x="365760" y="4389120"/>
            <a:ext cx="8412480" cy="457200"/>
          </a:xfrm>
          <a:prstGeom prst="roundRect">
            <a:avLst>
              <a:gd name="adj" fmla="val 16000"/>
            </a:avLst>
          </a:prstGeom>
          <a:solidFill>
            <a:srgbClr val="0D1F30"/>
          </a:solidFill>
          <a:ln w="12700">
            <a:solidFill>
              <a:srgbClr val="DDEAEA"/>
            </a:solidFill>
            <a:prstDash val="solid"/>
          </a:ln>
          <a:effectLst>
            <a:outerShdw blurRad="101600" dist="38100" dir="2700000" algn="bl" rotWithShape="0">
              <a:srgbClr val="000000">
                <a:alpha val="13000"/>
              </a:srgbClr>
            </a:outerShdw>
          </a:effectLst>
        </p:spPr>
      </p:sp>
      <p:sp>
        <p:nvSpPr>
          <p:cNvPr id="24" name="Shape 22"/>
          <p:cNvSpPr/>
          <p:nvPr/>
        </p:nvSpPr>
        <p:spPr>
          <a:xfrm>
            <a:off x="365760" y="4389120"/>
            <a:ext cx="1188720" cy="457200"/>
          </a:xfrm>
          <a:prstGeom prst="roundRect">
            <a:avLst>
              <a:gd name="adj" fmla="val 10000"/>
            </a:avLst>
          </a:prstGeom>
          <a:solidFill>
            <a:srgbClr val="7A8FA6"/>
          </a:solidFill>
          <a:ln w="12700">
            <a:solidFill>
              <a:srgbClr val="7A8FA6"/>
            </a:solidFill>
            <a:prstDash val="solid"/>
          </a:ln>
        </p:spPr>
      </p:sp>
      <p:sp>
        <p:nvSpPr>
          <p:cNvPr id="25" name="Text 23"/>
          <p:cNvSpPr/>
          <p:nvPr/>
        </p:nvSpPr>
        <p:spPr>
          <a:xfrm>
            <a:off x="365760" y="4389120"/>
            <a:ext cx="1188720" cy="457200"/>
          </a:xfrm>
          <a:prstGeom prst="rect">
            <a:avLst/>
          </a:prstGeom>
          <a:noFill/>
          <a:ln/>
        </p:spPr>
        <p:txBody>
          <a:bodyPr wrap="square" lIns="0" tIns="0" rIns="0" bIns="0" rtlCol="0" anchor="ctr"/>
          <a:lstStyle/>
          <a:p>
            <a:pPr marL="0" indent="0" algn="ctr">
              <a:buNone/>
            </a:pPr>
            <a:r>
              <a:rPr lang="en-US" sz="1000" b="1" dirty="0">
                <a:solidFill>
                  <a:srgbClr val="FFFFFF"/>
                </a:solidFill>
              </a:rPr>
              <a:t>Practical</a:t>
            </a:r>
            <a:endParaRPr lang="en-US" sz="1000" dirty="0"/>
          </a:p>
        </p:txBody>
      </p:sp>
      <p:sp>
        <p:nvSpPr>
          <p:cNvPr id="26" name="Text 24"/>
          <p:cNvSpPr/>
          <p:nvPr/>
        </p:nvSpPr>
        <p:spPr>
          <a:xfrm>
            <a:off x="1664208" y="4425696"/>
            <a:ext cx="6967728" cy="38404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Complete framework on single T4 GPU (~23 min); HDF5 packing enables 40× I/O speedup; fully reproducible with seed=42</a:t>
            </a:r>
            <a:endParaRPr lang="en-US" sz="1000" dirty="0"/>
          </a:p>
        </p:txBody>
      </p:sp>
      <p:sp>
        <p:nvSpPr>
          <p:cNvPr id="27" name="Text 25"/>
          <p:cNvSpPr/>
          <p:nvPr/>
        </p:nvSpPr>
        <p:spPr>
          <a:xfrm>
            <a:off x="365760" y="4919472"/>
            <a:ext cx="8412480" cy="237744"/>
          </a:xfrm>
          <a:prstGeom prst="rect">
            <a:avLst/>
          </a:prstGeom>
          <a:noFill/>
          <a:ln/>
        </p:spPr>
        <p:txBody>
          <a:bodyPr wrap="square" lIns="0" tIns="0" rIns="0" bIns="0" rtlCol="0" anchor="ctr"/>
          <a:lstStyle/>
          <a:p>
            <a:pPr marL="0" indent="0" algn="ctr">
              <a:buNone/>
            </a:pPr>
            <a:r>
              <a:rPr lang="en-US" sz="950" i="1" dirty="0">
                <a:solidFill>
                  <a:srgbClr val="7A8FA6"/>
                </a:solidFill>
              </a:rPr>
              <a:t>"Competitive accuracy and intrinsic, multi-granular explainability are jointly attainable under constrained academic resources."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E7C7B"/>
          </a:solidFill>
          <a:ln w="12700">
            <a:solidFill>
              <a:srgbClr val="0E7C7B"/>
            </a:solidFill>
            <a:prstDash val="solid"/>
          </a:ln>
        </p:spPr>
      </p:sp>
      <p:grpSp>
        <p:nvGrpSpPr>
          <p:cNvPr id="27" name="Group 26">
            <a:extLst>
              <a:ext uri="{FF2B5EF4-FFF2-40B4-BE49-F238E27FC236}">
                <a16:creationId xmlns:a16="http://schemas.microsoft.com/office/drawing/2014/main" id="{C712902C-8A05-0CF0-C8CE-D60E7EC1501F}"/>
              </a:ext>
            </a:extLst>
          </p:cNvPr>
          <p:cNvGrpSpPr/>
          <p:nvPr/>
        </p:nvGrpSpPr>
        <p:grpSpPr>
          <a:xfrm>
            <a:off x="457200" y="1496170"/>
            <a:ext cx="8229600" cy="1700784"/>
            <a:chOff x="457200" y="548640"/>
            <a:chExt cx="8229600" cy="1700784"/>
          </a:xfrm>
        </p:grpSpPr>
        <p:grpSp>
          <p:nvGrpSpPr>
            <p:cNvPr id="26" name="Group 25">
              <a:extLst>
                <a:ext uri="{FF2B5EF4-FFF2-40B4-BE49-F238E27FC236}">
                  <a16:creationId xmlns:a16="http://schemas.microsoft.com/office/drawing/2014/main" id="{E998D49B-8D3B-945F-AFC0-B368EC0F2CD0}"/>
                </a:ext>
              </a:extLst>
            </p:cNvPr>
            <p:cNvGrpSpPr/>
            <p:nvPr/>
          </p:nvGrpSpPr>
          <p:grpSpPr>
            <a:xfrm>
              <a:off x="457200" y="548640"/>
              <a:ext cx="8229600" cy="1600200"/>
              <a:chOff x="457200" y="548640"/>
              <a:chExt cx="8229600" cy="1600200"/>
            </a:xfrm>
          </p:grpSpPr>
          <p:sp>
            <p:nvSpPr>
              <p:cNvPr id="3" name="Text 1"/>
              <p:cNvSpPr/>
              <p:nvPr/>
            </p:nvSpPr>
            <p:spPr>
              <a:xfrm>
                <a:off x="457200" y="548640"/>
                <a:ext cx="8229600" cy="1097280"/>
              </a:xfrm>
              <a:prstGeom prst="rect">
                <a:avLst/>
              </a:prstGeom>
              <a:noFill/>
              <a:ln/>
            </p:spPr>
            <p:txBody>
              <a:bodyPr wrap="square" lIns="0" tIns="0" rIns="0" bIns="0" rtlCol="0" anchor="ctr"/>
              <a:lstStyle/>
              <a:p>
                <a:pPr marL="0" indent="0" algn="ctr">
                  <a:buNone/>
                </a:pPr>
                <a:r>
                  <a:rPr lang="en-US" sz="5600" b="1" dirty="0">
                    <a:solidFill>
                      <a:srgbClr val="17BEBB"/>
                    </a:solidFill>
                    <a:latin typeface="Cambria" pitchFamily="34" charset="0"/>
                    <a:ea typeface="Cambria" pitchFamily="34" charset="-122"/>
                    <a:cs typeface="Cambria" pitchFamily="34" charset="-120"/>
                  </a:rPr>
                  <a:t>Thank You</a:t>
                </a:r>
                <a:endParaRPr lang="en-US" sz="5600" dirty="0"/>
              </a:p>
            </p:txBody>
          </p:sp>
          <p:sp>
            <p:nvSpPr>
              <p:cNvPr id="4" name="Text 2"/>
              <p:cNvSpPr/>
              <p:nvPr/>
            </p:nvSpPr>
            <p:spPr>
              <a:xfrm>
                <a:off x="457200" y="1645920"/>
                <a:ext cx="8229600" cy="50292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Questions &amp; Discussion</a:t>
                </a:r>
                <a:endParaRPr lang="en-US" sz="2200" dirty="0"/>
              </a:p>
            </p:txBody>
          </p:sp>
        </p:grpSp>
        <p:sp>
          <p:nvSpPr>
            <p:cNvPr id="5" name="Shape 3"/>
            <p:cNvSpPr/>
            <p:nvPr/>
          </p:nvSpPr>
          <p:spPr>
            <a:xfrm>
              <a:off x="2286000" y="2212848"/>
              <a:ext cx="4572000" cy="36576"/>
            </a:xfrm>
            <a:prstGeom prst="rect">
              <a:avLst/>
            </a:prstGeom>
            <a:solidFill>
              <a:srgbClr val="E8871A"/>
            </a:solidFill>
            <a:ln w="12700">
              <a:solidFill>
                <a:srgbClr val="E8871A"/>
              </a:solidFill>
              <a:prstDash val="solid"/>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7048</Words>
  <Application>Microsoft Office PowerPoint</Application>
  <PresentationFormat>On-screen Show (16:9)</PresentationFormat>
  <Paragraphs>723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HEMT-CLIP: Explainable AI for Multimodal Fake News Detection</dc:title>
  <dc:subject>PptxGenJS Presentation</dc:subject>
  <dc:creator>FYP Defense Presentation</dc:creator>
  <cp:lastModifiedBy>Ayesha Younas</cp:lastModifiedBy>
  <cp:revision>2</cp:revision>
  <dcterms:created xsi:type="dcterms:W3CDTF">2026-06-11T06:33:27Z</dcterms:created>
  <dcterms:modified xsi:type="dcterms:W3CDTF">2026-06-11T07:36:11Z</dcterms:modified>
</cp:coreProperties>
</file>